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f9f7d6897174e19" /><Relationship Type="http://schemas.openxmlformats.org/officeDocument/2006/relationships/extended-properties" Target="/docProps/app.xml" Id="Rc1859a21dcda4d5b" /><Relationship Type="http://schemas.openxmlformats.org/officeDocument/2006/relationships/officeDocument" Target="/ppt/presentation.xml" Id="R5c687c8220ad4067" /></Relationships>
</file>

<file path=ppt/presentation.xml><?xml version="1.0" encoding="utf-8"?>
<p:presentation xmlns:p="http://schemas.openxmlformats.org/presentationml/2006/main">
  <p:sldMasterIdLst>
    <p:sldMasterId xmlns:r="http://schemas.openxmlformats.org/officeDocument/2006/relationships" id="2147483648" r:id="R3fa165fbe2024b74"/>
  </p:sldMasterIdLst>
  <p:notesMasterIdLst>
    <p:notesMasterId xmlns:r="http://schemas.openxmlformats.org/officeDocument/2006/relationships" r:id="R85e5a1187d99480d"/>
  </p:notesMasterIdLst>
  <p:sldIdLst>
    <p:sldId xmlns:r="http://schemas.openxmlformats.org/officeDocument/2006/relationships" id="256" r:id="Re14437bf92184a9c"/>
    <p:sldId xmlns:r="http://schemas.openxmlformats.org/officeDocument/2006/relationships" id="257" r:id="Rde43acf4f610463a"/>
    <p:sldId xmlns:r="http://schemas.openxmlformats.org/officeDocument/2006/relationships" id="258" r:id="R3c5fb072ea2b484f"/>
    <p:sldId xmlns:r="http://schemas.openxmlformats.org/officeDocument/2006/relationships" id="259" r:id="Rc27ee2554a054458"/>
    <p:sldId xmlns:r="http://schemas.openxmlformats.org/officeDocument/2006/relationships" id="260" r:id="Raef91285dccb4ea3"/>
    <p:sldId xmlns:r="http://schemas.openxmlformats.org/officeDocument/2006/relationships" id="261" r:id="R0e71ce1490fc4832"/>
    <p:sldId xmlns:r="http://schemas.openxmlformats.org/officeDocument/2006/relationships" id="262" r:id="Ra3ba20f1a32f46e6"/>
    <p:sldId xmlns:r="http://schemas.openxmlformats.org/officeDocument/2006/relationships" id="263" r:id="R354bebcbe4e34609"/>
    <p:sldId xmlns:r="http://schemas.openxmlformats.org/officeDocument/2006/relationships" id="264" r:id="Rc6e1498fe33744e2"/>
    <p:sldId xmlns:r="http://schemas.openxmlformats.org/officeDocument/2006/relationships" id="265" r:id="R9caf041186e4443c"/>
    <p:sldId xmlns:r="http://schemas.openxmlformats.org/officeDocument/2006/relationships" id="266" r:id="R6168310d511f4f18"/>
    <p:sldId xmlns:r="http://schemas.openxmlformats.org/officeDocument/2006/relationships" id="267" r:id="R7118e5066fb942be"/>
    <p:sldId xmlns:r="http://schemas.openxmlformats.org/officeDocument/2006/relationships" id="268" r:id="R17fdb7d3326c433f"/>
    <p:sldId xmlns:r="http://schemas.openxmlformats.org/officeDocument/2006/relationships" id="269" r:id="R3a6d7f7fb22046bf"/>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26a31bc5cf449cd" /><Relationship Type="http://schemas.openxmlformats.org/officeDocument/2006/relationships/slideMaster" Target="/ppt/slideMasters/slideMaster1.xml" Id="R3fa165fbe2024b74" /><Relationship Type="http://schemas.openxmlformats.org/officeDocument/2006/relationships/notesMaster" Target="/ppt/notesMasters/notesMaster1.xml" Id="R85e5a1187d99480d" /><Relationship Type="http://schemas.openxmlformats.org/officeDocument/2006/relationships/presProps" Target="/ppt/presProps.xml" Id="R657a969ca9ff4c00" /><Relationship Type="http://schemas.openxmlformats.org/officeDocument/2006/relationships/tableStyles" Target="/ppt/tableStyles.xml" Id="R85c03dfc2bc841e8" /><Relationship Type="http://schemas.openxmlformats.org/officeDocument/2006/relationships/slide" Target="/ppt/slides/slide1.xml" Id="Re14437bf92184a9c" /><Relationship Type="http://schemas.openxmlformats.org/officeDocument/2006/relationships/slide" Target="/ppt/slides/slide2.xml" Id="Rde43acf4f610463a" /><Relationship Type="http://schemas.openxmlformats.org/officeDocument/2006/relationships/slide" Target="/ppt/slides/slide3.xml" Id="R3c5fb072ea2b484f" /><Relationship Type="http://schemas.openxmlformats.org/officeDocument/2006/relationships/slide" Target="/ppt/slides/slide4.xml" Id="Rc27ee2554a054458" /><Relationship Type="http://schemas.openxmlformats.org/officeDocument/2006/relationships/slide" Target="/ppt/slides/slide5.xml" Id="Raef91285dccb4ea3" /><Relationship Type="http://schemas.openxmlformats.org/officeDocument/2006/relationships/slide" Target="/ppt/slides/slide6.xml" Id="R0e71ce1490fc4832" /><Relationship Type="http://schemas.openxmlformats.org/officeDocument/2006/relationships/slide" Target="/ppt/slides/slide7.xml" Id="Ra3ba20f1a32f46e6" /><Relationship Type="http://schemas.openxmlformats.org/officeDocument/2006/relationships/slide" Target="/ppt/slides/slide8.xml" Id="R354bebcbe4e34609" /><Relationship Type="http://schemas.openxmlformats.org/officeDocument/2006/relationships/slide" Target="/ppt/slides/slide9.xml" Id="Rc6e1498fe33744e2" /><Relationship Type="http://schemas.openxmlformats.org/officeDocument/2006/relationships/slide" Target="/ppt/slides/slide10.xml" Id="R9caf041186e4443c" /><Relationship Type="http://schemas.openxmlformats.org/officeDocument/2006/relationships/slide" Target="/ppt/slides/slide11.xml" Id="R6168310d511f4f18" /><Relationship Type="http://schemas.openxmlformats.org/officeDocument/2006/relationships/slide" Target="/ppt/slides/slide12.xml" Id="R7118e5066fb942be" /><Relationship Type="http://schemas.openxmlformats.org/officeDocument/2006/relationships/slide" Target="/ppt/slides/slide13.xml" Id="R17fdb7d3326c433f" /><Relationship Type="http://schemas.openxmlformats.org/officeDocument/2006/relationships/slide" Target="/ppt/slides/slide14.xml" Id="R3a6d7f7fb22046b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787ac92a46f4ab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e13235701db4e7e" /><Relationship Type="http://schemas.openxmlformats.org/officeDocument/2006/relationships/notesMaster" Target="/ppt/notesMasters/notesMaster1.xml" Id="R69b343aa62fb4547" /></Relationships>
</file>

<file path=ppt/notesSlides/_rels/notesSlide2.xml.rels>&#65279;<?xml version="1.0" encoding="utf-8"?><Relationships xmlns="http://schemas.openxmlformats.org/package/2006/relationships"><Relationship Type="http://schemas.openxmlformats.org/officeDocument/2006/relationships/slide" Target="/ppt/slides/slide2.xml" Id="R13b5b3616480497d" /><Relationship Type="http://schemas.openxmlformats.org/officeDocument/2006/relationships/notesMaster" Target="/ppt/notesMasters/notesMaster1.xml" Id="R60363635cd85414c" /></Relationships>
</file>

<file path=ppt/notesSlides/_rels/notesSlide3.xml.rels>&#65279;<?xml version="1.0" encoding="utf-8"?><Relationships xmlns="http://schemas.openxmlformats.org/package/2006/relationships"><Relationship Type="http://schemas.openxmlformats.org/officeDocument/2006/relationships/slide" Target="/ppt/slides/slide3.xml" Id="R4b981db7c0e64173" /><Relationship Type="http://schemas.openxmlformats.org/officeDocument/2006/relationships/notesMaster" Target="/ppt/notesMasters/notesMaster1.xml" Id="R1f561e2bd0564cd6" /></Relationships>
</file>

<file path=ppt/notesSlides/_rels/notesSlide4.xml.rels>&#65279;<?xml version="1.0" encoding="utf-8"?><Relationships xmlns="http://schemas.openxmlformats.org/package/2006/relationships"><Relationship Type="http://schemas.openxmlformats.org/officeDocument/2006/relationships/slide" Target="/ppt/slides/slide4.xml" Id="R7af98910e015497f" /><Relationship Type="http://schemas.openxmlformats.org/officeDocument/2006/relationships/notesMaster" Target="/ppt/notesMasters/notesMaster1.xml" Id="Rc942d829f11f40bf" /></Relationships>
</file>

<file path=ppt/notesSlides/_rels/notesSlide5.xml.rels>&#65279;<?xml version="1.0" encoding="utf-8"?><Relationships xmlns="http://schemas.openxmlformats.org/package/2006/relationships"><Relationship Type="http://schemas.openxmlformats.org/officeDocument/2006/relationships/slide" Target="/ppt/slides/slide5.xml" Id="Rb38777860aa8406e" /><Relationship Type="http://schemas.openxmlformats.org/officeDocument/2006/relationships/notesMaster" Target="/ppt/notesMasters/notesMaster1.xml" Id="Ra729a693f93248ee" /></Relationships>
</file>

<file path=ppt/notesSlides/_rels/notesSlide6.xml.rels>&#65279;<?xml version="1.0" encoding="utf-8"?><Relationships xmlns="http://schemas.openxmlformats.org/package/2006/relationships"><Relationship Type="http://schemas.openxmlformats.org/officeDocument/2006/relationships/slide" Target="/ppt/slides/slide6.xml" Id="R95830fa32e8b428a" /><Relationship Type="http://schemas.openxmlformats.org/officeDocument/2006/relationships/notesMaster" Target="/ppt/notesMasters/notesMaster1.xml" Id="R3bb4f06ef5be4d48" /></Relationships>
</file>

<file path=ppt/notesSlides/_rels/notesSlide7.xml.rels>&#65279;<?xml version="1.0" encoding="utf-8"?><Relationships xmlns="http://schemas.openxmlformats.org/package/2006/relationships"><Relationship Type="http://schemas.openxmlformats.org/officeDocument/2006/relationships/slide" Target="/ppt/slides/slide7.xml" Id="R3c8334da29d74b64" /><Relationship Type="http://schemas.openxmlformats.org/officeDocument/2006/relationships/notesMaster" Target="/ppt/notesMasters/notesMaster1.xml" Id="Rba6e1a21115a4aae" /></Relationships>
</file>

<file path=ppt/notesSlides/_rels/notesSlide8.xml.rels>&#65279;<?xml version="1.0" encoding="utf-8"?><Relationships xmlns="http://schemas.openxmlformats.org/package/2006/relationships"><Relationship Type="http://schemas.openxmlformats.org/officeDocument/2006/relationships/slide" Target="/ppt/slides/slide8.xml" Id="R1f7638f3068d43a7" /><Relationship Type="http://schemas.openxmlformats.org/officeDocument/2006/relationships/notesMaster" Target="/ppt/notesMasters/notesMaster1.xml" Id="R993c068f9f1d4823" /></Relationships>
</file>

<file path=ppt/notesSlides/_rels/notesSlide9.xml.rels>&#65279;<?xml version="1.0" encoding="utf-8"?><Relationships xmlns="http://schemas.openxmlformats.org/package/2006/relationships"><Relationship Type="http://schemas.openxmlformats.org/officeDocument/2006/relationships/slide" Target="/ppt/slides/slide9.xml" Id="Ra515130fefdc4809" /><Relationship Type="http://schemas.openxmlformats.org/officeDocument/2006/relationships/notesMaster" Target="/ppt/notesMasters/notesMaster1.xml" Id="R4414b155ae764b4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7ace88411b84e70" /><Relationship Type="http://schemas.openxmlformats.org/officeDocument/2006/relationships/notesMaster" Target="/ppt/notesMasters/notesMaster1.xml" Id="R6f78a41594124f0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1b24ec37d4a4205" /><Relationship Type="http://schemas.openxmlformats.org/officeDocument/2006/relationships/notesMaster" Target="/ppt/notesMasters/notesMaster1.xml" Id="R04146a9ec7df4be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82ab542a1364425" /><Relationship Type="http://schemas.openxmlformats.org/officeDocument/2006/relationships/notesMaster" Target="/ppt/notesMasters/notesMaster1.xml" Id="Rf7576660b6f2432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887cf6b14334936" /><Relationship Type="http://schemas.openxmlformats.org/officeDocument/2006/relationships/notesMaster" Target="/ppt/notesMasters/notesMaster1.xml" Id="Rb45b0e74ffc34a9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0bf32dc440a4078" /><Relationship Type="http://schemas.openxmlformats.org/officeDocument/2006/relationships/notesMaster" Target="/ppt/notesMasters/notesMaster1.xml" Id="R625c5eb76400454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by naming the central framing: this button moves data from an authenticated partner context into MicrobeTrace. It is an export path, not authentication delegation.</a:t>
            </a:r>
          </a:p>
          <a:p xmlns:a="http://schemas.openxmlformats.org/drawingml/2006/main">
            <a:r>
              <a:t/>
            </a:r>
          </a:p>
          <a:p xmlns:a="http://schemas.openxmlformats.org/drawingml/2006/main">
            <a:r>
              <a:t>Glossary: authentication delegation would mean MicrobeTrace relies on the partner login to act as the user. This integration does not do that. The partner app decides whether the current user may export the selected data, then sends only the approved files through the handoff. MicrobeTrace validates the handoff mechanics, but it does not know the partner user's identity or authorization policy.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Glossary: the runtime surface is the small set of code and browser behavior that participates in the integration. Keeping it small makes the security review easier because there are fewer moving parts.</a:t>
            </a:r>
          </a:p>
          <a:p xmlns:a="http://schemas.openxmlformats.org/drawingml/2006/main">
            <a:r>
              <a:t/>
            </a:r>
          </a:p>
          <a:p xmlns:a="http://schemas.openxmlformats.org/drawingml/2006/main">
            <a:r>
              <a:t>SDK means software development kit. In this deck it is the JavaScript file the partner page loads from MicrobeTrace. Receiver popup means the MicrobeTrace page opened by the SDK to receive and validate the payload. Browser handoff means a temporary record stored in the user's browser on the MicrobeTrace origin. MicrobeTrace load means the main app consumes that temporary record and imports the dataset.</a:t>
            </a:r>
          </a:p>
          <a:p xmlns:a="http://schemas.openxmlformats.org/drawingml/2006/main">
            <a:r>
              <a:t/>
            </a:r>
          </a:p>
          <a:p xmlns:a="http://schemas.openxmlformats.org/drawingml/2006/main">
            <a:r>
              <a:t>Limited metadata means small labels used to describe the handoff, such as datasetName and sourceApp. It should not include row data, auth tokens, request headers, user secrets, or large application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Glossary at first use: target means the MicrobeTrace app URL/root that the SDK will open. It is not the partner application URL. Example: if the partner button lives at https://partner.example.gov/app, that is the partner origin. If the SDK opens https://microbetrace.cdc.gov/MicrobeTrace/, that is the MicrobeTrace target URL.</a:t>
            </a:r>
          </a:p>
          <a:p xmlns:a="http://schemas.openxmlformats.org/drawingml/2006/main">
            <a:r>
              <a:t/>
            </a:r>
          </a:p>
          <a:p xmlns:a="http://schemas.openxmlformats.org/drawingml/2006/main">
            <a:r>
              <a:t>Origin means only scheme, host, and port. For https://microbetrace.cdc.gov/MicrobeTrace/, the target origin is https://microbetrace.cdc.gov. For http://localhost:4200/assets/embed/microbetrace-embed.js, the target origin is http://localhost:4200. The path, such as /MicrobeTrace/, is part of the app URL, not the origin.</a:t>
            </a:r>
          </a:p>
          <a:p xmlns:a="http://schemas.openxmlformats.org/drawingml/2006/main">
            <a:r>
              <a:t/>
            </a:r>
          </a:p>
          <a:p xmlns:a="http://schemas.openxmlformats.org/drawingml/2006/main">
            <a:r>
              <a:t>partnerId is the configured partner identifier; it selects the allowlist and limits, but it is not a password. The allowlist is checked against the partner origin, meaning the web page that called the SDK. The target checks protect where the SDK is about to send the handoff, meaning the MicrobeTrace side.</a:t>
            </a:r>
          </a:p>
          <a:p xmlns:a="http://schemas.openxmlformats.org/drawingml/2006/main">
            <a:r>
              <a:t/>
            </a:r>
          </a:p>
          <a:p xmlns:a="http://schemas.openxmlformats.org/drawingml/2006/main">
            <a:r>
              <a:t>A nonce is a one-time random value used for this one popup handshake. The SDK and receiver both know it, so a different window cannot easily pretend to be the real receiver or sender.</a:t>
            </a:r>
          </a:p>
          <a:p xmlns:a="http://schemas.openxmlformats.org/drawingml/2006/main">
            <a:r>
              <a:t/>
            </a:r>
          </a:p>
          <a:p xmlns:a="http://schemas.openxmlformats.org/drawingml/2006/main">
            <a:r>
              <a:t>A handoff id is a short-lived reference to browser-resident data on the MicrobeTrace origin. It is not the file contents, but it is still sensitive because anyone who can use it before expiration may attempt to load that handoff. Schema means the expected message shape: version, partnerId, nonce, metadata, and files. Limits means caps such as file count, file size, total size, and lifetime.</a:t>
            </a:r>
          </a:p>
          <a:p xmlns:a="http://schemas.openxmlformats.org/drawingml/2006/main">
            <a:r>
              <a:t/>
            </a:r>
          </a:p>
          <a:p xmlns:a="http://schemas.openxmlformats.org/drawingml/2006/main">
            <a:r>
              <a:t>Short TTL means short time to live: the handoff expires quickly, and cleanup removes expired or malformed handoff:* records. This limits exposure if a browser is shared, abandoned, or left open. URL fragment means the #handoff part of the URL; browsers do not send fragments to servers in normal HTTP requests, which reduces accidental leakage through logs and referrers compared with query parameters.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Glossary at first use: an origin is the scheme, host, and port, such as https://example.gov. An origin allowlist says which partner web origins may call the receiver. It does not prove that a particular human user is allowed to export a particular dataset.</a:t>
            </a:r>
          </a:p>
          <a:p xmlns:a="http://schemas.openxmlformats.org/drawingml/2006/main">
            <a:r>
              <a:t/>
            </a:r>
          </a:p>
          <a:p xmlns:a="http://schemas.openxmlformats.org/drawingml/2006/main">
            <a:r>
              <a:t>Trust boundary means a place where ownership and assumptions change. The partner origin owns login, user authorization, and data selection. The MicrobeTrace origin owns receiver checks, import handling, and export escaping. Export escaping means changing exported CSV/XLSX cell text so spreadsheet software treats risky values as text instead of formulas. For example, a value beginning with = can execute as a spreadsheet formula, so MicrobeTrace prefixes it when exporting.</a:t>
            </a:r>
          </a:p>
          <a:p xmlns:a="http://schemas.openxmlformats.org/drawingml/2006/main">
            <a:r>
              <a:t/>
            </a:r>
          </a:p>
          <a:p xmlns:a="http://schemas.openxmlformats.org/drawingml/2006/main">
            <a:r>
              <a:t>Browser/device means the user's local browser, workstation, extensions, and browser storage. Infrastructure means the deployment path in front of the app. CSP headers are Content Security Policy headers; they tell the browser which scripts, images, frames, and network connections are allowed. Referrer policy controls how much of the current URL is sent to another site when the browser navigates away. No-store receiver means the receiver page is served with Cache-Control: no-store so the browser and proxy caches do not keep a copy of the sensitive handoff page.</a:t>
            </a:r>
          </a:p>
          <a:p xmlns:a="http://schemas.openxmlformats.org/drawingml/2006/main">
            <a:r>
              <a:t/>
            </a:r>
          </a:p>
          <a:p xmlns:a="http://schemas.openxmlformats.org/drawingml/2006/main">
            <a:r>
              <a:t>Ownership: these infrastructure controls are MicrobeTrace deployment controls, not normal partner-button configuration. MicrobeTrace source can package support and document required headers. The CDC or MicrobeTrace hosting path delivers those headers. A partner owns this only if they are self-hosting MicrobeTrace or operating the proxy in front of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Load the SDK from the approved MicrobeTrace deployment and normally omit target so the SDK derives the matching app root from its own script URL. The release evidence records MicrobeTraceEmbed.version and the exact approved SDK asset used during testing.</a:t>
            </a:r>
          </a:p>
          <a:p xmlns:a="http://schemas.openxmlformats.org/drawingml/2006/main">
            <a:r>
              <a:t/>
            </a:r>
          </a:p>
          <a:p xmlns:a="http://schemas.openxmlformats.org/drawingml/2006/main">
            <a:r>
              <a:t>Keep metadata to datasetName and sourceApp. Do not include user identifiers, credentials, signed URLs, internal headers, policy details, or debug text unless a separate review explicitly approves them.</a:t>
            </a:r>
          </a:p>
          <a:p xmlns:a="http://schemas.openxmlformats.org/drawingml/2006/main">
            <a:r>
              <a:t/>
            </a:r>
          </a:p>
          <a:p xmlns:a="http://schemas.openxmlformats.org/drawingml/2006/main">
            <a:r>
              <a:t>The raw receipt omits row data and file contents, but it contains partnerId, a bearer handoffId, timestamps, a nonce-bearing receiverUrl, and file name/kind/byte summaries. Redact it before audit logging and never treat it as proof that the partner user was authorized.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SDK, receiver, and Angular import path validate different layers. Target, origin, popup identity, partnerId, nonce, supported file kinds, file count, file-content byte limits, allowed metadata fields, and metadata size are enforced before the dataset is loaded.</a:t>
            </a:r>
          </a:p>
          <a:p xmlns:a="http://schemas.openxmlformats.org/drawingml/2006/main">
            <a:r>
              <a:t/>
            </a:r>
          </a:p>
          <a:p xmlns:a="http://schemas.openxmlformats.org/drawingml/2006/main">
            <a:r>
              <a:t>Web Crypto generates both the nonce and the handoff ID. The code uses crypto.randomUUID() when available or crypto.getRandomValues() to fill random bytes; there is no Math.random fallback. The nonce is a one-time random value shared only for this popup handshake. Both sides require the same value before files move. It is handshake proof, not user authentication.</a:t>
            </a:r>
          </a:p>
          <a:p xmlns:a="http://schemas.openxmlformats.org/drawingml/2006/main">
            <a:r>
              <a:t/>
            </a:r>
          </a:p>
          <a:p xmlns:a="http://schemas.openxmlformats.org/drawingml/2006/main">
            <a:r>
              <a:t>Receiver window means the exact Window object returned to the partner page by window.open(). The SDK accepts a receiver message only when event.source is that popup. Receiver origin means the MicrobeTrace scheme, host, and port; the SDK requires event.origin to equal the expected MicrobeTrace target origin. Opener origin means the partner page's scheme, host, and port; the receiver checks that event.origin against the exact allowlist selected by partnerId and replies only to that origin. partnerId selects policy but is not a secret.</a:t>
            </a:r>
          </a:p>
          <a:p xmlns:a="http://schemas.openxmlformats.org/drawingml/2006/main">
            <a:r>
              <a:t/>
            </a:r>
          </a:p>
          <a:p xmlns:a="http://schemas.openxmlformats.org/drawingml/2006/main">
            <a:r>
              <a:t>The receiver allowlists datasetName and sourceApp and enforces metadata size limits before writing the handoff to storage. Angular revalidates the same allowed fields during import. File validation independently enforces schema, supported kinds, file count, per-file bytes, total bytes, and blocked-content rules.</a:t>
            </a:r>
          </a:p>
          <a:p xmlns:a="http://schemas.openxmlformats.org/drawingml/2006/main">
            <a:r>
              <a:t/>
            </a:r>
          </a:p>
          <a:p xmlns:a="http://schemas.openxmlformats.org/drawingml/2006/main">
            <a:r>
              <a:t>Storage is managed by localForage on the MicrobeTrace origin, typically using IndexedDB in modern browsers. Records are removed after successful or failed consume. Expired or malformed records are cleaned at startup or before a later handoff; deletion does not occur at the exact TTL instant, and consume/delete is not an atomic server-side take.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fragment launch uses /MicrobeTrace/#handoff=abc123. The fragment is not sent in ordinary HTTP requests, reducing leakage through server logs and referrers. If a legacy query launch such as /MicrobeTrace/?handoff=abc123 is received, MicrobeTrace consumes it and removes the handoff reference from the visible URL.</a:t>
            </a:r>
          </a:p>
          <a:p xmlns:a="http://schemas.openxmlformats.org/drawingml/2006/main">
            <a:r>
              <a:t/>
            </a:r>
          </a:p>
          <a:p xmlns:a="http://schemas.openxmlformats.org/drawingml/2006/main">
            <a:r>
              <a:t>Browser-level verification confirms that gtag, GTM, and other third-party tags stay disabled until the handoff reference has been consumed and removed. This prevents analytics from observing or transmitting the bearer reference during application startup.</a:t>
            </a:r>
          </a:p>
          <a:p xmlns:a="http://schemas.openxmlformats.org/drawingml/2006/main">
            <a:r>
              <a:t/>
            </a:r>
          </a:p>
          <a:p xmlns:a="http://schemas.openxmlformats.org/drawingml/2006/main">
            <a:r>
              <a:t>The first two items in the right column concern the SDK receipt and audit logging. Raw handoffId values and nonce-bearing receiverUrl values are never logged. File name, size, kind, and timestamp are logged only when explicitly approved because those details can reveal sensitive context even without row data or file contents.</a:t>
            </a:r>
          </a:p>
          <a:p xmlns:a="http://schemas.openxmlformats.org/drawingml/2006/main">
            <a:r>
              <a:t/>
            </a:r>
          </a:p>
          <a:p xmlns:a="http://schemas.openxmlformats.org/drawingml/2006/main">
            <a:r>
              <a:t>The final item concerns spreadsheet downloads, not the receipt. Spreadsheet applications may interpret text beginning with =, +, -, @, a tab, or a carriage return as a formula. Before CSV/XLSX export, MicrobeTrace prefixes such a value with an apostrophe. For example, =SUM(A1:A2) becomes '=SUM(A1:A2). The leading apostrophe makes the spreadsheet treat the value as text instead of evaluating it.</a:t>
            </a:r>
          </a:p>
          <a:p xmlns:a="http://schemas.openxmlformats.org/drawingml/2006/main">
            <a:r>
              <a:t/>
            </a:r>
          </a:p>
          <a:p xmlns:a="http://schemas.openxmlformats.org/drawingml/2006/main">
            <a:r>
              <a:t>A saved MicrobeTrace session is JSON, not a spreadsheet. A JSON parser treats =SUM(A1:A2) as an ordinary string and does not execute it. Changing that string inside the session would alter the dataset and could prevent an exact reload. The session therefore preserves the original value; if that value is later exported to CSV or XLSX, spreadsheet escaping is applied at export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Why this matters: MicrobeTrace sees files after the partner has decided what to export. It cannot independently know whether the partner user is allowed to export all rows, columns, sequences, or metadata.</a:t>
            </a:r>
          </a:p>
          <a:p xmlns:a="http://schemas.openxmlformats.org/drawingml/2006/main">
            <a:r>
              <a:t/>
            </a:r>
          </a:p>
          <a:p xmlns:a="http://schemas.openxmlformats.org/drawingml/2006/main">
            <a:r>
              <a:t>Server-side authorization means checking permissions in the partner backend or trusted export service before the files are constructed. Do not rely only on hiding the button in the UI, because browser UI can be bypassed by script or developer tools. Auditing should record enough to investigate who exported what category of data and when, without logging sensitive contents unnecessarily. Scrubbing means removing secrets and operational data that are not needed by MicrobeTrace, including cookies, bearer tokens, API keys, signed URLs, request headers, and debug traces.</a:t>
            </a:r>
          </a:p>
          <a:p xmlns:a="http://schemas.openxmlformats.org/drawingml/2006/main">
            <a:r>
              <a:t/>
            </a:r>
          </a:p>
          <a:p xmlns:a="http://schemas.openxmlformats.org/drawingml/2006/main">
            <a:r>
              <a:t>Metadata here means descriptive fields about the export. Safe examples are datasetName and sourceApp. Risky examples are user secrets, internal headers, database connection strings, or full row-level policy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Glossary at first use: residual risk is real risk that the feasible controls cannot fully eliminate. It should be named explicitly so launch owners do not mistake the SDK for a complete security boundary.</a:t>
            </a:r>
          </a:p>
          <a:p xmlns:a="http://schemas.openxmlformats.org/drawingml/2006/main">
            <a:r>
              <a:t/>
            </a:r>
          </a:p>
          <a:p xmlns:a="http://schemas.openxmlformats.org/drawingml/2006/main">
            <a:r>
              <a:t>Overbroad export row: the example is a partner app exporting more than the user intended or more than policy allows, such as hidden columns or extra sequence records. MicrobeTrace only receives the files the partner app sends; it cannot query the partner API or inspect partner row-level policy. The partner mitigates this by authorizing the export server-side, minimizing fields, and auditing the event. The residual risk is that even a correctly authorized export can still leave the partner app's controls through a download, screenshot, email, ticket, or chat message. Allowed to export does not mean safe to redistribute.</a:t>
            </a:r>
          </a:p>
          <a:p xmlns:a="http://schemas.openxmlformats.org/drawingml/2006/main">
            <a:r>
              <a:t/>
            </a:r>
          </a:p>
          <a:p xmlns:a="http://schemas.openxmlformats.org/drawingml/2006/main">
            <a:r>
              <a:t>Target or origin abuse row: the example is data being sent to a MicrobeTrace-looking or unreviewed host. MicrobeTrace mitigates this by inferring the normal target from the SDK script URL, checking exact allowed origins, and requiring the one-time nonce and receiver origin checks. The partner mitigates this by loading the SDK from the intended MicrobeTrace deployment and hardcoding any reviewed exception. The residual risk is that if a trusted partner origin or trusted MicrobeTrace deployment is fully compromised, origin checks can no longer prove that the trusted code is behaving honestly.</a:t>
            </a:r>
          </a:p>
          <a:p xmlns:a="http://schemas.openxmlformats.org/drawingml/2006/main">
            <a:r>
              <a:t/>
            </a:r>
          </a:p>
          <a:p xmlns:a="http://schemas.openxmlformats.org/drawingml/2006/main">
            <a:r>
              <a:t>Browser storage leakage row: the example is a browser extension, malware, shared workstation, or compromised device reading the temporary handoff while it exists. Normal websites cannot simply read this handoff because browser same-origin rules keep MicrobeTrace storage separate from other web origins. The real residual risk is local compromise: an extension with broad permissions, malware, a stolen unlocked laptop, a shared workstation profile, or a compromised browser could copy the handoff files before the short TTL expires or before MicrobeTrace consumes and deletes them. MicrobeTrace mitigates this with a short TTL, a consume/delete lifecycle, and cleanup of expired or malformed handoffs. The partner mitigates it by minimizing payloads and enforcing device/browser policy where that matters. This cannot be fully solved inside the SDK because code running in a compromised local browser environment cannot reliably hide data from that environment.</a:t>
            </a:r>
          </a:p>
          <a:p xmlns:a="http://schemas.openxmlformats.org/drawingml/2006/main">
            <a:r>
              <a:t/>
            </a:r>
          </a:p>
          <a:p xmlns:a="http://schemas.openxmlformats.org/drawingml/2006/main">
            <a:r>
              <a:t>Content injection row: the example is an exported value that starts with a formula marker such as =, +, -, or @, or a value that looks like markup. MicrobeTrace mitigates this by blocking unsafe markup in the handoff and escaping known formula-leading values in CSV/XLSX exports so spreadsheet tools treat them as text. The partner mitigates this by treating exported values as untrusted data and reviewing how downstream tools use them. The residual risk is that downstream tools and future views may interpret values differently, so the same defensive treatment applies to every spreadsheet export path.</a:t>
            </a:r>
          </a:p>
          <a:p xmlns:a="http://schemas.openxmlformats.org/drawingml/2006/main">
            <a:r>
              <a:t/>
            </a:r>
          </a:p>
          <a:p xmlns:a="http://schemas.openxmlformats.org/drawingml/2006/main">
            <a:r>
              <a:t>Other terms that may come up in discussion: confused deputy means one trusted system is tricked into using its authority for the wrong purpose. XSS means cross-site scripting, where malicious script runs inside a trusted page. CORS controls which origins may read browser responses from another origin. Clickjacking means a user is tricked into clicking something hidden or framed.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Deployment header drift means the headers designed in the application are not the exact headers the browser receives after the app passes through Tomcat, proxies, gateways, CDNs, WAFs, or load balancers. The final-response evidence checks the browser-visible result, not only the repository configuration.</a:t>
            </a:r>
          </a:p>
          <a:p xmlns:a="http://schemas.openxmlformats.org/drawingml/2006/main">
            <a:r>
              <a:t/>
            </a:r>
          </a:p>
          <a:p xmlns:a="http://schemas.openxmlformats.org/drawingml/2006/main">
            <a:r>
              <a:t>CSP means Content Security Policy. It tells the browser which scripts, images, frames, styles, and network connections a page may use. Referrer-Policy limits URL information sent during navigation. Cache-Control: no-store prevents the receiver page from being retained by browser or intermediary caches. Framing controls prevent the receiver from being embedded in a hostile page.</a:t>
            </a:r>
          </a:p>
          <a:p xmlns:a="http://schemas.openxmlformats.org/drawingml/2006/main">
            <a:r>
              <a:t/>
            </a:r>
          </a:p>
          <a:p xmlns:a="http://schemas.openxmlformats.org/drawingml/2006/main">
            <a:r>
              <a:t>The repository packages receiver.html, a restrictive receiver CSP baseline, WAR web.xml header support, embed-asset checks, and Tomcat HttpHeaderSecurityFilter support. The deployed receiver response has been verified to include CSP, Referrer-Policy, Cache-Control: no-store, and the approved framing controls.</a:t>
            </a:r>
          </a:p>
          <a:p xmlns:a="http://schemas.openxmlformats.org/drawingml/2006/main">
            <a:r>
              <a:t/>
            </a:r>
          </a:p>
          <a:p xmlns:a="http://schemas.openxmlformats.org/drawingml/2006/main">
            <a:r>
              <a:t>The evidence records the exact deployment URL and the final /assets/embed/receiver.html response after every infrastructure hop. Equal or stronger CDC security headers are preserved; the control does not weaken or replace CDC standards.</a:t>
            </a:r>
          </a:p>
          <a:p xmlns:a="http://schemas.openxmlformats.org/drawingml/2006/main">
            <a:r>
              <a:t/>
            </a:r>
          </a:p>
          <a:p xmlns:a="http://schemas.openxmlformats.org/drawingml/2006/main">
            <a:r>
              <a:t>Because infrastructure changes can reintroduce header drift, the same final-response check runs again after proxy, gateway, CDN, WAF, or hosting changes. This is an operational regression control, not an SDK setting.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launch suite covers authorized and unauthorized users, partial data rights, disallowed origins, popup blocking, browsers without Web Crypto, file count and size limits, metadata limits, blocked content, hash/query cleanup, consume/error deletion, and formula-safe exports.</a:t>
            </a:r>
          </a:p>
          <a:p xmlns:a="http://schemas.openxmlformats.org/drawingml/2006/main">
            <a:r>
              <a:t/>
            </a:r>
          </a:p>
          <a:p xmlns:a="http://schemas.openxmlformats.org/drawingml/2006/main">
            <a:r>
              <a:t>Browser-level evidence confirms that third-party tags stay disabled until handoff cleanup. Live-response evidence confirms CSP, Referrer-Policy, Cache-Control: no-store, and framing controls on /assets/embed/receiver.html after the full deployment path.</a:t>
            </a:r>
          </a:p>
          <a:p xmlns:a="http://schemas.openxmlformats.org/drawingml/2006/main">
            <a:r>
              <a:t/>
            </a:r>
          </a:p>
          <a:p xmlns:a="http://schemas.openxmlformats.org/drawingml/2006/main">
            <a:r>
              <a:t>Automated, browser-level, and deployment checks together cover the receiver, metadata, analytics, lifecycle, export, and deployed-header denial matrix. These checks run as release and hosting-change regression 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as a plain-English recap of the MicrobeTrace-side protections that happen before a dataset is loaded.</a:t>
            </a:r>
          </a:p>
          <a:p xmlns:a="http://schemas.openxmlformats.org/drawingml/2006/main">
            <a:r>
              <a:t/>
            </a:r>
          </a:p>
          <a:p xmlns:a="http://schemas.openxmlformats.org/drawingml/2006/main">
            <a:r>
              <a:t>Wrong target risk: the partner app should normally omit target. If a developer supplies a target anyway, the SDK checks that the target origin matches the SDK origin unless a reviewed allowedTargetOrigins exception exists. This reduces accidental or unreviewed sends to the wrong destination.</a:t>
            </a:r>
          </a:p>
          <a:p xmlns:a="http://schemas.openxmlformats.org/drawingml/2006/main">
            <a:r>
              <a:t/>
            </a:r>
          </a:p>
          <a:p xmlns:a="http://schemas.openxmlformats.org/drawingml/2006/main">
            <a:r>
              <a:t>Spoofed receiver risk: postMessage can be noisy because other windows can send messages. The SDK does not trust any ready message unless it comes from the popup it opened, from the expected MicrobeTrace origin, with the expected partnerId and nonce.</a:t>
            </a:r>
          </a:p>
          <a:p xmlns:a="http://schemas.openxmlformats.org/drawingml/2006/main">
            <a:r>
              <a:t/>
            </a:r>
          </a:p>
          <a:p xmlns:a="http://schemas.openxmlformats.org/drawingml/2006/main">
            <a:r>
              <a:t>Unapproved origin risk: partnerId is not a secret. The receiver checks the actual browser origin of the calling page against the configured allowlist. A copied code snippet from an unapproved host should fail.</a:t>
            </a:r>
          </a:p>
          <a:p xmlns:a="http://schemas.openxmlformats.org/drawingml/2006/main">
            <a:r>
              <a:t/>
            </a:r>
          </a:p>
          <a:p xmlns:a="http://schemas.openxmlformats.org/drawingml/2006/main">
            <a:r>
              <a:t>Payload risk: validation happens before browser handoff storage. This blocks unsupported kinds, malformed objects, oversized inputs, and script-like full payloads. This does not replace partner authorization; it only constrains what MicrobeTrace will accept.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Security conclusion: the architecture is implemented as a controlled export mechanism. It is not delegated login, and MicrobeTrace cannot independently verify the partner user's identity or permitted export scope.</a:t>
            </a:r>
          </a:p>
          <a:p xmlns:a="http://schemas.openxmlformats.org/drawingml/2006/main">
            <a:r>
              <a:t/>
            </a:r>
          </a:p>
          <a:p xmlns:a="http://schemas.openxmlformats.org/drawingml/2006/main">
            <a:r>
              <a:t>Completed controls include partner-side authorization and minimization; exact production HTTPS origins; Web Crypto IDs; file and metadata limits; the TTL consume/delete lifecycle; tag suppression until handoff cleanup; receipt-reference redaction; live receiver-header verification; and complete success and denial-path coverage.</a:t>
            </a:r>
          </a:p>
          <a:p xmlns:a="http://schemas.openxmlformats.org/drawingml/2006/main">
            <a:r>
              <a:t/>
            </a:r>
          </a:p>
          <a:p xmlns:a="http://schemas.openxmlformats.org/drawingml/2006/main">
            <a:r>
              <a:t>The evidence includes browser tests showing no third-party tag observes the handoff, metadata validation before storage and during import, redacted audit output, final-response header captures, and negative tests for authorization, origin, crypto, payload, metadata, lifecycle, and export handling.</a:t>
            </a:r>
          </a:p>
          <a:p xmlns:a="http://schemas.openxmlformats.org/drawingml/2006/main">
            <a:r>
              <a:t/>
            </a:r>
          </a:p>
          <a:p xmlns:a="http://schemas.openxmlformats.org/drawingml/2006/main">
            <a:r>
              <a:t>Residual boundary: this design does not protect against overbroad partner exports, a compromised local browser or device, or redistribution after an authorized user downloads or shares data. These are limits of the trust boundary, not unfinished implementation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control has a named owner and supporting evidence. The partner app team owns backend authorization, data minimization, clear disclosure, approved audit fields, SDK URL and version evidence, and omission of secrets. partnerId is an identifier, not a password or a substitute for authorization.</a:t>
            </a:r>
          </a:p>
          <a:p xmlns:a="http://schemas.openxmlformats.org/drawingml/2006/main">
            <a:r>
              <a:t/>
            </a:r>
          </a:p>
          <a:p xmlns:a="http://schemas.openxmlformats.org/drawingml/2006/main">
            <a:r>
              <a:t>The MicrobeTrace app team owns exact production-origin configuration, reviewed target exceptions, Web Crypto, file and metadata validation, the localForage handoff lifecycle, analytics suppression before app boot, build verification, backward-compatible SDK changes, and denial-case release tests. partnerId is separated by application, environment, or security boundary when controls differ.</a:t>
            </a:r>
          </a:p>
          <a:p xmlns:a="http://schemas.openxmlformats.org/drawingml/2006/main">
            <a:r>
              <a:t/>
            </a:r>
          </a:p>
          <a:p xmlns:a="http://schemas.openxmlformats.org/drawingml/2006/main">
            <a:r>
              <a:t>The deployment owner or CDC infrastructure owns the live /assets/embed/receiver.html response after Tomcat, proxies, gateways, CDNs, and WAFs. The evidence confirms CSP, Referrer-Policy, Cache-Control: no-store, and framing controls, and the same check repeats after hosting changes.</a:t>
            </a:r>
          </a:p>
          <a:p xmlns:a="http://schemas.openxmlformats.org/drawingml/2006/main">
            <a:r>
              <a:t/>
            </a:r>
          </a:p>
          <a:p xmlns:a="http://schemas.openxmlformats.org/drawingml/2006/main">
            <a:r>
              <a:t>Joint tests confirm that unsafe cases fail closed, including unauthorized export, disallowed origins, unsupported crypto, metadata abuse, payload limits, popup blocking, analytics or tag execution, consume/error cleanup, missing headers, and unsafe spreadsheet-export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540568c2fe24da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4638caa8cc94f5b" /><Relationship Type="http://schemas.openxmlformats.org/officeDocument/2006/relationships/slideLayout" Target="/ppt/slideLayouts/slideLayout1.xml" Id="R875cf45c0e8646a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75cf45c0e8646a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59836fbd5864e54" /><Relationship Type="http://schemas.openxmlformats.org/officeDocument/2006/relationships/notesSlide" Target="/ppt/notesSlides/notesSlide1.xml" Id="R0e25e2364f8e479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7888a0d4278405c" /><Relationship Type="http://schemas.openxmlformats.org/officeDocument/2006/relationships/notesSlide" Target="/ppt/notesSlides/notesSlide2.xml" Id="R6459fda9238b4a2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a320f032d9042c9" /><Relationship Type="http://schemas.openxmlformats.org/officeDocument/2006/relationships/notesSlide" Target="/ppt/notesSlides/notesSlide3.xml" Id="R6aec9290d735417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effbb6c22164550" /><Relationship Type="http://schemas.openxmlformats.org/officeDocument/2006/relationships/notesSlide" Target="/ppt/notesSlides/notesSlide4.xml" Id="Rd26d725f0ca940d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21c51efe5ec4d36" /><Relationship Type="http://schemas.openxmlformats.org/officeDocument/2006/relationships/notesSlide" Target="/ppt/notesSlides/notesSlide5.xml" Id="R57c7642fea25470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c5b70d338b049d7" /><Relationship Type="http://schemas.openxmlformats.org/officeDocument/2006/relationships/notesSlide" Target="/ppt/notesSlides/notesSlide6.xml" Id="R2434eff37c404fe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084a280a9e440f1" /><Relationship Type="http://schemas.openxmlformats.org/officeDocument/2006/relationships/notesSlide" Target="/ppt/notesSlides/notesSlide7.xml" Id="R54917141214b4f6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bc7bbab034d4477" /><Relationship Type="http://schemas.openxmlformats.org/officeDocument/2006/relationships/notesSlide" Target="/ppt/notesSlides/notesSlide8.xml" Id="Rc04cab233def45a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292c1f10902449d" /><Relationship Type="http://schemas.openxmlformats.org/officeDocument/2006/relationships/notesSlide" Target="/ppt/notesSlides/notesSlide9.xml" Id="R03de8c712945455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84ca966fe204239" /><Relationship Type="http://schemas.openxmlformats.org/officeDocument/2006/relationships/notesSlide" Target="/ppt/notesSlides/notesSlide10.xml" Id="R84b1d159bf6945e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b4de21bca8c491e" /><Relationship Type="http://schemas.openxmlformats.org/officeDocument/2006/relationships/notesSlide" Target="/ppt/notesSlides/notesSlide11.xml" Id="R2082abfe9c60459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5fba6d33576404e" /><Relationship Type="http://schemas.openxmlformats.org/officeDocument/2006/relationships/notesSlide" Target="/ppt/notesSlides/notesSlide12.xml" Id="R02eb846dfcc34b1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36a545aae0b4fdb" /><Relationship Type="http://schemas.openxmlformats.org/officeDocument/2006/relationships/notesSlide" Target="/ppt/notesSlides/notesSlide13.xml" Id="R2185e454e7b043c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1eec135f28f4a87" /><Relationship Type="http://schemas.openxmlformats.org/officeDocument/2006/relationships/notesSlide" Target="/ppt/notesSlides/notesSlide14.xml" Id="R674d1c66be7d4e8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EEC7B5F-FC9D-41F4-A693-70814AB1F285}"/>
              </a:ext>
            </a:extLst>
          </p:cNvPr>
          <p:cNvSpPr>
            <a:spLocks xmlns:a="http://schemas.openxmlformats.org/drawingml/2006/main" noGrp="1"/>
          </p:cNvSpPr>
          <p:nvPr/>
        </p:nvSpPr>
        <p:spPr>
          <a:xfrm xmlns:a="http://schemas.openxmlformats.org/drawingml/2006/main">
            <a:off x="400050" y="457200"/>
            <a:ext cx="647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100" b="1">
                <a:solidFill>
                  <a:srgbClr val="0B0F14"/>
                </a:solidFill>
              </a:defRPr>
            </a:pPr>
            <a:r>
              <a:rPr sz="2100" b="1">
                <a:solidFill>
                  <a:srgbClr val="0B0F14"/>
                </a:solidFill>
              </a:rPr>
              <a:t>MicrobeTrace Partner Embed</a:t>
            </a:r>
          </a:p>
        </p:txBody>
      </p:sp>
      <p:sp>
        <p:nvSpPr>
          <p:cNvPr id="2" name="">
            <a:extLst xmlns:a="http://schemas.openxmlformats.org/drawingml/2006/main">
              <a:ext uri="{FF2B5EF4-FFF2-40B4-BE49-F238E27FC236}">
                <a16:creationId xmlns:a16="http://schemas.microsoft.com/office/drawing/2014/main" id="{5D814D9C-40B2-4CC5-B432-BBA238DDD672}"/>
              </a:ext>
            </a:extLst>
          </p:cNvPr>
          <p:cNvSpPr>
            <a:spLocks xmlns:a="http://schemas.openxmlformats.org/drawingml/2006/main" noGrp="1"/>
          </p:cNvSpPr>
          <p:nvPr/>
        </p:nvSpPr>
        <p:spPr>
          <a:xfrm xmlns:a="http://schemas.openxmlformats.org/drawingml/2006/main">
            <a:off x="400050" y="1695450"/>
            <a:ext cx="9334500" cy="1752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4800" b="1">
                <a:solidFill>
                  <a:srgbClr val="0B0F14"/>
                </a:solidFill>
              </a:defRPr>
            </a:pPr>
            <a:r>
              <a:rPr sz="4800" b="1">
                <a:solidFill>
                  <a:srgbClr val="0B0F14"/>
                </a:solidFill>
              </a:rPr>
              <a:t>The button exports partner-approved data into MicrobeTrace</a:t>
            </a:r>
          </a:p>
        </p:txBody>
      </p:sp>
      <p:sp>
        <p:nvSpPr>
          <p:cNvPr id="3" name="">
            <a:extLst xmlns:a="http://schemas.openxmlformats.org/drawingml/2006/main">
              <a:ext uri="{FF2B5EF4-FFF2-40B4-BE49-F238E27FC236}">
                <a16:creationId xmlns:a16="http://schemas.microsoft.com/office/drawing/2014/main" id="{CF8C00EB-55DD-4CA4-B7D4-7AF53550ABF4}"/>
              </a:ext>
            </a:extLst>
          </p:cNvPr>
          <p:cNvSpPr>
            <a:spLocks xmlns:a="http://schemas.openxmlformats.org/drawingml/2006/main" noGrp="1"/>
          </p:cNvSpPr>
          <p:nvPr/>
        </p:nvSpPr>
        <p:spPr>
          <a:xfrm xmlns:a="http://schemas.openxmlformats.org/drawingml/2006/main">
            <a:off x="457200" y="4095750"/>
            <a:ext cx="7429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0">
                <a:solidFill>
                  <a:srgbClr val="555555"/>
                </a:solidFill>
              </a:defRPr>
            </a:pPr>
            <a:r>
              <a:rPr sz="1800" b="0">
                <a:solidFill>
                  <a:srgbClr val="555555"/>
                </a:solidFill>
              </a:rPr>
              <a:t>How to integrate the SDK safely, where the trust boundaries are, and which risks the architecture does not eliminate.</a:t>
            </a:r>
          </a:p>
        </p:txBody>
      </p:sp>
      <p:sp>
        <p:nvSpPr>
          <p:cNvPr id="4" name="">
            <a:extLst xmlns:a="http://schemas.openxmlformats.org/drawingml/2006/main">
              <a:ext uri="{FF2B5EF4-FFF2-40B4-BE49-F238E27FC236}">
                <a16:creationId xmlns:a16="http://schemas.microsoft.com/office/drawing/2014/main" id="{81ADF261-67E3-4492-B9CD-6EDF40999C64}"/>
              </a:ext>
            </a:extLst>
          </p:cNvPr>
          <p:cNvSpPr>
            <a:spLocks xmlns:a="http://schemas.openxmlformats.org/drawingml/2006/main" noGrp="1"/>
          </p:cNvSpPr>
          <p:nvPr/>
        </p:nvSpPr>
        <p:spPr>
          <a:xfrm xmlns:a="http://schemas.openxmlformats.org/drawingml/2006/main">
            <a:off x="8572500" y="4000500"/>
            <a:ext cx="2381250" cy="1428750"/>
          </a:xfrm>
          <a:prstGeom xmlns:a="http://schemas.openxmlformats.org/drawingml/2006/main" prst="rect">
            <a:avLst/>
          </a:prstGeom>
          <a:solidFill xmlns:a="http://schemas.openxmlformats.org/drawingml/2006/main">
            <a:srgbClr val="EDEDED"/>
          </a:solidFill>
          <a:ln xmlns:a="http://schemas.openxmlformats.org/drawingml/2006/main" w="9525">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4"/>
                </a:solidFill>
              </a:defRPr>
            </a:pPr>
            <a:r>
              <a:rPr sz="1800" b="1">
                <a:solidFill>
                  <a:srgbClr val="0B0F14"/>
                </a:solidFill>
              </a:rPr>
              <a:t>Partner-authorized export</a:t>
            </a:r>
          </a:p>
          <a:p xmlns:a="http://schemas.openxmlformats.org/drawingml/2006/main">
            <a:pPr algn="ctr">
              <a:buNone/>
              <a:defRPr sz="1800" b="1">
                <a:solidFill>
                  <a:srgbClr val="0B0F14"/>
                </a:solidFill>
              </a:defRPr>
            </a:pPr>
            <a:r>
              <a:rPr sz="1800" b="1">
                <a:solidFill>
                  <a:srgbClr val="0B0F14"/>
                </a:solidFill>
              </a:rPr>
              <a:t>not delegated login</a:t>
            </a:r>
          </a:p>
        </p:txBody>
      </p:sp>
      <p:sp>
        <p:nvSpPr>
          <p:cNvPr id="5" name="">
            <a:extLst xmlns:a="http://schemas.openxmlformats.org/drawingml/2006/main">
              <a:ext uri="{FF2B5EF4-FFF2-40B4-BE49-F238E27FC236}">
                <a16:creationId xmlns:a16="http://schemas.microsoft.com/office/drawing/2014/main" id="{CF6A2A7D-E15B-4F2D-8133-42203F34FC11}"/>
              </a:ext>
            </a:extLst>
          </p:cNvPr>
          <p:cNvSpPr>
            <a:spLocks xmlns:a="http://schemas.openxmlformats.org/drawingml/2006/main" noGrp="1"/>
          </p:cNvSpPr>
          <p:nvPr/>
        </p:nvSpPr>
        <p:spPr>
          <a:xfrm xmlns:a="http://schemas.openxmlformats.org/drawingml/2006/main">
            <a:off x="11287125" y="6286500"/>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200" b="0">
                <a:solidFill>
                  <a:srgbClr val="555555"/>
                </a:solidFill>
              </a:defRPr>
            </a:pPr>
            <a:r>
              <a:rPr sz="1200" b="0">
                <a:solidFill>
                  <a:srgbClr val="555555"/>
                </a:solidFill>
              </a:rPr>
              <a:t>01</a:t>
            </a:r>
          </a:p>
        </p:txBody>
      </p:sp>
    </p:spTree>
    <p:extLst>
      <p:ext uri="{BB962C8B-B14F-4D97-AF65-F5344CB8AC3E}">
        <p14:creationId xmlns:p14="http://schemas.microsoft.com/office/powerpoint/2010/main" val="189655877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D326724-E667-465D-A710-54C544764CBA}"/>
              </a:ext>
            </a:extLst>
          </p:cNvPr>
          <p:cNvSpPr>
            <a:spLocks xmlns:a="http://schemas.openxmlformats.org/drawingml/2006/main" noGrp="1"/>
          </p:cNvSpPr>
          <p:nvPr/>
        </p:nvSpPr>
        <p:spPr>
          <a:xfrm xmlns:a="http://schemas.openxmlformats.org/drawingml/2006/main">
            <a:off x="400050" y="3238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555555"/>
                </a:solidFill>
              </a:defRPr>
            </a:pPr>
            <a:r>
              <a:rPr sz="1200" b="1">
                <a:solidFill>
                  <a:srgbClr val="555555"/>
                </a:solidFill>
              </a:rPr>
              <a:t>MICROBETRACE PARTNER EMBED</a:t>
            </a:r>
          </a:p>
        </p:txBody>
      </p:sp>
      <p:sp>
        <p:nvSpPr>
          <p:cNvPr id="2" name="">
            <a:extLst xmlns:a="http://schemas.openxmlformats.org/drawingml/2006/main">
              <a:ext uri="{FF2B5EF4-FFF2-40B4-BE49-F238E27FC236}">
                <a16:creationId xmlns:a16="http://schemas.microsoft.com/office/drawing/2014/main" id="{45C5238F-1453-4E48-B72A-69E0D346E3ED}"/>
              </a:ext>
            </a:extLst>
          </p:cNvPr>
          <p:cNvSpPr>
            <a:spLocks xmlns:a="http://schemas.openxmlformats.org/drawingml/2006/main" noGrp="1"/>
          </p:cNvSpPr>
          <p:nvPr/>
        </p:nvSpPr>
        <p:spPr>
          <a:xfrm xmlns:a="http://schemas.openxmlformats.org/drawingml/2006/main">
            <a:off x="400050" y="723900"/>
            <a:ext cx="10001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4"/>
                </a:solidFill>
              </a:defRPr>
            </a:pPr>
            <a:r>
              <a:rPr sz="3150" b="1">
                <a:solidFill>
                  <a:srgbClr val="0B0F14"/>
                </a:solidFill>
              </a:rPr>
              <a:t>The runtime surface is intentionally small</a:t>
            </a:r>
          </a:p>
        </p:txBody>
      </p:sp>
      <p:sp>
        <p:nvSpPr>
          <p:cNvPr id="3" name="">
            <a:extLst xmlns:a="http://schemas.openxmlformats.org/drawingml/2006/main">
              <a:ext uri="{FF2B5EF4-FFF2-40B4-BE49-F238E27FC236}">
                <a16:creationId xmlns:a16="http://schemas.microsoft.com/office/drawing/2014/main" id="{6E62DA59-5CBD-4291-9DD4-3CADEF3A985C}"/>
              </a:ext>
            </a:extLst>
          </p:cNvPr>
          <p:cNvSpPr>
            <a:spLocks xmlns:a="http://schemas.openxmlformats.org/drawingml/2006/main" noGrp="1"/>
          </p:cNvSpPr>
          <p:nvPr/>
        </p:nvSpPr>
        <p:spPr>
          <a:xfrm xmlns:a="http://schemas.openxmlformats.org/drawingml/2006/main">
            <a:off x="419100" y="1562100"/>
            <a:ext cx="857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a:solidFill>
                  <a:srgbClr val="555555"/>
                </a:solidFill>
              </a:defRPr>
            </a:pPr>
            <a:r>
              <a:rPr sz="1650" b="0">
                <a:solidFill>
                  <a:srgbClr val="555555"/>
                </a:solidFill>
              </a:rPr>
              <a:t>A safe integration depends on keeping the flow narrow and explicit.</a:t>
            </a:r>
          </a:p>
        </p:txBody>
      </p:sp>
      <p:sp>
        <p:nvSpPr>
          <p:cNvPr id="4" name="">
            <a:extLst xmlns:a="http://schemas.openxmlformats.org/drawingml/2006/main">
              <a:ext uri="{FF2B5EF4-FFF2-40B4-BE49-F238E27FC236}">
                <a16:creationId xmlns:a16="http://schemas.microsoft.com/office/drawing/2014/main" id="{9C140A9A-69E2-4F79-A5AA-13920BE71BC2}"/>
              </a:ext>
            </a:extLst>
          </p:cNvPr>
          <p:cNvSpPr>
            <a:spLocks xmlns:a="http://schemas.openxmlformats.org/drawingml/2006/main" noGrp="1"/>
          </p:cNvSpPr>
          <p:nvPr/>
        </p:nvSpPr>
        <p:spPr>
          <a:xfrm xmlns:a="http://schemas.openxmlformats.org/drawingml/2006/main">
            <a:off x="714375" y="2857500"/>
            <a:ext cx="1714500" cy="83820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4"/>
                </a:solidFill>
              </a:defRPr>
            </a:pPr>
            <a:r>
              <a:rPr sz="1500" b="1">
                <a:solidFill>
                  <a:srgbClr val="0B0F14"/>
                </a:solidFill>
              </a:rPr>
              <a:t>SDK script</a:t>
            </a:r>
          </a:p>
        </p:txBody>
      </p:sp>
      <p:sp>
        <p:nvSpPr>
          <p:cNvPr id="5" name="">
            <a:extLst xmlns:a="http://schemas.openxmlformats.org/drawingml/2006/main">
              <a:ext uri="{FF2B5EF4-FFF2-40B4-BE49-F238E27FC236}">
                <a16:creationId xmlns:a16="http://schemas.microsoft.com/office/drawing/2014/main" id="{A1ABDD96-D18C-4290-B8A9-74D5945B82AF}"/>
              </a:ext>
            </a:extLst>
          </p:cNvPr>
          <p:cNvSpPr>
            <a:spLocks xmlns:a="http://schemas.openxmlformats.org/drawingml/2006/main" noGrp="1"/>
          </p:cNvSpPr>
          <p:nvPr/>
        </p:nvSpPr>
        <p:spPr>
          <a:xfrm xmlns:a="http://schemas.openxmlformats.org/drawingml/2006/main">
            <a:off x="2857500" y="2857500"/>
            <a:ext cx="1714500" cy="83820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4"/>
                </a:solidFill>
              </a:defRPr>
            </a:pPr>
            <a:r>
              <a:rPr sz="1500" b="1">
                <a:solidFill>
                  <a:srgbClr val="0B0F14"/>
                </a:solidFill>
              </a:rPr>
              <a:t>User click</a:t>
            </a:r>
          </a:p>
        </p:txBody>
      </p:sp>
      <p:sp>
        <p:nvSpPr>
          <p:cNvPr id="6" name="">
            <a:extLst xmlns:a="http://schemas.openxmlformats.org/drawingml/2006/main">
              <a:ext uri="{FF2B5EF4-FFF2-40B4-BE49-F238E27FC236}">
                <a16:creationId xmlns:a16="http://schemas.microsoft.com/office/drawing/2014/main" id="{EFA0F42F-79A6-47E1-85F7-C763DED580A9}"/>
              </a:ext>
            </a:extLst>
          </p:cNvPr>
          <p:cNvSpPr>
            <a:spLocks xmlns:a="http://schemas.openxmlformats.org/drawingml/2006/main" noGrp="1"/>
          </p:cNvSpPr>
          <p:nvPr/>
        </p:nvSpPr>
        <p:spPr>
          <a:xfrm xmlns:a="http://schemas.openxmlformats.org/drawingml/2006/main">
            <a:off x="5000625" y="2857500"/>
            <a:ext cx="2000250" cy="83820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4"/>
                </a:solidFill>
              </a:defRPr>
            </a:pPr>
            <a:r>
              <a:rPr sz="1500" b="1">
                <a:solidFill>
                  <a:srgbClr val="0B0F14"/>
                </a:solidFill>
              </a:rPr>
              <a:t>Receiver popup</a:t>
            </a:r>
          </a:p>
        </p:txBody>
      </p:sp>
      <p:sp>
        <p:nvSpPr>
          <p:cNvPr id="7" name="">
            <a:extLst xmlns:a="http://schemas.openxmlformats.org/drawingml/2006/main">
              <a:ext uri="{FF2B5EF4-FFF2-40B4-BE49-F238E27FC236}">
                <a16:creationId xmlns:a16="http://schemas.microsoft.com/office/drawing/2014/main" id="{92E2A584-BB84-4743-B2FB-CE25F817007D}"/>
              </a:ext>
            </a:extLst>
          </p:cNvPr>
          <p:cNvSpPr>
            <a:spLocks xmlns:a="http://schemas.openxmlformats.org/drawingml/2006/main" noGrp="1"/>
          </p:cNvSpPr>
          <p:nvPr/>
        </p:nvSpPr>
        <p:spPr>
          <a:xfrm xmlns:a="http://schemas.openxmlformats.org/drawingml/2006/main">
            <a:off x="7429500" y="2857500"/>
            <a:ext cx="2000250" cy="83820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4"/>
                </a:solidFill>
              </a:defRPr>
            </a:pPr>
            <a:r>
              <a:rPr sz="1500" b="1">
                <a:solidFill>
                  <a:srgbClr val="0B0F14"/>
                </a:solidFill>
              </a:rPr>
              <a:t>Browser handoff</a:t>
            </a:r>
          </a:p>
        </p:txBody>
      </p:sp>
      <p:sp>
        <p:nvSpPr>
          <p:cNvPr id="8" name="">
            <a:extLst xmlns:a="http://schemas.openxmlformats.org/drawingml/2006/main">
              <a:ext uri="{FF2B5EF4-FFF2-40B4-BE49-F238E27FC236}">
                <a16:creationId xmlns:a16="http://schemas.microsoft.com/office/drawing/2014/main" id="{860592C1-CE0F-4A38-B753-540A6C1A8129}"/>
              </a:ext>
            </a:extLst>
          </p:cNvPr>
          <p:cNvSpPr>
            <a:spLocks xmlns:a="http://schemas.openxmlformats.org/drawingml/2006/main" noGrp="1"/>
          </p:cNvSpPr>
          <p:nvPr/>
        </p:nvSpPr>
        <p:spPr>
          <a:xfrm xmlns:a="http://schemas.openxmlformats.org/drawingml/2006/main">
            <a:off x="9858375" y="2857500"/>
            <a:ext cx="1905000" cy="83820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4"/>
                </a:solidFill>
              </a:defRPr>
            </a:pPr>
            <a:r>
              <a:rPr sz="1500" b="1">
                <a:solidFill>
                  <a:srgbClr val="0B0F14"/>
                </a:solidFill>
              </a:rPr>
              <a:t>MicrobeTrace load</a:t>
            </a:r>
          </a:p>
        </p:txBody>
      </p:sp>
      <p:sp>
        <p:nvSpPr>
          <p:cNvPr id="9" name="">
            <a:extLst xmlns:a="http://schemas.openxmlformats.org/drawingml/2006/main">
              <a:ext uri="{FF2B5EF4-FFF2-40B4-BE49-F238E27FC236}">
                <a16:creationId xmlns:a16="http://schemas.microsoft.com/office/drawing/2014/main" id="{4703091B-DAA6-440B-B3F1-5E81F5F5421F}"/>
              </a:ext>
            </a:extLst>
          </p:cNvPr>
          <p:cNvSpPr>
            <a:spLocks xmlns:a="http://schemas.openxmlformats.org/drawingml/2006/main" noGrp="1"/>
          </p:cNvSpPr>
          <p:nvPr/>
        </p:nvSpPr>
        <p:spPr>
          <a:xfrm xmlns:a="http://schemas.openxmlformats.org/drawingml/2006/main">
            <a:off x="2514600" y="3105150"/>
            <a:ext cx="266700" cy="342900"/>
          </a:xfrm>
          <a:prstGeom xmlns:a="http://schemas.openxmlformats.org/drawingml/2006/main" prst="rightArrow">
            <a:avLst/>
          </a:prstGeom>
          <a:solidFill xmlns:a="http://schemas.openxmlformats.org/drawingml/2006/main">
            <a:srgbClr val="B8BCC4"/>
          </a:solidFill>
          <a:ln xmlns:a="http://schemas.openxmlformats.org/drawingml/2006/main" w="0">
            <a:solidFill>
              <a:srgbClr val="B8BCC4"/>
            </a:solidFill>
            <a:prstDash val="solid"/>
          </a:ln>
        </p:spPr>
      </p:sp>
      <p:sp>
        <p:nvSpPr>
          <p:cNvPr id="10" name="">
            <a:extLst xmlns:a="http://schemas.openxmlformats.org/drawingml/2006/main">
              <a:ext uri="{FF2B5EF4-FFF2-40B4-BE49-F238E27FC236}">
                <a16:creationId xmlns:a16="http://schemas.microsoft.com/office/drawing/2014/main" id="{F1C2D63E-ABE7-463A-8D84-231BCF47C45A}"/>
              </a:ext>
            </a:extLst>
          </p:cNvPr>
          <p:cNvSpPr>
            <a:spLocks xmlns:a="http://schemas.openxmlformats.org/drawingml/2006/main" noGrp="1"/>
          </p:cNvSpPr>
          <p:nvPr/>
        </p:nvSpPr>
        <p:spPr>
          <a:xfrm xmlns:a="http://schemas.openxmlformats.org/drawingml/2006/main">
            <a:off x="4657725" y="3105150"/>
            <a:ext cx="266700" cy="342900"/>
          </a:xfrm>
          <a:prstGeom xmlns:a="http://schemas.openxmlformats.org/drawingml/2006/main" prst="rightArrow">
            <a:avLst/>
          </a:prstGeom>
          <a:solidFill xmlns:a="http://schemas.openxmlformats.org/drawingml/2006/main">
            <a:srgbClr val="B8BCC4"/>
          </a:solidFill>
          <a:ln xmlns:a="http://schemas.openxmlformats.org/drawingml/2006/main" w="0">
            <a:solidFill>
              <a:srgbClr val="B8BCC4"/>
            </a:solidFill>
            <a:prstDash val="solid"/>
          </a:ln>
        </p:spPr>
      </p:sp>
      <p:sp>
        <p:nvSpPr>
          <p:cNvPr id="11" name="">
            <a:extLst xmlns:a="http://schemas.openxmlformats.org/drawingml/2006/main">
              <a:ext uri="{FF2B5EF4-FFF2-40B4-BE49-F238E27FC236}">
                <a16:creationId xmlns:a16="http://schemas.microsoft.com/office/drawing/2014/main" id="{BCC49EFD-B41D-4091-81DA-9D6176320CA2}"/>
              </a:ext>
            </a:extLst>
          </p:cNvPr>
          <p:cNvSpPr>
            <a:spLocks xmlns:a="http://schemas.openxmlformats.org/drawingml/2006/main" noGrp="1"/>
          </p:cNvSpPr>
          <p:nvPr/>
        </p:nvSpPr>
        <p:spPr>
          <a:xfrm xmlns:a="http://schemas.openxmlformats.org/drawingml/2006/main">
            <a:off x="7086600" y="3105150"/>
            <a:ext cx="266700" cy="342900"/>
          </a:xfrm>
          <a:prstGeom xmlns:a="http://schemas.openxmlformats.org/drawingml/2006/main" prst="rightArrow">
            <a:avLst/>
          </a:prstGeom>
          <a:solidFill xmlns:a="http://schemas.openxmlformats.org/drawingml/2006/main">
            <a:srgbClr val="B8BCC4"/>
          </a:solidFill>
          <a:ln xmlns:a="http://schemas.openxmlformats.org/drawingml/2006/main" w="0">
            <a:solidFill>
              <a:srgbClr val="B8BCC4"/>
            </a:solidFill>
            <a:prstDash val="solid"/>
          </a:ln>
        </p:spPr>
      </p:sp>
      <p:sp>
        <p:nvSpPr>
          <p:cNvPr id="12" name="">
            <a:extLst xmlns:a="http://schemas.openxmlformats.org/drawingml/2006/main">
              <a:ext uri="{FF2B5EF4-FFF2-40B4-BE49-F238E27FC236}">
                <a16:creationId xmlns:a16="http://schemas.microsoft.com/office/drawing/2014/main" id="{D5074B80-10CB-43A7-B9A3-88B4FF2CB3D2}"/>
              </a:ext>
            </a:extLst>
          </p:cNvPr>
          <p:cNvSpPr>
            <a:spLocks xmlns:a="http://schemas.openxmlformats.org/drawingml/2006/main" noGrp="1"/>
          </p:cNvSpPr>
          <p:nvPr/>
        </p:nvSpPr>
        <p:spPr>
          <a:xfrm xmlns:a="http://schemas.openxmlformats.org/drawingml/2006/main">
            <a:off x="9515475" y="3105150"/>
            <a:ext cx="266700" cy="342900"/>
          </a:xfrm>
          <a:prstGeom xmlns:a="http://schemas.openxmlformats.org/drawingml/2006/main" prst="rightArrow">
            <a:avLst/>
          </a:prstGeom>
          <a:solidFill xmlns:a="http://schemas.openxmlformats.org/drawingml/2006/main">
            <a:srgbClr val="B8BCC4"/>
          </a:solidFill>
          <a:ln xmlns:a="http://schemas.openxmlformats.org/drawingml/2006/main" w="0">
            <a:solidFill>
              <a:srgbClr val="B8BCC4"/>
            </a:solidFill>
            <a:prstDash val="solid"/>
          </a:ln>
        </p:spPr>
      </p:sp>
      <p:sp>
        <p:nvSpPr>
          <p:cNvPr id="13" name="">
            <a:extLst xmlns:a="http://schemas.openxmlformats.org/drawingml/2006/main">
              <a:ext uri="{FF2B5EF4-FFF2-40B4-BE49-F238E27FC236}">
                <a16:creationId xmlns:a16="http://schemas.microsoft.com/office/drawing/2014/main" id="{60C10E06-C0B4-4151-BD8D-0EE8D6EBA7D5}"/>
              </a:ext>
            </a:extLst>
          </p:cNvPr>
          <p:cNvSpPr>
            <a:spLocks xmlns:a="http://schemas.openxmlformats.org/drawingml/2006/main" noGrp="1"/>
          </p:cNvSpPr>
          <p:nvPr/>
        </p:nvSpPr>
        <p:spPr>
          <a:xfrm xmlns:a="http://schemas.openxmlformats.org/drawingml/2006/main">
            <a:off x="914400" y="4552950"/>
            <a:ext cx="9906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0B0F14"/>
                </a:solidFill>
              </a:defRPr>
            </a:pPr>
            <a:r>
              <a:rPr sz="1800" b="1">
                <a:solidFill>
                  <a:srgbClr val="0B0F14"/>
                </a:solidFill>
              </a:rPr>
              <a:t>No partner cookies, tokens, or API credentials are sent to MicrobeTrace.</a:t>
            </a:r>
          </a:p>
        </p:txBody>
      </p:sp>
      <p:sp>
        <p:nvSpPr>
          <p:cNvPr id="14" name="">
            <a:extLst xmlns:a="http://schemas.openxmlformats.org/drawingml/2006/main">
              <a:ext uri="{FF2B5EF4-FFF2-40B4-BE49-F238E27FC236}">
                <a16:creationId xmlns:a16="http://schemas.microsoft.com/office/drawing/2014/main" id="{43C1AE56-CD9B-46C4-B540-D2DC32B765D1}"/>
              </a:ext>
            </a:extLst>
          </p:cNvPr>
          <p:cNvSpPr>
            <a:spLocks xmlns:a="http://schemas.openxmlformats.org/drawingml/2006/main" noGrp="1"/>
          </p:cNvSpPr>
          <p:nvPr/>
        </p:nvSpPr>
        <p:spPr>
          <a:xfrm xmlns:a="http://schemas.openxmlformats.org/drawingml/2006/main">
            <a:off x="933450" y="5029200"/>
            <a:ext cx="9429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a:solidFill>
                  <a:srgbClr val="555555"/>
                </a:solidFill>
              </a:defRPr>
            </a:pPr>
            <a:r>
              <a:rPr sz="1650" b="0">
                <a:solidFill>
                  <a:srgbClr val="555555"/>
                </a:solidFill>
              </a:rPr>
              <a:t>The SDK sends only the file payload and limited metadata selected by the partner app through a short-lived browser handoff.</a:t>
            </a:r>
          </a:p>
        </p:txBody>
      </p:sp>
      <p:sp>
        <p:nvSpPr>
          <p:cNvPr id="15" name="">
            <a:extLst xmlns:a="http://schemas.openxmlformats.org/drawingml/2006/main">
              <a:ext uri="{FF2B5EF4-FFF2-40B4-BE49-F238E27FC236}">
                <a16:creationId xmlns:a16="http://schemas.microsoft.com/office/drawing/2014/main" id="{61ECC6BA-8162-4506-9A02-3AAFE1E1766A}"/>
              </a:ext>
            </a:extLst>
          </p:cNvPr>
          <p:cNvSpPr>
            <a:spLocks xmlns:a="http://schemas.openxmlformats.org/drawingml/2006/main" noGrp="1"/>
          </p:cNvSpPr>
          <p:nvPr/>
        </p:nvSpPr>
        <p:spPr>
          <a:xfrm xmlns:a="http://schemas.openxmlformats.org/drawingml/2006/main">
            <a:off x="11287125" y="6286500"/>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200" b="0">
                <a:solidFill>
                  <a:srgbClr val="555555"/>
                </a:solidFill>
              </a:defRPr>
            </a:pPr>
            <a:r>
              <a:rPr sz="1200" b="0">
                <a:solidFill>
                  <a:srgbClr val="555555"/>
                </a:solidFill>
              </a:rPr>
              <a:t>02</a:t>
            </a:r>
          </a:p>
        </p:txBody>
      </p:sp>
    </p:spTree>
    <p:extLst>
      <p:ext uri="{BB962C8B-B14F-4D97-AF65-F5344CB8AC3E}">
        <p14:creationId xmlns:p14="http://schemas.microsoft.com/office/powerpoint/2010/main" val="173627361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498B105-FCB3-4D72-B478-CFB2C3C6D479}"/>
              </a:ext>
            </a:extLst>
          </p:cNvPr>
          <p:cNvSpPr>
            <a:spLocks xmlns:a="http://schemas.openxmlformats.org/drawingml/2006/main" noGrp="1"/>
          </p:cNvSpPr>
          <p:nvPr/>
        </p:nvSpPr>
        <p:spPr>
          <a:xfrm xmlns:a="http://schemas.openxmlformats.org/drawingml/2006/main">
            <a:off x="400050" y="3238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555555"/>
                </a:solidFill>
              </a:defRPr>
            </a:pPr>
            <a:r>
              <a:rPr sz="1200" b="1">
                <a:solidFill>
                  <a:srgbClr val="555555"/>
                </a:solidFill>
              </a:rPr>
              <a:t>MICROBETRACE PARTNER EMBED</a:t>
            </a:r>
          </a:p>
        </p:txBody>
      </p:sp>
      <p:sp>
        <p:nvSpPr>
          <p:cNvPr id="2" name="">
            <a:extLst xmlns:a="http://schemas.openxmlformats.org/drawingml/2006/main">
              <a:ext uri="{FF2B5EF4-FFF2-40B4-BE49-F238E27FC236}">
                <a16:creationId xmlns:a16="http://schemas.microsoft.com/office/drawing/2014/main" id="{F0A12A81-C55D-4B69-AA5E-03554A3E3FEC}"/>
              </a:ext>
            </a:extLst>
          </p:cNvPr>
          <p:cNvSpPr>
            <a:spLocks xmlns:a="http://schemas.openxmlformats.org/drawingml/2006/main" noGrp="1"/>
          </p:cNvSpPr>
          <p:nvPr/>
        </p:nvSpPr>
        <p:spPr>
          <a:xfrm xmlns:a="http://schemas.openxmlformats.org/drawingml/2006/main">
            <a:off x="400050" y="723900"/>
            <a:ext cx="10001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4"/>
                </a:solidFill>
              </a:defRPr>
            </a:pPr>
            <a:r>
              <a:rPr sz="3150" b="1">
                <a:solidFill>
                  <a:srgbClr val="0B0F14"/>
                </a:solidFill>
              </a:rPr>
              <a:t>The happy path is one user-triggered handoff</a:t>
            </a:r>
          </a:p>
        </p:txBody>
      </p:sp>
      <p:sp>
        <p:nvSpPr>
          <p:cNvPr id="3" name="">
            <a:extLst xmlns:a="http://schemas.openxmlformats.org/drawingml/2006/main">
              <a:ext uri="{FF2B5EF4-FFF2-40B4-BE49-F238E27FC236}">
                <a16:creationId xmlns:a16="http://schemas.microsoft.com/office/drawing/2014/main" id="{324BE86E-C6E9-492B-B0F6-0650D8631075}"/>
              </a:ext>
            </a:extLst>
          </p:cNvPr>
          <p:cNvSpPr>
            <a:spLocks xmlns:a="http://schemas.openxmlformats.org/drawingml/2006/main" noGrp="1"/>
          </p:cNvSpPr>
          <p:nvPr/>
        </p:nvSpPr>
        <p:spPr>
          <a:xfrm xmlns:a="http://schemas.openxmlformats.org/drawingml/2006/main">
            <a:off x="419100" y="1562100"/>
            <a:ext cx="857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a:solidFill>
                  <a:srgbClr val="555555"/>
                </a:solidFill>
              </a:defRPr>
            </a:pPr>
            <a:r>
              <a:rPr sz="1650" b="0">
                <a:solidFill>
                  <a:srgbClr val="555555"/>
                </a:solidFill>
              </a:rPr>
              <a:t>The payload moves through a popup receiver, then the app consumes a short-lived reference.</a:t>
            </a:r>
          </a:p>
        </p:txBody>
      </p:sp>
      <p:sp>
        <p:nvSpPr>
          <p:cNvPr id="4" name="">
            <a:extLst xmlns:a="http://schemas.openxmlformats.org/drawingml/2006/main">
              <a:ext uri="{FF2B5EF4-FFF2-40B4-BE49-F238E27FC236}">
                <a16:creationId xmlns:a16="http://schemas.microsoft.com/office/drawing/2014/main" id="{D8FC0414-432C-4CE3-918C-814A6F9F47CE}"/>
              </a:ext>
            </a:extLst>
          </p:cNvPr>
          <p:cNvSpPr>
            <a:spLocks xmlns:a="http://schemas.openxmlformats.org/drawingml/2006/main" noGrp="1"/>
          </p:cNvSpPr>
          <p:nvPr/>
        </p:nvSpPr>
        <p:spPr>
          <a:xfrm xmlns:a="http://schemas.openxmlformats.org/drawingml/2006/main">
            <a:off x="590550" y="2714625"/>
            <a:ext cx="1809750" cy="1285875"/>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5" name="">
            <a:extLst xmlns:a="http://schemas.openxmlformats.org/drawingml/2006/main">
              <a:ext uri="{FF2B5EF4-FFF2-40B4-BE49-F238E27FC236}">
                <a16:creationId xmlns:a16="http://schemas.microsoft.com/office/drawing/2014/main" id="{108D1806-138F-4418-BCCA-6BF49D03456B}"/>
              </a:ext>
            </a:extLst>
          </p:cNvPr>
          <p:cNvSpPr>
            <a:spLocks xmlns:a="http://schemas.openxmlformats.org/drawingml/2006/main" noGrp="1"/>
          </p:cNvSpPr>
          <p:nvPr/>
        </p:nvSpPr>
        <p:spPr>
          <a:xfrm xmlns:a="http://schemas.openxmlformats.org/drawingml/2006/main">
            <a:off x="742950" y="2914650"/>
            <a:ext cx="1504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4"/>
                </a:solidFill>
              </a:defRPr>
            </a:pPr>
            <a:r>
              <a:rPr sz="1650" b="1">
                <a:solidFill>
                  <a:srgbClr val="0B0F14"/>
                </a:solidFill>
              </a:rPr>
              <a:t>Partner app</a:t>
            </a:r>
          </a:p>
        </p:txBody>
      </p:sp>
      <p:sp>
        <p:nvSpPr>
          <p:cNvPr id="6" name="">
            <a:extLst xmlns:a="http://schemas.openxmlformats.org/drawingml/2006/main">
              <a:ext uri="{FF2B5EF4-FFF2-40B4-BE49-F238E27FC236}">
                <a16:creationId xmlns:a16="http://schemas.microsoft.com/office/drawing/2014/main" id="{5CAE7585-1316-4D2D-8C9C-8571D30F445E}"/>
              </a:ext>
            </a:extLst>
          </p:cNvPr>
          <p:cNvSpPr>
            <a:spLocks xmlns:a="http://schemas.openxmlformats.org/drawingml/2006/main" noGrp="1"/>
          </p:cNvSpPr>
          <p:nvPr/>
        </p:nvSpPr>
        <p:spPr>
          <a:xfrm xmlns:a="http://schemas.openxmlformats.org/drawingml/2006/main">
            <a:off x="733425" y="3286125"/>
            <a:ext cx="1524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555555"/>
                </a:solidFill>
              </a:defRPr>
            </a:pPr>
            <a:r>
              <a:rPr sz="1200" b="0">
                <a:solidFill>
                  <a:srgbClr val="555555"/>
                </a:solidFill>
              </a:rPr>
              <a:t>Selects dataset and starts the export.</a:t>
            </a:r>
          </a:p>
        </p:txBody>
      </p:sp>
      <p:sp>
        <p:nvSpPr>
          <p:cNvPr id="7" name="">
            <a:extLst xmlns:a="http://schemas.openxmlformats.org/drawingml/2006/main">
              <a:ext uri="{FF2B5EF4-FFF2-40B4-BE49-F238E27FC236}">
                <a16:creationId xmlns:a16="http://schemas.microsoft.com/office/drawing/2014/main" id="{D6AC74B9-9668-4A85-AF7D-FA6C875991AD}"/>
              </a:ext>
            </a:extLst>
          </p:cNvPr>
          <p:cNvSpPr>
            <a:spLocks xmlns:a="http://schemas.openxmlformats.org/drawingml/2006/main" noGrp="1"/>
          </p:cNvSpPr>
          <p:nvPr/>
        </p:nvSpPr>
        <p:spPr>
          <a:xfrm xmlns:a="http://schemas.openxmlformats.org/drawingml/2006/main">
            <a:off x="2781300" y="2714625"/>
            <a:ext cx="1809750" cy="1285875"/>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8" name="">
            <a:extLst xmlns:a="http://schemas.openxmlformats.org/drawingml/2006/main">
              <a:ext uri="{FF2B5EF4-FFF2-40B4-BE49-F238E27FC236}">
                <a16:creationId xmlns:a16="http://schemas.microsoft.com/office/drawing/2014/main" id="{94634A65-8F55-4F67-94C5-C435B333E060}"/>
              </a:ext>
            </a:extLst>
          </p:cNvPr>
          <p:cNvSpPr>
            <a:spLocks xmlns:a="http://schemas.openxmlformats.org/drawingml/2006/main" noGrp="1"/>
          </p:cNvSpPr>
          <p:nvPr/>
        </p:nvSpPr>
        <p:spPr>
          <a:xfrm xmlns:a="http://schemas.openxmlformats.org/drawingml/2006/main">
            <a:off x="2933700" y="2914650"/>
            <a:ext cx="1504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4"/>
                </a:solidFill>
              </a:defRPr>
            </a:pPr>
            <a:r>
              <a:rPr sz="1650" b="1">
                <a:solidFill>
                  <a:srgbClr val="0B0F14"/>
                </a:solidFill>
              </a:rPr>
              <a:t>Embed SDK</a:t>
            </a:r>
          </a:p>
        </p:txBody>
      </p:sp>
      <p:sp>
        <p:nvSpPr>
          <p:cNvPr id="9" name="">
            <a:extLst xmlns:a="http://schemas.openxmlformats.org/drawingml/2006/main">
              <a:ext uri="{FF2B5EF4-FFF2-40B4-BE49-F238E27FC236}">
                <a16:creationId xmlns:a16="http://schemas.microsoft.com/office/drawing/2014/main" id="{CC8E5039-BFA4-4A1B-A5A3-55EE0DD8E3F7}"/>
              </a:ext>
            </a:extLst>
          </p:cNvPr>
          <p:cNvSpPr>
            <a:spLocks xmlns:a="http://schemas.openxmlformats.org/drawingml/2006/main" noGrp="1"/>
          </p:cNvSpPr>
          <p:nvPr/>
        </p:nvSpPr>
        <p:spPr>
          <a:xfrm xmlns:a="http://schemas.openxmlformats.org/drawingml/2006/main">
            <a:off x="2924175" y="3286125"/>
            <a:ext cx="1524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555555"/>
                </a:solidFill>
              </a:defRPr>
            </a:pPr>
            <a:r>
              <a:rPr sz="1200" b="0">
                <a:solidFill>
                  <a:srgbClr val="555555"/>
                </a:solidFill>
              </a:rPr>
              <a:t>Builds nonce, validates target, opens receiver.</a:t>
            </a:r>
          </a:p>
        </p:txBody>
      </p:sp>
      <p:sp>
        <p:nvSpPr>
          <p:cNvPr id="10" name="">
            <a:extLst xmlns:a="http://schemas.openxmlformats.org/drawingml/2006/main">
              <a:ext uri="{FF2B5EF4-FFF2-40B4-BE49-F238E27FC236}">
                <a16:creationId xmlns:a16="http://schemas.microsoft.com/office/drawing/2014/main" id="{39CA3131-DFFB-47EB-B3BE-C3EF7CC5E8E0}"/>
              </a:ext>
            </a:extLst>
          </p:cNvPr>
          <p:cNvSpPr>
            <a:spLocks xmlns:a="http://schemas.openxmlformats.org/drawingml/2006/main" noGrp="1"/>
          </p:cNvSpPr>
          <p:nvPr/>
        </p:nvSpPr>
        <p:spPr>
          <a:xfrm xmlns:a="http://schemas.openxmlformats.org/drawingml/2006/main">
            <a:off x="4972050" y="2714625"/>
            <a:ext cx="1809750" cy="1285875"/>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11" name="">
            <a:extLst xmlns:a="http://schemas.openxmlformats.org/drawingml/2006/main">
              <a:ext uri="{FF2B5EF4-FFF2-40B4-BE49-F238E27FC236}">
                <a16:creationId xmlns:a16="http://schemas.microsoft.com/office/drawing/2014/main" id="{5E4303DD-7D81-40C4-AEEC-4B440C67A6CF}"/>
              </a:ext>
            </a:extLst>
          </p:cNvPr>
          <p:cNvSpPr>
            <a:spLocks xmlns:a="http://schemas.openxmlformats.org/drawingml/2006/main" noGrp="1"/>
          </p:cNvSpPr>
          <p:nvPr/>
        </p:nvSpPr>
        <p:spPr>
          <a:xfrm xmlns:a="http://schemas.openxmlformats.org/drawingml/2006/main">
            <a:off x="5124450" y="2914650"/>
            <a:ext cx="1504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4"/>
                </a:solidFill>
              </a:defRPr>
            </a:pPr>
            <a:r>
              <a:rPr sz="1650" b="1">
                <a:solidFill>
                  <a:srgbClr val="0B0F14"/>
                </a:solidFill>
              </a:rPr>
              <a:t>Receiver</a:t>
            </a:r>
          </a:p>
        </p:txBody>
      </p:sp>
      <p:sp>
        <p:nvSpPr>
          <p:cNvPr id="12" name="">
            <a:extLst xmlns:a="http://schemas.openxmlformats.org/drawingml/2006/main">
              <a:ext uri="{FF2B5EF4-FFF2-40B4-BE49-F238E27FC236}">
                <a16:creationId xmlns:a16="http://schemas.microsoft.com/office/drawing/2014/main" id="{94F38880-7EDC-466D-A7BC-CBEF58710362}"/>
              </a:ext>
            </a:extLst>
          </p:cNvPr>
          <p:cNvSpPr>
            <a:spLocks xmlns:a="http://schemas.openxmlformats.org/drawingml/2006/main" noGrp="1"/>
          </p:cNvSpPr>
          <p:nvPr/>
        </p:nvSpPr>
        <p:spPr>
          <a:xfrm xmlns:a="http://schemas.openxmlformats.org/drawingml/2006/main">
            <a:off x="5114925" y="3286125"/>
            <a:ext cx="1524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555555"/>
                </a:solidFill>
              </a:defRPr>
            </a:pPr>
            <a:r>
              <a:rPr sz="1200" b="0">
                <a:solidFill>
                  <a:srgbClr val="555555"/>
                </a:solidFill>
              </a:rPr>
              <a:t>Checks origin, partnerId, nonce, schema, and limits.</a:t>
            </a:r>
          </a:p>
        </p:txBody>
      </p:sp>
      <p:sp>
        <p:nvSpPr>
          <p:cNvPr id="13" name="">
            <a:extLst xmlns:a="http://schemas.openxmlformats.org/drawingml/2006/main">
              <a:ext uri="{FF2B5EF4-FFF2-40B4-BE49-F238E27FC236}">
                <a16:creationId xmlns:a16="http://schemas.microsoft.com/office/drawing/2014/main" id="{74ED671B-D174-47E8-B0BB-E088EB78E409}"/>
              </a:ext>
            </a:extLst>
          </p:cNvPr>
          <p:cNvSpPr>
            <a:spLocks xmlns:a="http://schemas.openxmlformats.org/drawingml/2006/main" noGrp="1"/>
          </p:cNvSpPr>
          <p:nvPr/>
        </p:nvSpPr>
        <p:spPr>
          <a:xfrm xmlns:a="http://schemas.openxmlformats.org/drawingml/2006/main">
            <a:off x="7162800" y="2714625"/>
            <a:ext cx="1809750" cy="1285875"/>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14" name="">
            <a:extLst xmlns:a="http://schemas.openxmlformats.org/drawingml/2006/main">
              <a:ext uri="{FF2B5EF4-FFF2-40B4-BE49-F238E27FC236}">
                <a16:creationId xmlns:a16="http://schemas.microsoft.com/office/drawing/2014/main" id="{6D300730-126B-453D-AC6D-6076997AC51C}"/>
              </a:ext>
            </a:extLst>
          </p:cNvPr>
          <p:cNvSpPr>
            <a:spLocks xmlns:a="http://schemas.openxmlformats.org/drawingml/2006/main" noGrp="1"/>
          </p:cNvSpPr>
          <p:nvPr/>
        </p:nvSpPr>
        <p:spPr>
          <a:xfrm xmlns:a="http://schemas.openxmlformats.org/drawingml/2006/main">
            <a:off x="7315200" y="2914650"/>
            <a:ext cx="1504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4"/>
                </a:solidFill>
              </a:defRPr>
            </a:pPr>
            <a:r>
              <a:rPr sz="1650" b="1">
                <a:solidFill>
                  <a:srgbClr val="0B0F14"/>
                </a:solidFill>
              </a:rPr>
              <a:t>handoff:*</a:t>
            </a:r>
          </a:p>
        </p:txBody>
      </p:sp>
      <p:sp>
        <p:nvSpPr>
          <p:cNvPr id="15" name="">
            <a:extLst xmlns:a="http://schemas.openxmlformats.org/drawingml/2006/main">
              <a:ext uri="{FF2B5EF4-FFF2-40B4-BE49-F238E27FC236}">
                <a16:creationId xmlns:a16="http://schemas.microsoft.com/office/drawing/2014/main" id="{3A423A0F-9DEB-49BB-8D6D-543FC6D05428}"/>
              </a:ext>
            </a:extLst>
          </p:cNvPr>
          <p:cNvSpPr>
            <a:spLocks xmlns:a="http://schemas.openxmlformats.org/drawingml/2006/main" noGrp="1"/>
          </p:cNvSpPr>
          <p:nvPr/>
        </p:nvSpPr>
        <p:spPr>
          <a:xfrm xmlns:a="http://schemas.openxmlformats.org/drawingml/2006/main">
            <a:off x="7305675" y="3286125"/>
            <a:ext cx="1524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555555"/>
                </a:solidFill>
              </a:defRPr>
            </a:pPr>
            <a:r>
              <a:rPr sz="1200" b="0">
                <a:solidFill>
                  <a:srgbClr val="555555"/>
                </a:solidFill>
              </a:rPr>
              <a:t>Files in localForage (usually IndexedDB).</a:t>
            </a:r>
          </a:p>
        </p:txBody>
      </p:sp>
      <p:sp>
        <p:nvSpPr>
          <p:cNvPr id="16" name="">
            <a:extLst xmlns:a="http://schemas.openxmlformats.org/drawingml/2006/main">
              <a:ext uri="{FF2B5EF4-FFF2-40B4-BE49-F238E27FC236}">
                <a16:creationId xmlns:a16="http://schemas.microsoft.com/office/drawing/2014/main" id="{873DCB69-CB4E-4EDA-9E99-87560AB93766}"/>
              </a:ext>
            </a:extLst>
          </p:cNvPr>
          <p:cNvSpPr>
            <a:spLocks xmlns:a="http://schemas.openxmlformats.org/drawingml/2006/main" noGrp="1"/>
          </p:cNvSpPr>
          <p:nvPr/>
        </p:nvSpPr>
        <p:spPr>
          <a:xfrm xmlns:a="http://schemas.openxmlformats.org/drawingml/2006/main">
            <a:off x="9353550" y="2714625"/>
            <a:ext cx="1809750" cy="1285875"/>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17" name="">
            <a:extLst xmlns:a="http://schemas.openxmlformats.org/drawingml/2006/main">
              <a:ext uri="{FF2B5EF4-FFF2-40B4-BE49-F238E27FC236}">
                <a16:creationId xmlns:a16="http://schemas.microsoft.com/office/drawing/2014/main" id="{1DF7258F-9119-4325-A8C2-18198443D13C}"/>
              </a:ext>
            </a:extLst>
          </p:cNvPr>
          <p:cNvSpPr>
            <a:spLocks xmlns:a="http://schemas.openxmlformats.org/drawingml/2006/main" noGrp="1"/>
          </p:cNvSpPr>
          <p:nvPr/>
        </p:nvSpPr>
        <p:spPr>
          <a:xfrm xmlns:a="http://schemas.openxmlformats.org/drawingml/2006/main">
            <a:off x="9505950" y="2914650"/>
            <a:ext cx="1504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4"/>
                </a:solidFill>
              </a:defRPr>
            </a:pPr>
            <a:r>
              <a:rPr sz="1650" b="1">
                <a:solidFill>
                  <a:srgbClr val="0B0F14"/>
                </a:solidFill>
              </a:rPr>
              <a:t>App import</a:t>
            </a:r>
          </a:p>
        </p:txBody>
      </p:sp>
      <p:sp>
        <p:nvSpPr>
          <p:cNvPr id="18" name="">
            <a:extLst xmlns:a="http://schemas.openxmlformats.org/drawingml/2006/main">
              <a:ext uri="{FF2B5EF4-FFF2-40B4-BE49-F238E27FC236}">
                <a16:creationId xmlns:a16="http://schemas.microsoft.com/office/drawing/2014/main" id="{87334152-7F65-4FBA-8798-94342BBBAE19}"/>
              </a:ext>
            </a:extLst>
          </p:cNvPr>
          <p:cNvSpPr>
            <a:spLocks xmlns:a="http://schemas.openxmlformats.org/drawingml/2006/main" noGrp="1"/>
          </p:cNvSpPr>
          <p:nvPr/>
        </p:nvSpPr>
        <p:spPr>
          <a:xfrm xmlns:a="http://schemas.openxmlformats.org/drawingml/2006/main">
            <a:off x="9496425" y="3286125"/>
            <a:ext cx="1524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555555"/>
                </a:solidFill>
              </a:defRPr>
            </a:pPr>
            <a:r>
              <a:rPr sz="1200" b="0">
                <a:solidFill>
                  <a:srgbClr val="555555"/>
                </a:solidFill>
              </a:rPr>
              <a:t>Loads #handoff=... and deletes the record.</a:t>
            </a:r>
          </a:p>
        </p:txBody>
      </p:sp>
      <p:sp>
        <p:nvSpPr>
          <p:cNvPr id="19" name="">
            <a:extLst xmlns:a="http://schemas.openxmlformats.org/drawingml/2006/main">
              <a:ext uri="{FF2B5EF4-FFF2-40B4-BE49-F238E27FC236}">
                <a16:creationId xmlns:a16="http://schemas.microsoft.com/office/drawing/2014/main" id="{836EB149-2B18-4108-AE7C-8048B44C57B4}"/>
              </a:ext>
            </a:extLst>
          </p:cNvPr>
          <p:cNvSpPr>
            <a:spLocks xmlns:a="http://schemas.openxmlformats.org/drawingml/2006/main" noGrp="1"/>
          </p:cNvSpPr>
          <p:nvPr/>
        </p:nvSpPr>
        <p:spPr>
          <a:xfrm xmlns:a="http://schemas.openxmlformats.org/drawingml/2006/main">
            <a:off x="2476500" y="3190875"/>
            <a:ext cx="228600" cy="304800"/>
          </a:xfrm>
          <a:prstGeom xmlns:a="http://schemas.openxmlformats.org/drawingml/2006/main" prst="rightArrow">
            <a:avLst/>
          </a:prstGeom>
          <a:solidFill xmlns:a="http://schemas.openxmlformats.org/drawingml/2006/main">
            <a:srgbClr val="B8BCC4"/>
          </a:solidFill>
          <a:ln xmlns:a="http://schemas.openxmlformats.org/drawingml/2006/main" w="0">
            <a:solidFill>
              <a:srgbClr val="B8BCC4"/>
            </a:solidFill>
            <a:prstDash val="solid"/>
          </a:ln>
        </p:spPr>
      </p:sp>
      <p:sp>
        <p:nvSpPr>
          <p:cNvPr id="20" name="">
            <a:extLst xmlns:a="http://schemas.openxmlformats.org/drawingml/2006/main">
              <a:ext uri="{FF2B5EF4-FFF2-40B4-BE49-F238E27FC236}">
                <a16:creationId xmlns:a16="http://schemas.microsoft.com/office/drawing/2014/main" id="{FCD833A4-28C9-4D36-B9E6-3FC3288CEA8C}"/>
              </a:ext>
            </a:extLst>
          </p:cNvPr>
          <p:cNvSpPr>
            <a:spLocks xmlns:a="http://schemas.openxmlformats.org/drawingml/2006/main" noGrp="1"/>
          </p:cNvSpPr>
          <p:nvPr/>
        </p:nvSpPr>
        <p:spPr>
          <a:xfrm xmlns:a="http://schemas.openxmlformats.org/drawingml/2006/main">
            <a:off x="4667250" y="3190875"/>
            <a:ext cx="228600" cy="304800"/>
          </a:xfrm>
          <a:prstGeom xmlns:a="http://schemas.openxmlformats.org/drawingml/2006/main" prst="rightArrow">
            <a:avLst/>
          </a:prstGeom>
          <a:solidFill xmlns:a="http://schemas.openxmlformats.org/drawingml/2006/main">
            <a:srgbClr val="B8BCC4"/>
          </a:solidFill>
          <a:ln xmlns:a="http://schemas.openxmlformats.org/drawingml/2006/main" w="0">
            <a:solidFill>
              <a:srgbClr val="B8BCC4"/>
            </a:solidFill>
            <a:prstDash val="solid"/>
          </a:ln>
        </p:spPr>
      </p:sp>
      <p:sp>
        <p:nvSpPr>
          <p:cNvPr id="21" name="">
            <a:extLst xmlns:a="http://schemas.openxmlformats.org/drawingml/2006/main">
              <a:ext uri="{FF2B5EF4-FFF2-40B4-BE49-F238E27FC236}">
                <a16:creationId xmlns:a16="http://schemas.microsoft.com/office/drawing/2014/main" id="{FB34C14F-FE2D-4C4A-84EE-E3172C85D0DB}"/>
              </a:ext>
            </a:extLst>
          </p:cNvPr>
          <p:cNvSpPr>
            <a:spLocks xmlns:a="http://schemas.openxmlformats.org/drawingml/2006/main" noGrp="1"/>
          </p:cNvSpPr>
          <p:nvPr/>
        </p:nvSpPr>
        <p:spPr>
          <a:xfrm xmlns:a="http://schemas.openxmlformats.org/drawingml/2006/main">
            <a:off x="6858000" y="3190875"/>
            <a:ext cx="228600" cy="304800"/>
          </a:xfrm>
          <a:prstGeom xmlns:a="http://schemas.openxmlformats.org/drawingml/2006/main" prst="rightArrow">
            <a:avLst/>
          </a:prstGeom>
          <a:solidFill xmlns:a="http://schemas.openxmlformats.org/drawingml/2006/main">
            <a:srgbClr val="B8BCC4"/>
          </a:solidFill>
          <a:ln xmlns:a="http://schemas.openxmlformats.org/drawingml/2006/main" w="0">
            <a:solidFill>
              <a:srgbClr val="B8BCC4"/>
            </a:solidFill>
            <a:prstDash val="solid"/>
          </a:ln>
        </p:spPr>
      </p:sp>
      <p:sp>
        <p:nvSpPr>
          <p:cNvPr id="22" name="">
            <a:extLst xmlns:a="http://schemas.openxmlformats.org/drawingml/2006/main">
              <a:ext uri="{FF2B5EF4-FFF2-40B4-BE49-F238E27FC236}">
                <a16:creationId xmlns:a16="http://schemas.microsoft.com/office/drawing/2014/main" id="{5743EAD5-56ED-4557-97A0-F68690C5DD33}"/>
              </a:ext>
            </a:extLst>
          </p:cNvPr>
          <p:cNvSpPr>
            <a:spLocks xmlns:a="http://schemas.openxmlformats.org/drawingml/2006/main" noGrp="1"/>
          </p:cNvSpPr>
          <p:nvPr/>
        </p:nvSpPr>
        <p:spPr>
          <a:xfrm xmlns:a="http://schemas.openxmlformats.org/drawingml/2006/main">
            <a:off x="9048750" y="3190875"/>
            <a:ext cx="228600" cy="304800"/>
          </a:xfrm>
          <a:prstGeom xmlns:a="http://schemas.openxmlformats.org/drawingml/2006/main" prst="rightArrow">
            <a:avLst/>
          </a:prstGeom>
          <a:solidFill xmlns:a="http://schemas.openxmlformats.org/drawingml/2006/main">
            <a:srgbClr val="B8BCC4"/>
          </a:solidFill>
          <a:ln xmlns:a="http://schemas.openxmlformats.org/drawingml/2006/main" w="0">
            <a:solidFill>
              <a:srgbClr val="B8BCC4"/>
            </a:solidFill>
            <a:prstDash val="solid"/>
          </a:ln>
        </p:spPr>
      </p:sp>
      <p:sp>
        <p:nvSpPr>
          <p:cNvPr id="23" name="">
            <a:extLst xmlns:a="http://schemas.openxmlformats.org/drawingml/2006/main">
              <a:ext uri="{FF2B5EF4-FFF2-40B4-BE49-F238E27FC236}">
                <a16:creationId xmlns:a16="http://schemas.microsoft.com/office/drawing/2014/main" id="{7338ADB7-38C5-4AEF-976E-29A20082A949}"/>
              </a:ext>
            </a:extLst>
          </p:cNvPr>
          <p:cNvSpPr>
            <a:spLocks xmlns:a="http://schemas.openxmlformats.org/drawingml/2006/main" noGrp="1"/>
          </p:cNvSpPr>
          <p:nvPr/>
        </p:nvSpPr>
        <p:spPr>
          <a:xfrm xmlns:a="http://schemas.openxmlformats.org/drawingml/2006/main">
            <a:off x="3219450" y="4629150"/>
            <a:ext cx="2476500" cy="533400"/>
          </a:xfrm>
          <a:prstGeom xmlns:a="http://schemas.openxmlformats.org/drawingml/2006/main" prst="rect">
            <a:avLst/>
          </a:prstGeom>
          <a:solidFill xmlns:a="http://schemas.openxmlformats.org/drawingml/2006/main">
            <a:srgbClr val="FFF3EE"/>
          </a:solidFill>
          <a:ln xmlns:a="http://schemas.openxmlformats.org/drawingml/2006/main" w="9525">
            <a:solidFill>
              <a:srgbClr val="FF6B35"/>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A53E17"/>
                </a:solidFill>
              </a:defRPr>
            </a:pPr>
            <a:r>
              <a:rPr sz="1500" b="1">
                <a:solidFill>
                  <a:srgbClr val="A53E17"/>
                </a:solidFill>
              </a:rPr>
              <a:t>Launch URL carries only #handoff=&lt;id&gt;</a:t>
            </a:r>
          </a:p>
        </p:txBody>
      </p:sp>
      <p:sp>
        <p:nvSpPr>
          <p:cNvPr id="24" name="">
            <a:extLst xmlns:a="http://schemas.openxmlformats.org/drawingml/2006/main">
              <a:ext uri="{FF2B5EF4-FFF2-40B4-BE49-F238E27FC236}">
                <a16:creationId xmlns:a16="http://schemas.microsoft.com/office/drawing/2014/main" id="{02158396-330B-4403-8D37-082237A42979}"/>
              </a:ext>
            </a:extLst>
          </p:cNvPr>
          <p:cNvSpPr>
            <a:spLocks xmlns:a="http://schemas.openxmlformats.org/drawingml/2006/main" noGrp="1"/>
          </p:cNvSpPr>
          <p:nvPr/>
        </p:nvSpPr>
        <p:spPr>
          <a:xfrm xmlns:a="http://schemas.openxmlformats.org/drawingml/2006/main">
            <a:off x="6267450" y="4629150"/>
            <a:ext cx="2714625" cy="533400"/>
          </a:xfrm>
          <a:prstGeom xmlns:a="http://schemas.openxmlformats.org/drawingml/2006/main" prst="rect">
            <a:avLst/>
          </a:prstGeom>
          <a:solidFill xmlns:a="http://schemas.openxmlformats.org/drawingml/2006/main">
            <a:srgbClr val="F1F5F9"/>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4"/>
                </a:solidFill>
              </a:defRPr>
            </a:pPr>
            <a:r>
              <a:rPr sz="1500" b="1">
                <a:solidFill>
                  <a:srgbClr val="0B0F14"/>
                </a:solidFill>
              </a:rPr>
              <a:t>Query form is consumed and cleaned</a:t>
            </a:r>
          </a:p>
        </p:txBody>
      </p:sp>
      <p:sp>
        <p:nvSpPr>
          <p:cNvPr id="25" name="">
            <a:extLst xmlns:a="http://schemas.openxmlformats.org/drawingml/2006/main">
              <a:ext uri="{FF2B5EF4-FFF2-40B4-BE49-F238E27FC236}">
                <a16:creationId xmlns:a16="http://schemas.microsoft.com/office/drawing/2014/main" id="{A45898AF-2145-4E8B-B0DE-5CAD6E00EBAB}"/>
              </a:ext>
            </a:extLst>
          </p:cNvPr>
          <p:cNvSpPr>
            <a:spLocks xmlns:a="http://schemas.openxmlformats.org/drawingml/2006/main" noGrp="1"/>
          </p:cNvSpPr>
          <p:nvPr/>
        </p:nvSpPr>
        <p:spPr>
          <a:xfrm xmlns:a="http://schemas.openxmlformats.org/drawingml/2006/main">
            <a:off x="11287125" y="6286500"/>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200" b="0">
                <a:solidFill>
                  <a:srgbClr val="555555"/>
                </a:solidFill>
              </a:defRPr>
            </a:pPr>
            <a:r>
              <a:rPr sz="1200" b="0">
                <a:solidFill>
                  <a:srgbClr val="555555"/>
                </a:solidFill>
              </a:rPr>
              <a:t>03</a:t>
            </a:r>
          </a:p>
        </p:txBody>
      </p:sp>
    </p:spTree>
    <p:extLst>
      <p:ext uri="{BB962C8B-B14F-4D97-AF65-F5344CB8AC3E}">
        <p14:creationId xmlns:p14="http://schemas.microsoft.com/office/powerpoint/2010/main" val="137099406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FE68FBF-3809-4F96-9DDC-3696B4A134BC}"/>
              </a:ext>
            </a:extLst>
          </p:cNvPr>
          <p:cNvSpPr>
            <a:spLocks xmlns:a="http://schemas.openxmlformats.org/drawingml/2006/main" noGrp="1"/>
          </p:cNvSpPr>
          <p:nvPr/>
        </p:nvSpPr>
        <p:spPr>
          <a:xfrm xmlns:a="http://schemas.openxmlformats.org/drawingml/2006/main">
            <a:off x="400050" y="3238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555555"/>
                </a:solidFill>
              </a:defRPr>
            </a:pPr>
            <a:r>
              <a:rPr sz="1200" b="1">
                <a:solidFill>
                  <a:srgbClr val="555555"/>
                </a:solidFill>
              </a:rPr>
              <a:t>MICROBETRACE PARTNER EMBED</a:t>
            </a:r>
          </a:p>
        </p:txBody>
      </p:sp>
      <p:sp>
        <p:nvSpPr>
          <p:cNvPr id="2" name="">
            <a:extLst xmlns:a="http://schemas.openxmlformats.org/drawingml/2006/main">
              <a:ext uri="{FF2B5EF4-FFF2-40B4-BE49-F238E27FC236}">
                <a16:creationId xmlns:a16="http://schemas.microsoft.com/office/drawing/2014/main" id="{58624315-2B06-4AEE-9E9F-E802E0D58652}"/>
              </a:ext>
            </a:extLst>
          </p:cNvPr>
          <p:cNvSpPr>
            <a:spLocks xmlns:a="http://schemas.openxmlformats.org/drawingml/2006/main" noGrp="1"/>
          </p:cNvSpPr>
          <p:nvPr/>
        </p:nvSpPr>
        <p:spPr>
          <a:xfrm xmlns:a="http://schemas.openxmlformats.org/drawingml/2006/main">
            <a:off x="400050" y="723900"/>
            <a:ext cx="10001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4"/>
                </a:solidFill>
              </a:defRPr>
            </a:pPr>
            <a:r>
              <a:rPr sz="3150" b="1">
                <a:solidFill>
                  <a:srgbClr val="0B0F14"/>
                </a:solidFill>
              </a:rPr>
              <a:t>Trust boundaries define who owns each control</a:t>
            </a:r>
          </a:p>
        </p:txBody>
      </p:sp>
      <p:sp>
        <p:nvSpPr>
          <p:cNvPr id="3" name="">
            <a:extLst xmlns:a="http://schemas.openxmlformats.org/drawingml/2006/main">
              <a:ext uri="{FF2B5EF4-FFF2-40B4-BE49-F238E27FC236}">
                <a16:creationId xmlns:a16="http://schemas.microsoft.com/office/drawing/2014/main" id="{908542E1-2CAF-4E8F-AB94-D3FAE17CF274}"/>
              </a:ext>
            </a:extLst>
          </p:cNvPr>
          <p:cNvSpPr>
            <a:spLocks xmlns:a="http://schemas.openxmlformats.org/drawingml/2006/main" noGrp="1"/>
          </p:cNvSpPr>
          <p:nvPr/>
        </p:nvSpPr>
        <p:spPr>
          <a:xfrm xmlns:a="http://schemas.openxmlformats.org/drawingml/2006/main">
            <a:off x="419100" y="1562100"/>
            <a:ext cx="857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a:solidFill>
                  <a:srgbClr val="555555"/>
                </a:solidFill>
              </a:defRPr>
            </a:pPr>
            <a:r>
              <a:rPr sz="1650" b="0">
                <a:solidFill>
                  <a:srgbClr val="555555"/>
                </a:solidFill>
              </a:rPr>
              <a:t>MicrobeTrace can validate the handoff, but it cannot authorize the partner user's export.</a:t>
            </a:r>
          </a:p>
        </p:txBody>
      </p:sp>
      <p:sp>
        <p:nvSpPr>
          <p:cNvPr id="4" name="">
            <a:extLst xmlns:a="http://schemas.openxmlformats.org/drawingml/2006/main">
              <a:ext uri="{FF2B5EF4-FFF2-40B4-BE49-F238E27FC236}">
                <a16:creationId xmlns:a16="http://schemas.microsoft.com/office/drawing/2014/main" id="{C01A70E7-8BEF-4247-948F-721B9E8461C4}"/>
              </a:ext>
            </a:extLst>
          </p:cNvPr>
          <p:cNvSpPr>
            <a:spLocks xmlns:a="http://schemas.openxmlformats.org/drawingml/2006/main" noGrp="1"/>
          </p:cNvSpPr>
          <p:nvPr/>
        </p:nvSpPr>
        <p:spPr>
          <a:xfrm xmlns:a="http://schemas.openxmlformats.org/drawingml/2006/main">
            <a:off x="514350" y="2400300"/>
            <a:ext cx="2476500" cy="29527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5" name="">
            <a:extLst xmlns:a="http://schemas.openxmlformats.org/drawingml/2006/main">
              <a:ext uri="{FF2B5EF4-FFF2-40B4-BE49-F238E27FC236}">
                <a16:creationId xmlns:a16="http://schemas.microsoft.com/office/drawing/2014/main" id="{F2C49A3D-37C9-4C4F-835D-B827290BED41}"/>
              </a:ext>
            </a:extLst>
          </p:cNvPr>
          <p:cNvSpPr>
            <a:spLocks xmlns:a="http://schemas.openxmlformats.org/drawingml/2006/main" noGrp="1"/>
          </p:cNvSpPr>
          <p:nvPr/>
        </p:nvSpPr>
        <p:spPr>
          <a:xfrm xmlns:a="http://schemas.openxmlformats.org/drawingml/2006/main">
            <a:off x="723900" y="2686050"/>
            <a:ext cx="2047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0B0F14"/>
                </a:solidFill>
              </a:defRPr>
            </a:pPr>
            <a:r>
              <a:rPr sz="1800" b="1">
                <a:solidFill>
                  <a:srgbClr val="0B0F14"/>
                </a:solidFill>
              </a:rPr>
              <a:t>Partner origin</a:t>
            </a:r>
          </a:p>
        </p:txBody>
      </p:sp>
      <p:sp>
        <p:nvSpPr>
          <p:cNvPr id="6" name="">
            <a:extLst xmlns:a="http://schemas.openxmlformats.org/drawingml/2006/main">
              <a:ext uri="{FF2B5EF4-FFF2-40B4-BE49-F238E27FC236}">
                <a16:creationId xmlns:a16="http://schemas.microsoft.com/office/drawing/2014/main" id="{E8F2C1D1-B0BB-444C-95E4-BB44EB4C9292}"/>
              </a:ext>
            </a:extLst>
          </p:cNvPr>
          <p:cNvSpPr>
            <a:spLocks xmlns:a="http://schemas.openxmlformats.org/drawingml/2006/main" noGrp="1"/>
          </p:cNvSpPr>
          <p:nvPr/>
        </p:nvSpPr>
        <p:spPr>
          <a:xfrm xmlns:a="http://schemas.openxmlformats.org/drawingml/2006/main">
            <a:off x="742950" y="3276600"/>
            <a:ext cx="200025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a:solidFill>
                  <a:srgbClr val="555555"/>
                </a:solidFill>
              </a:defRPr>
            </a:pPr>
            <a:r>
              <a:rPr sz="1650" b="0">
                <a:solidFill>
                  <a:srgbClr val="555555"/>
                </a:solidFill>
              </a:rPr>
              <a:t>User auth</a:t>
            </a:r>
          </a:p>
          <a:p xmlns:a="http://schemas.openxmlformats.org/drawingml/2006/main">
            <a:pPr algn="l">
              <a:buNone/>
              <a:defRPr sz="1650" b="0">
                <a:solidFill>
                  <a:srgbClr val="555555"/>
                </a:solidFill>
              </a:defRPr>
            </a:pPr>
            <a:r>
              <a:rPr sz="1650" b="0">
                <a:solidFill>
                  <a:srgbClr val="555555"/>
                </a:solidFill>
              </a:rPr>
              <a:t>Export decision</a:t>
            </a:r>
          </a:p>
          <a:p xmlns:a="http://schemas.openxmlformats.org/drawingml/2006/main">
            <a:pPr algn="l">
              <a:buNone/>
              <a:defRPr sz="1650" b="0">
                <a:solidFill>
                  <a:srgbClr val="555555"/>
                </a:solidFill>
              </a:defRPr>
            </a:pPr>
            <a:r>
              <a:rPr sz="1650" b="0">
                <a:solidFill>
                  <a:srgbClr val="555555"/>
                </a:solidFill>
              </a:rPr>
              <a:t>Data selection</a:t>
            </a:r>
          </a:p>
          <a:p xmlns:a="http://schemas.openxmlformats.org/drawingml/2006/main">
            <a:pPr algn="l">
              <a:buNone/>
              <a:defRPr sz="1650" b="0">
                <a:solidFill>
                  <a:srgbClr val="555555"/>
                </a:solidFill>
              </a:defRPr>
            </a:pPr>
            <a:r>
              <a:rPr sz="1650" b="0">
                <a:solidFill>
                  <a:srgbClr val="555555"/>
                </a:solidFill>
              </a:rPr>
              <a:t>Audit</a:t>
            </a:r>
          </a:p>
        </p:txBody>
      </p:sp>
      <p:sp>
        <p:nvSpPr>
          <p:cNvPr id="7" name="">
            <a:extLst xmlns:a="http://schemas.openxmlformats.org/drawingml/2006/main">
              <a:ext uri="{FF2B5EF4-FFF2-40B4-BE49-F238E27FC236}">
                <a16:creationId xmlns:a16="http://schemas.microsoft.com/office/drawing/2014/main" id="{0AA559DD-DC7E-4F93-BBEF-05796970533B}"/>
              </a:ext>
            </a:extLst>
          </p:cNvPr>
          <p:cNvSpPr>
            <a:spLocks xmlns:a="http://schemas.openxmlformats.org/drawingml/2006/main" noGrp="1"/>
          </p:cNvSpPr>
          <p:nvPr/>
        </p:nvSpPr>
        <p:spPr>
          <a:xfrm xmlns:a="http://schemas.openxmlformats.org/drawingml/2006/main">
            <a:off x="3419475" y="2400300"/>
            <a:ext cx="2476500" cy="2952750"/>
          </a:xfrm>
          <a:prstGeom xmlns:a="http://schemas.openxmlformats.org/drawingml/2006/main" prst="rect">
            <a:avLst/>
          </a:prstGeom>
          <a:solidFill xmlns:a="http://schemas.openxmlformats.org/drawingml/2006/main">
            <a:srgbClr val="FFF3EE"/>
          </a:solidFill>
          <a:ln xmlns:a="http://schemas.openxmlformats.org/drawingml/2006/main" w="9525">
            <a:solidFill>
              <a:srgbClr val="B8BCC4"/>
            </a:solidFill>
            <a:prstDash val="solid"/>
          </a:ln>
        </p:spPr>
      </p:sp>
      <p:sp>
        <p:nvSpPr>
          <p:cNvPr id="8" name="">
            <a:extLst xmlns:a="http://schemas.openxmlformats.org/drawingml/2006/main">
              <a:ext uri="{FF2B5EF4-FFF2-40B4-BE49-F238E27FC236}">
                <a16:creationId xmlns:a16="http://schemas.microsoft.com/office/drawing/2014/main" id="{038FC142-6313-4625-8BDA-F966BD4FE2F9}"/>
              </a:ext>
            </a:extLst>
          </p:cNvPr>
          <p:cNvSpPr>
            <a:spLocks xmlns:a="http://schemas.openxmlformats.org/drawingml/2006/main" noGrp="1"/>
          </p:cNvSpPr>
          <p:nvPr/>
        </p:nvSpPr>
        <p:spPr>
          <a:xfrm xmlns:a="http://schemas.openxmlformats.org/drawingml/2006/main">
            <a:off x="3629025" y="2686050"/>
            <a:ext cx="2047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0B0F14"/>
                </a:solidFill>
              </a:defRPr>
            </a:pPr>
            <a:r>
              <a:rPr sz="1800" b="1">
                <a:solidFill>
                  <a:srgbClr val="0B0F14"/>
                </a:solidFill>
              </a:rPr>
              <a:t>MicrobeTrace origin</a:t>
            </a:r>
          </a:p>
        </p:txBody>
      </p:sp>
      <p:sp>
        <p:nvSpPr>
          <p:cNvPr id="9" name="">
            <a:extLst xmlns:a="http://schemas.openxmlformats.org/drawingml/2006/main">
              <a:ext uri="{FF2B5EF4-FFF2-40B4-BE49-F238E27FC236}">
                <a16:creationId xmlns:a16="http://schemas.microsoft.com/office/drawing/2014/main" id="{98FAC9ED-794D-40A6-9AF1-6F7B0EBCD3B4}"/>
              </a:ext>
            </a:extLst>
          </p:cNvPr>
          <p:cNvSpPr>
            <a:spLocks xmlns:a="http://schemas.openxmlformats.org/drawingml/2006/main" noGrp="1"/>
          </p:cNvSpPr>
          <p:nvPr/>
        </p:nvSpPr>
        <p:spPr>
          <a:xfrm xmlns:a="http://schemas.openxmlformats.org/drawingml/2006/main">
            <a:off x="3648075" y="3276600"/>
            <a:ext cx="200025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a:solidFill>
                  <a:srgbClr val="555555"/>
                </a:solidFill>
              </a:defRPr>
            </a:pPr>
            <a:r>
              <a:rPr sz="1650" b="0">
                <a:solidFill>
                  <a:srgbClr val="555555"/>
                </a:solidFill>
              </a:rPr>
              <a:t>SDK asset</a:t>
            </a:r>
          </a:p>
          <a:p xmlns:a="http://schemas.openxmlformats.org/drawingml/2006/main">
            <a:pPr algn="l">
              <a:buNone/>
              <a:defRPr sz="1650" b="0">
                <a:solidFill>
                  <a:srgbClr val="555555"/>
                </a:solidFill>
              </a:defRPr>
            </a:pPr>
            <a:r>
              <a:rPr sz="1650" b="0">
                <a:solidFill>
                  <a:srgbClr val="555555"/>
                </a:solidFill>
              </a:rPr>
              <a:t>Receiver</a:t>
            </a:r>
          </a:p>
          <a:p xmlns:a="http://schemas.openxmlformats.org/drawingml/2006/main">
            <a:pPr algn="l">
              <a:buNone/>
              <a:defRPr sz="1650" b="0">
                <a:solidFill>
                  <a:srgbClr val="555555"/>
                </a:solidFill>
              </a:defRPr>
            </a:pPr>
            <a:r>
              <a:rPr sz="1650" b="0">
                <a:solidFill>
                  <a:srgbClr val="555555"/>
                </a:solidFill>
              </a:rPr>
              <a:t>Import path</a:t>
            </a:r>
          </a:p>
          <a:p xmlns:a="http://schemas.openxmlformats.org/drawingml/2006/main">
            <a:pPr algn="l">
              <a:buNone/>
              <a:defRPr sz="1650" b="0">
                <a:solidFill>
                  <a:srgbClr val="555555"/>
                </a:solidFill>
              </a:defRPr>
            </a:pPr>
            <a:r>
              <a:rPr sz="1650" b="0">
                <a:solidFill>
                  <a:srgbClr val="555555"/>
                </a:solidFill>
              </a:rPr>
              <a:t>Export escaping</a:t>
            </a:r>
          </a:p>
        </p:txBody>
      </p:sp>
      <p:sp>
        <p:nvSpPr>
          <p:cNvPr id="10" name="">
            <a:extLst xmlns:a="http://schemas.openxmlformats.org/drawingml/2006/main">
              <a:ext uri="{FF2B5EF4-FFF2-40B4-BE49-F238E27FC236}">
                <a16:creationId xmlns:a16="http://schemas.microsoft.com/office/drawing/2014/main" id="{AA0DE9A4-46E2-455C-8410-DF96F7C3F2E6}"/>
              </a:ext>
            </a:extLst>
          </p:cNvPr>
          <p:cNvSpPr>
            <a:spLocks xmlns:a="http://schemas.openxmlformats.org/drawingml/2006/main" noGrp="1"/>
          </p:cNvSpPr>
          <p:nvPr/>
        </p:nvSpPr>
        <p:spPr>
          <a:xfrm xmlns:a="http://schemas.openxmlformats.org/drawingml/2006/main">
            <a:off x="6324600" y="2400300"/>
            <a:ext cx="2476500" cy="29527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11" name="">
            <a:extLst xmlns:a="http://schemas.openxmlformats.org/drawingml/2006/main">
              <a:ext uri="{FF2B5EF4-FFF2-40B4-BE49-F238E27FC236}">
                <a16:creationId xmlns:a16="http://schemas.microsoft.com/office/drawing/2014/main" id="{16743537-7C60-46A4-A1CA-E64CEAB95145}"/>
              </a:ext>
            </a:extLst>
          </p:cNvPr>
          <p:cNvSpPr>
            <a:spLocks xmlns:a="http://schemas.openxmlformats.org/drawingml/2006/main" noGrp="1"/>
          </p:cNvSpPr>
          <p:nvPr/>
        </p:nvSpPr>
        <p:spPr>
          <a:xfrm xmlns:a="http://schemas.openxmlformats.org/drawingml/2006/main">
            <a:off x="6534150" y="2686050"/>
            <a:ext cx="2047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0B0F14"/>
                </a:solidFill>
              </a:defRPr>
            </a:pPr>
            <a:r>
              <a:rPr sz="1800" b="1">
                <a:solidFill>
                  <a:srgbClr val="0B0F14"/>
                </a:solidFill>
              </a:rPr>
              <a:t>Browser/device</a:t>
            </a:r>
          </a:p>
        </p:txBody>
      </p:sp>
      <p:sp>
        <p:nvSpPr>
          <p:cNvPr id="12" name="">
            <a:extLst xmlns:a="http://schemas.openxmlformats.org/drawingml/2006/main">
              <a:ext uri="{FF2B5EF4-FFF2-40B4-BE49-F238E27FC236}">
                <a16:creationId xmlns:a16="http://schemas.microsoft.com/office/drawing/2014/main" id="{C035137F-325C-443C-80DA-4CD0326DB488}"/>
              </a:ext>
            </a:extLst>
          </p:cNvPr>
          <p:cNvSpPr>
            <a:spLocks xmlns:a="http://schemas.openxmlformats.org/drawingml/2006/main" noGrp="1"/>
          </p:cNvSpPr>
          <p:nvPr/>
        </p:nvSpPr>
        <p:spPr>
          <a:xfrm xmlns:a="http://schemas.openxmlformats.org/drawingml/2006/main">
            <a:off x="6553200" y="3276600"/>
            <a:ext cx="200025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a:solidFill>
                  <a:srgbClr val="555555"/>
                </a:solidFill>
              </a:defRPr>
            </a:pPr>
            <a:r>
              <a:rPr sz="1650" b="0">
                <a:solidFill>
                  <a:srgbClr val="555555"/>
                </a:solidFill>
              </a:rPr>
              <a:t>Popup</a:t>
            </a:r>
          </a:p>
          <a:p xmlns:a="http://schemas.openxmlformats.org/drawingml/2006/main">
            <a:pPr algn="l">
              <a:buNone/>
              <a:defRPr sz="1650" b="0">
                <a:solidFill>
                  <a:srgbClr val="555555"/>
                </a:solidFill>
              </a:defRPr>
            </a:pPr>
            <a:r>
              <a:rPr sz="1650" b="0">
                <a:solidFill>
                  <a:srgbClr val="555555"/>
                </a:solidFill>
              </a:rPr>
              <a:t>localForage storage</a:t>
            </a:r>
          </a:p>
          <a:p xmlns:a="http://schemas.openxmlformats.org/drawingml/2006/main">
            <a:pPr algn="l">
              <a:buNone/>
              <a:defRPr sz="1650" b="0">
                <a:solidFill>
                  <a:srgbClr val="555555"/>
                </a:solidFill>
              </a:defRPr>
            </a:pPr>
            <a:r>
              <a:rPr sz="1650" b="0">
                <a:solidFill>
                  <a:srgbClr val="555555"/>
                </a:solidFill>
              </a:rPr>
              <a:t>History</a:t>
            </a:r>
          </a:p>
          <a:p xmlns:a="http://schemas.openxmlformats.org/drawingml/2006/main">
            <a:pPr algn="l">
              <a:buNone/>
              <a:defRPr sz="1650" b="0">
                <a:solidFill>
                  <a:srgbClr val="555555"/>
                </a:solidFill>
              </a:defRPr>
            </a:pPr>
            <a:r>
              <a:rPr sz="1650" b="0">
                <a:solidFill>
                  <a:srgbClr val="555555"/>
                </a:solidFill>
              </a:rPr>
              <a:t>Extensions</a:t>
            </a:r>
          </a:p>
        </p:txBody>
      </p:sp>
      <p:sp>
        <p:nvSpPr>
          <p:cNvPr id="13" name="">
            <a:extLst xmlns:a="http://schemas.openxmlformats.org/drawingml/2006/main">
              <a:ext uri="{FF2B5EF4-FFF2-40B4-BE49-F238E27FC236}">
                <a16:creationId xmlns:a16="http://schemas.microsoft.com/office/drawing/2014/main" id="{549E559D-470C-4F2A-8842-041745189DF2}"/>
              </a:ext>
            </a:extLst>
          </p:cNvPr>
          <p:cNvSpPr>
            <a:spLocks xmlns:a="http://schemas.openxmlformats.org/drawingml/2006/main" noGrp="1"/>
          </p:cNvSpPr>
          <p:nvPr/>
        </p:nvSpPr>
        <p:spPr>
          <a:xfrm xmlns:a="http://schemas.openxmlformats.org/drawingml/2006/main">
            <a:off x="9229725" y="2400300"/>
            <a:ext cx="2476500" cy="29527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14" name="">
            <a:extLst xmlns:a="http://schemas.openxmlformats.org/drawingml/2006/main">
              <a:ext uri="{FF2B5EF4-FFF2-40B4-BE49-F238E27FC236}">
                <a16:creationId xmlns:a16="http://schemas.microsoft.com/office/drawing/2014/main" id="{B0FC276A-34AB-429E-8424-DE3BF12DA528}"/>
              </a:ext>
            </a:extLst>
          </p:cNvPr>
          <p:cNvSpPr>
            <a:spLocks xmlns:a="http://schemas.openxmlformats.org/drawingml/2006/main" noGrp="1"/>
          </p:cNvSpPr>
          <p:nvPr/>
        </p:nvSpPr>
        <p:spPr>
          <a:xfrm xmlns:a="http://schemas.openxmlformats.org/drawingml/2006/main">
            <a:off x="9439275" y="2686050"/>
            <a:ext cx="2047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0B0F14"/>
                </a:solidFill>
              </a:defRPr>
            </a:pPr>
            <a:r>
              <a:rPr sz="1800" b="1">
                <a:solidFill>
                  <a:srgbClr val="0B0F14"/>
                </a:solidFill>
              </a:rPr>
              <a:t>Infrastructure</a:t>
            </a:r>
          </a:p>
        </p:txBody>
      </p:sp>
      <p:sp>
        <p:nvSpPr>
          <p:cNvPr id="15" name="">
            <a:extLst xmlns:a="http://schemas.openxmlformats.org/drawingml/2006/main">
              <a:ext uri="{FF2B5EF4-FFF2-40B4-BE49-F238E27FC236}">
                <a16:creationId xmlns:a16="http://schemas.microsoft.com/office/drawing/2014/main" id="{BAC168F5-587E-4D43-8D13-1956B65D89C1}"/>
              </a:ext>
            </a:extLst>
          </p:cNvPr>
          <p:cNvSpPr>
            <a:spLocks xmlns:a="http://schemas.openxmlformats.org/drawingml/2006/main" noGrp="1"/>
          </p:cNvSpPr>
          <p:nvPr/>
        </p:nvSpPr>
        <p:spPr>
          <a:xfrm xmlns:a="http://schemas.openxmlformats.org/drawingml/2006/main">
            <a:off x="9458325" y="3276600"/>
            <a:ext cx="200025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a:solidFill>
                  <a:srgbClr val="555555"/>
                </a:solidFill>
              </a:defRPr>
            </a:pPr>
            <a:r>
              <a:rPr sz="1650" b="0">
                <a:solidFill>
                  <a:srgbClr val="555555"/>
                </a:solidFill>
              </a:rPr>
              <a:t>HTTPS</a:t>
            </a:r>
          </a:p>
          <a:p xmlns:a="http://schemas.openxmlformats.org/drawingml/2006/main">
            <a:pPr algn="l">
              <a:buNone/>
              <a:defRPr sz="1650" b="0">
                <a:solidFill>
                  <a:srgbClr val="555555"/>
                </a:solidFill>
              </a:defRPr>
            </a:pPr>
            <a:r>
              <a:rPr sz="1650" b="0">
                <a:solidFill>
                  <a:srgbClr val="555555"/>
                </a:solidFill>
              </a:rPr>
              <a:t>CSP headers</a:t>
            </a:r>
          </a:p>
          <a:p xmlns:a="http://schemas.openxmlformats.org/drawingml/2006/main">
            <a:pPr algn="l">
              <a:buNone/>
              <a:defRPr sz="1650" b="0">
                <a:solidFill>
                  <a:srgbClr val="555555"/>
                </a:solidFill>
              </a:defRPr>
            </a:pPr>
            <a:r>
              <a:rPr sz="1650" b="0">
                <a:solidFill>
                  <a:srgbClr val="555555"/>
                </a:solidFill>
              </a:rPr>
              <a:t>Referrer policy</a:t>
            </a:r>
          </a:p>
          <a:p xmlns:a="http://schemas.openxmlformats.org/drawingml/2006/main">
            <a:pPr algn="l">
              <a:buNone/>
              <a:defRPr sz="1650" b="0">
                <a:solidFill>
                  <a:srgbClr val="555555"/>
                </a:solidFill>
              </a:defRPr>
            </a:pPr>
            <a:r>
              <a:rPr sz="1650" b="0">
                <a:solidFill>
                  <a:srgbClr val="555555"/>
                </a:solidFill>
              </a:rPr>
              <a:t>No-store receiver</a:t>
            </a:r>
          </a:p>
        </p:txBody>
      </p:sp>
      <p:sp>
        <p:nvSpPr>
          <p:cNvPr id="16" name="">
            <a:extLst xmlns:a="http://schemas.openxmlformats.org/drawingml/2006/main">
              <a:ext uri="{FF2B5EF4-FFF2-40B4-BE49-F238E27FC236}">
                <a16:creationId xmlns:a16="http://schemas.microsoft.com/office/drawing/2014/main" id="{E24CB495-97C6-43D6-AC8B-AF591FB78CA2}"/>
              </a:ext>
            </a:extLst>
          </p:cNvPr>
          <p:cNvSpPr>
            <a:spLocks xmlns:a="http://schemas.openxmlformats.org/drawingml/2006/main" noGrp="1"/>
          </p:cNvSpPr>
          <p:nvPr/>
        </p:nvSpPr>
        <p:spPr>
          <a:xfrm xmlns:a="http://schemas.openxmlformats.org/drawingml/2006/main">
            <a:off x="723900" y="5715000"/>
            <a:ext cx="685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100" b="1">
                <a:solidFill>
                  <a:srgbClr val="0B0F14"/>
                </a:solidFill>
              </a:defRPr>
            </a:pPr>
            <a:r>
              <a:rPr sz="2100" b="1">
                <a:solidFill>
                  <a:srgbClr val="0B0F14"/>
                </a:solidFill>
              </a:rPr>
              <a:t>Origin allowlisting is not user authorization.</a:t>
            </a:r>
          </a:p>
        </p:txBody>
      </p:sp>
      <p:sp>
        <p:nvSpPr>
          <p:cNvPr id="17" name="">
            <a:extLst xmlns:a="http://schemas.openxmlformats.org/drawingml/2006/main">
              <a:ext uri="{FF2B5EF4-FFF2-40B4-BE49-F238E27FC236}">
                <a16:creationId xmlns:a16="http://schemas.microsoft.com/office/drawing/2014/main" id="{452674B3-9DF6-42BF-B74C-59D6D94AC9DF}"/>
              </a:ext>
            </a:extLst>
          </p:cNvPr>
          <p:cNvSpPr>
            <a:spLocks xmlns:a="http://schemas.openxmlformats.org/drawingml/2006/main" noGrp="1"/>
          </p:cNvSpPr>
          <p:nvPr/>
        </p:nvSpPr>
        <p:spPr>
          <a:xfrm xmlns:a="http://schemas.openxmlformats.org/drawingml/2006/main">
            <a:off x="11287125" y="6286500"/>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200" b="0">
                <a:solidFill>
                  <a:srgbClr val="555555"/>
                </a:solidFill>
              </a:defRPr>
            </a:pPr>
            <a:r>
              <a:rPr sz="1200" b="0">
                <a:solidFill>
                  <a:srgbClr val="555555"/>
                </a:solidFill>
              </a:rPr>
              <a:t>04</a:t>
            </a:r>
          </a:p>
        </p:txBody>
      </p:sp>
    </p:spTree>
    <p:extLst>
      <p:ext uri="{BB962C8B-B14F-4D97-AF65-F5344CB8AC3E}">
        <p14:creationId xmlns:p14="http://schemas.microsoft.com/office/powerpoint/2010/main" val="126345599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52027BF-7413-41E3-8B13-56ACDDF3FDAA}"/>
              </a:ext>
            </a:extLst>
          </p:cNvPr>
          <p:cNvSpPr>
            <a:spLocks xmlns:a="http://schemas.openxmlformats.org/drawingml/2006/main" noGrp="1"/>
          </p:cNvSpPr>
          <p:nvPr/>
        </p:nvSpPr>
        <p:spPr>
          <a:xfrm xmlns:a="http://schemas.openxmlformats.org/drawingml/2006/main">
            <a:off x="400050" y="3238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555555"/>
                </a:solidFill>
              </a:defRPr>
            </a:pPr>
            <a:r>
              <a:rPr sz="1200" b="1">
                <a:solidFill>
                  <a:srgbClr val="555555"/>
                </a:solidFill>
              </a:rPr>
              <a:t>MICROBETRACE PARTNER EMBED</a:t>
            </a:r>
          </a:p>
        </p:txBody>
      </p:sp>
      <p:sp>
        <p:nvSpPr>
          <p:cNvPr id="2" name="">
            <a:extLst xmlns:a="http://schemas.openxmlformats.org/drawingml/2006/main">
              <a:ext uri="{FF2B5EF4-FFF2-40B4-BE49-F238E27FC236}">
                <a16:creationId xmlns:a16="http://schemas.microsoft.com/office/drawing/2014/main" id="{3AEDBD33-C8F1-492E-86DE-5D5705E9A475}"/>
              </a:ext>
            </a:extLst>
          </p:cNvPr>
          <p:cNvSpPr>
            <a:spLocks xmlns:a="http://schemas.openxmlformats.org/drawingml/2006/main" noGrp="1"/>
          </p:cNvSpPr>
          <p:nvPr/>
        </p:nvSpPr>
        <p:spPr>
          <a:xfrm xmlns:a="http://schemas.openxmlformats.org/drawingml/2006/main">
            <a:off x="400050" y="723900"/>
            <a:ext cx="10001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4"/>
                </a:solidFill>
              </a:defRPr>
            </a:pPr>
            <a:r>
              <a:rPr sz="3150" b="1">
                <a:solidFill>
                  <a:srgbClr val="0B0F14"/>
                </a:solidFill>
              </a:rPr>
              <a:t>The minimal integration is mostly data preparation</a:t>
            </a:r>
          </a:p>
        </p:txBody>
      </p:sp>
      <p:sp>
        <p:nvSpPr>
          <p:cNvPr id="3" name="">
            <a:extLst xmlns:a="http://schemas.openxmlformats.org/drawingml/2006/main">
              <a:ext uri="{FF2B5EF4-FFF2-40B4-BE49-F238E27FC236}">
                <a16:creationId xmlns:a16="http://schemas.microsoft.com/office/drawing/2014/main" id="{CBF145B0-A7B9-4F9E-82CD-914E00C5F705}"/>
              </a:ext>
            </a:extLst>
          </p:cNvPr>
          <p:cNvSpPr>
            <a:spLocks xmlns:a="http://schemas.openxmlformats.org/drawingml/2006/main" noGrp="1"/>
          </p:cNvSpPr>
          <p:nvPr/>
        </p:nvSpPr>
        <p:spPr>
          <a:xfrm xmlns:a="http://schemas.openxmlformats.org/drawingml/2006/main">
            <a:off x="419100" y="1562100"/>
            <a:ext cx="857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a:solidFill>
                  <a:srgbClr val="555555"/>
                </a:solidFill>
              </a:defRPr>
            </a:pPr>
            <a:r>
              <a:rPr sz="1650" b="0">
                <a:solidFill>
                  <a:srgbClr val="555555"/>
                </a:solidFill>
              </a:rPr>
              <a:t>The hardened default is to load the SDK from MicrobeTrace and omit target.</a:t>
            </a:r>
          </a:p>
        </p:txBody>
      </p:sp>
      <p:sp>
        <p:nvSpPr>
          <p:cNvPr id="4" name="">
            <a:extLst xmlns:a="http://schemas.openxmlformats.org/drawingml/2006/main">
              <a:ext uri="{FF2B5EF4-FFF2-40B4-BE49-F238E27FC236}">
                <a16:creationId xmlns:a16="http://schemas.microsoft.com/office/drawing/2014/main" id="{DEFDD31D-64DB-4DF1-9CD4-7C99E3676CC6}"/>
              </a:ext>
            </a:extLst>
          </p:cNvPr>
          <p:cNvSpPr>
            <a:spLocks xmlns:a="http://schemas.openxmlformats.org/drawingml/2006/main" noGrp="1"/>
          </p:cNvSpPr>
          <p:nvPr/>
        </p:nvSpPr>
        <p:spPr>
          <a:xfrm xmlns:a="http://schemas.openxmlformats.org/drawingml/2006/main">
            <a:off x="552450" y="2343150"/>
            <a:ext cx="2095500" cy="514350"/>
          </a:xfrm>
          <a:prstGeom xmlns:a="http://schemas.openxmlformats.org/drawingml/2006/main" prst="rect">
            <a:avLst/>
          </a:prstGeom>
          <a:solidFill xmlns:a="http://schemas.openxmlformats.org/drawingml/2006/main">
            <a:srgbClr val="0B0F14"/>
          </a:solidFill>
          <a:ln xmlns:a="http://schemas.openxmlformats.org/drawingml/2006/main" w="9525">
            <a:solidFill>
              <a:srgbClr val="0B0F14"/>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FFFFF"/>
                </a:solidFill>
              </a:defRPr>
            </a:pPr>
            <a:r>
              <a:rPr sz="1800" b="1">
                <a:solidFill>
                  <a:srgbClr val="FFFFFF"/>
                </a:solidFill>
              </a:rPr>
              <a:t>Required</a:t>
            </a:r>
          </a:p>
        </p:txBody>
      </p:sp>
      <p:sp>
        <p:nvSpPr>
          <p:cNvPr id="5" name="">
            <a:extLst xmlns:a="http://schemas.openxmlformats.org/drawingml/2006/main">
              <a:ext uri="{FF2B5EF4-FFF2-40B4-BE49-F238E27FC236}">
                <a16:creationId xmlns:a16="http://schemas.microsoft.com/office/drawing/2014/main" id="{C0E7E224-9D59-46F7-BEF0-8AD3E456C347}"/>
              </a:ext>
            </a:extLst>
          </p:cNvPr>
          <p:cNvSpPr>
            <a:spLocks xmlns:a="http://schemas.openxmlformats.org/drawingml/2006/main" noGrp="1"/>
          </p:cNvSpPr>
          <p:nvPr/>
        </p:nvSpPr>
        <p:spPr>
          <a:xfrm xmlns:a="http://schemas.openxmlformats.org/drawingml/2006/main">
            <a:off x="685800" y="3219450"/>
            <a:ext cx="95250" cy="95250"/>
          </a:xfrm>
          <a:prstGeom xmlns:a="http://schemas.openxmlformats.org/drawingml/2006/main" prst="rect">
            <a:avLst/>
          </a:prstGeom>
          <a:solidFill xmlns:a="http://schemas.openxmlformats.org/drawingml/2006/main">
            <a:srgbClr val="FF6B35"/>
          </a:solidFill>
          <a:ln xmlns:a="http://schemas.openxmlformats.org/drawingml/2006/main" w="9525">
            <a:solidFill>
              <a:srgbClr val="FF6B35"/>
            </a:solidFill>
            <a:prstDash val="solid"/>
          </a:ln>
        </p:spPr>
      </p:sp>
      <p:sp>
        <p:nvSpPr>
          <p:cNvPr id="6" name="">
            <a:extLst xmlns:a="http://schemas.openxmlformats.org/drawingml/2006/main">
              <a:ext uri="{FF2B5EF4-FFF2-40B4-BE49-F238E27FC236}">
                <a16:creationId xmlns:a16="http://schemas.microsoft.com/office/drawing/2014/main" id="{B5D02CCF-AC1C-460A-92DD-01F397A8DEF5}"/>
              </a:ext>
            </a:extLst>
          </p:cNvPr>
          <p:cNvSpPr>
            <a:spLocks xmlns:a="http://schemas.openxmlformats.org/drawingml/2006/main" noGrp="1"/>
          </p:cNvSpPr>
          <p:nvPr/>
        </p:nvSpPr>
        <p:spPr>
          <a:xfrm xmlns:a="http://schemas.openxmlformats.org/drawingml/2006/main">
            <a:off x="923925" y="3143250"/>
            <a:ext cx="41433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a:solidFill>
                  <a:srgbClr val="0B0F14"/>
                </a:solidFill>
              </a:defRPr>
            </a:pPr>
            <a:r>
              <a:rPr sz="1650" b="0">
                <a:solidFill>
                  <a:srgbClr val="0B0F14"/>
                </a:solidFill>
              </a:rPr>
              <a:t>Load approved SDK; record version</a:t>
            </a:r>
          </a:p>
        </p:txBody>
      </p:sp>
      <p:sp>
        <p:nvSpPr>
          <p:cNvPr id="7" name="">
            <a:extLst xmlns:a="http://schemas.openxmlformats.org/drawingml/2006/main">
              <a:ext uri="{FF2B5EF4-FFF2-40B4-BE49-F238E27FC236}">
                <a16:creationId xmlns:a16="http://schemas.microsoft.com/office/drawing/2014/main" id="{ECFA88E6-8134-4B15-AD1C-60C6490B1D75}"/>
              </a:ext>
            </a:extLst>
          </p:cNvPr>
          <p:cNvSpPr>
            <a:spLocks xmlns:a="http://schemas.openxmlformats.org/drawingml/2006/main" noGrp="1"/>
          </p:cNvSpPr>
          <p:nvPr/>
        </p:nvSpPr>
        <p:spPr>
          <a:xfrm xmlns:a="http://schemas.openxmlformats.org/drawingml/2006/main">
            <a:off x="685800" y="3676650"/>
            <a:ext cx="95250" cy="95250"/>
          </a:xfrm>
          <a:prstGeom xmlns:a="http://schemas.openxmlformats.org/drawingml/2006/main" prst="rect">
            <a:avLst/>
          </a:prstGeom>
          <a:solidFill xmlns:a="http://schemas.openxmlformats.org/drawingml/2006/main">
            <a:srgbClr val="FF6B35"/>
          </a:solidFill>
          <a:ln xmlns:a="http://schemas.openxmlformats.org/drawingml/2006/main" w="9525">
            <a:solidFill>
              <a:srgbClr val="FF6B35"/>
            </a:solidFill>
            <a:prstDash val="solid"/>
          </a:ln>
        </p:spPr>
      </p:sp>
      <p:sp>
        <p:nvSpPr>
          <p:cNvPr id="8" name="">
            <a:extLst xmlns:a="http://schemas.openxmlformats.org/drawingml/2006/main">
              <a:ext uri="{FF2B5EF4-FFF2-40B4-BE49-F238E27FC236}">
                <a16:creationId xmlns:a16="http://schemas.microsoft.com/office/drawing/2014/main" id="{AD9607E6-F4BF-4985-B744-BAC89B0B8ECE}"/>
              </a:ext>
            </a:extLst>
          </p:cNvPr>
          <p:cNvSpPr>
            <a:spLocks xmlns:a="http://schemas.openxmlformats.org/drawingml/2006/main" noGrp="1"/>
          </p:cNvSpPr>
          <p:nvPr/>
        </p:nvSpPr>
        <p:spPr>
          <a:xfrm xmlns:a="http://schemas.openxmlformats.org/drawingml/2006/main">
            <a:off x="923925" y="3600450"/>
            <a:ext cx="41433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a:solidFill>
                  <a:srgbClr val="0B0F14"/>
                </a:solidFill>
              </a:defRPr>
            </a:pPr>
            <a:r>
              <a:rPr sz="1650" b="0">
                <a:solidFill>
                  <a:srgbClr val="0B0F14"/>
                </a:solidFill>
              </a:rPr>
              <a:t>Use assigned partnerId</a:t>
            </a:r>
          </a:p>
        </p:txBody>
      </p:sp>
      <p:sp>
        <p:nvSpPr>
          <p:cNvPr id="9" name="">
            <a:extLst xmlns:a="http://schemas.openxmlformats.org/drawingml/2006/main">
              <a:ext uri="{FF2B5EF4-FFF2-40B4-BE49-F238E27FC236}">
                <a16:creationId xmlns:a16="http://schemas.microsoft.com/office/drawing/2014/main" id="{7291E027-2D0B-4001-8AEA-ED6FCAF7FFBD}"/>
              </a:ext>
            </a:extLst>
          </p:cNvPr>
          <p:cNvSpPr>
            <a:spLocks xmlns:a="http://schemas.openxmlformats.org/drawingml/2006/main" noGrp="1"/>
          </p:cNvSpPr>
          <p:nvPr/>
        </p:nvSpPr>
        <p:spPr>
          <a:xfrm xmlns:a="http://schemas.openxmlformats.org/drawingml/2006/main">
            <a:off x="685800" y="4133850"/>
            <a:ext cx="95250" cy="95250"/>
          </a:xfrm>
          <a:prstGeom xmlns:a="http://schemas.openxmlformats.org/drawingml/2006/main" prst="rect">
            <a:avLst/>
          </a:prstGeom>
          <a:solidFill xmlns:a="http://schemas.openxmlformats.org/drawingml/2006/main">
            <a:srgbClr val="FF6B35"/>
          </a:solidFill>
          <a:ln xmlns:a="http://schemas.openxmlformats.org/drawingml/2006/main" w="9525">
            <a:solidFill>
              <a:srgbClr val="FF6B35"/>
            </a:solidFill>
            <a:prstDash val="solid"/>
          </a:ln>
        </p:spPr>
      </p:sp>
      <p:sp>
        <p:nvSpPr>
          <p:cNvPr id="10" name="">
            <a:extLst xmlns:a="http://schemas.openxmlformats.org/drawingml/2006/main">
              <a:ext uri="{FF2B5EF4-FFF2-40B4-BE49-F238E27FC236}">
                <a16:creationId xmlns:a16="http://schemas.microsoft.com/office/drawing/2014/main" id="{625C4649-DAE7-4587-9CF7-8BF26D4E30D8}"/>
              </a:ext>
            </a:extLst>
          </p:cNvPr>
          <p:cNvSpPr>
            <a:spLocks xmlns:a="http://schemas.openxmlformats.org/drawingml/2006/main" noGrp="1"/>
          </p:cNvSpPr>
          <p:nvPr/>
        </p:nvSpPr>
        <p:spPr>
          <a:xfrm xmlns:a="http://schemas.openxmlformats.org/drawingml/2006/main">
            <a:off x="923925" y="4057650"/>
            <a:ext cx="41433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a:solidFill>
                  <a:srgbClr val="0B0F14"/>
                </a:solidFill>
              </a:defRPr>
            </a:pPr>
            <a:r>
              <a:rPr sz="1650" b="0">
                <a:solidFill>
                  <a:srgbClr val="0B0F14"/>
                </a:solidFill>
              </a:rPr>
              <a:t>Pass one or more files</a:t>
            </a:r>
          </a:p>
        </p:txBody>
      </p:sp>
      <p:sp>
        <p:nvSpPr>
          <p:cNvPr id="11" name="">
            <a:extLst xmlns:a="http://schemas.openxmlformats.org/drawingml/2006/main">
              <a:ext uri="{FF2B5EF4-FFF2-40B4-BE49-F238E27FC236}">
                <a16:creationId xmlns:a16="http://schemas.microsoft.com/office/drawing/2014/main" id="{07CF0257-5720-4027-A9E0-F53D2A10DD1E}"/>
              </a:ext>
            </a:extLst>
          </p:cNvPr>
          <p:cNvSpPr>
            <a:spLocks xmlns:a="http://schemas.openxmlformats.org/drawingml/2006/main" noGrp="1"/>
          </p:cNvSpPr>
          <p:nvPr/>
        </p:nvSpPr>
        <p:spPr>
          <a:xfrm xmlns:a="http://schemas.openxmlformats.org/drawingml/2006/main">
            <a:off x="685800" y="4591050"/>
            <a:ext cx="95250" cy="95250"/>
          </a:xfrm>
          <a:prstGeom xmlns:a="http://schemas.openxmlformats.org/drawingml/2006/main" prst="rect">
            <a:avLst/>
          </a:prstGeom>
          <a:solidFill xmlns:a="http://schemas.openxmlformats.org/drawingml/2006/main">
            <a:srgbClr val="FF6B35"/>
          </a:solidFill>
          <a:ln xmlns:a="http://schemas.openxmlformats.org/drawingml/2006/main" w="9525">
            <a:solidFill>
              <a:srgbClr val="FF6B35"/>
            </a:solidFill>
            <a:prstDash val="solid"/>
          </a:ln>
        </p:spPr>
      </p:sp>
      <p:sp>
        <p:nvSpPr>
          <p:cNvPr id="12" name="">
            <a:extLst xmlns:a="http://schemas.openxmlformats.org/drawingml/2006/main">
              <a:ext uri="{FF2B5EF4-FFF2-40B4-BE49-F238E27FC236}">
                <a16:creationId xmlns:a16="http://schemas.microsoft.com/office/drawing/2014/main" id="{F5D88971-3925-4BCD-B378-6C2BD6BFFAFD}"/>
              </a:ext>
            </a:extLst>
          </p:cNvPr>
          <p:cNvSpPr>
            <a:spLocks xmlns:a="http://schemas.openxmlformats.org/drawingml/2006/main" noGrp="1"/>
          </p:cNvSpPr>
          <p:nvPr/>
        </p:nvSpPr>
        <p:spPr>
          <a:xfrm xmlns:a="http://schemas.openxmlformats.org/drawingml/2006/main">
            <a:off x="923925" y="4514850"/>
            <a:ext cx="41433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a:solidFill>
                  <a:srgbClr val="0B0F14"/>
                </a:solidFill>
              </a:defRPr>
            </a:pPr>
            <a:r>
              <a:rPr sz="1650" b="0">
                <a:solidFill>
                  <a:srgbClr val="0B0F14"/>
                </a:solidFill>
              </a:rPr>
              <a:t>Trigger from a user click</a:t>
            </a:r>
          </a:p>
        </p:txBody>
      </p:sp>
      <p:sp>
        <p:nvSpPr>
          <p:cNvPr id="13" name="">
            <a:extLst xmlns:a="http://schemas.openxmlformats.org/drawingml/2006/main">
              <a:ext uri="{FF2B5EF4-FFF2-40B4-BE49-F238E27FC236}">
                <a16:creationId xmlns:a16="http://schemas.microsoft.com/office/drawing/2014/main" id="{2B80BAA3-763D-417E-9898-3132E660E152}"/>
              </a:ext>
            </a:extLst>
          </p:cNvPr>
          <p:cNvSpPr>
            <a:spLocks xmlns:a="http://schemas.openxmlformats.org/drawingml/2006/main" noGrp="1"/>
          </p:cNvSpPr>
          <p:nvPr/>
        </p:nvSpPr>
        <p:spPr>
          <a:xfrm xmlns:a="http://schemas.openxmlformats.org/drawingml/2006/main">
            <a:off x="6191250" y="2343150"/>
            <a:ext cx="2857500" cy="514350"/>
          </a:xfrm>
          <a:prstGeom xmlns:a="http://schemas.openxmlformats.org/drawingml/2006/main" prst="rect">
            <a:avLst/>
          </a:prstGeom>
          <a:solidFill xmlns:a="http://schemas.openxmlformats.org/drawingml/2006/main">
            <a:srgbClr val="EDEDED"/>
          </a:solidFill>
          <a:ln xmlns:a="http://schemas.openxmlformats.org/drawingml/2006/main" w="9525">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4"/>
                </a:solidFill>
              </a:defRPr>
            </a:pPr>
            <a:r>
              <a:rPr sz="1800" b="1">
                <a:solidFill>
                  <a:srgbClr val="0B0F14"/>
                </a:solidFill>
              </a:rPr>
              <a:t>Recommended defaults</a:t>
            </a:r>
          </a:p>
        </p:txBody>
      </p:sp>
      <p:sp>
        <p:nvSpPr>
          <p:cNvPr id="14" name="">
            <a:extLst xmlns:a="http://schemas.openxmlformats.org/drawingml/2006/main">
              <a:ext uri="{FF2B5EF4-FFF2-40B4-BE49-F238E27FC236}">
                <a16:creationId xmlns:a16="http://schemas.microsoft.com/office/drawing/2014/main" id="{18B15B30-4233-4628-80BE-CDB2ED9597D7}"/>
              </a:ext>
            </a:extLst>
          </p:cNvPr>
          <p:cNvSpPr>
            <a:spLocks xmlns:a="http://schemas.openxmlformats.org/drawingml/2006/main" noGrp="1"/>
          </p:cNvSpPr>
          <p:nvPr/>
        </p:nvSpPr>
        <p:spPr>
          <a:xfrm xmlns:a="http://schemas.openxmlformats.org/drawingml/2006/main">
            <a:off x="6324600" y="3219450"/>
            <a:ext cx="95250" cy="95250"/>
          </a:xfrm>
          <a:prstGeom xmlns:a="http://schemas.openxmlformats.org/drawingml/2006/main" prst="rect">
            <a:avLst/>
          </a:prstGeom>
          <a:solidFill xmlns:a="http://schemas.openxmlformats.org/drawingml/2006/main">
            <a:srgbClr val="1E5B99"/>
          </a:solidFill>
          <a:ln xmlns:a="http://schemas.openxmlformats.org/drawingml/2006/main" w="9525">
            <a:solidFill>
              <a:srgbClr val="1E5B99"/>
            </a:solidFill>
            <a:prstDash val="solid"/>
          </a:ln>
        </p:spPr>
      </p:sp>
      <p:sp>
        <p:nvSpPr>
          <p:cNvPr id="15" name="">
            <a:extLst xmlns:a="http://schemas.openxmlformats.org/drawingml/2006/main">
              <a:ext uri="{FF2B5EF4-FFF2-40B4-BE49-F238E27FC236}">
                <a16:creationId xmlns:a16="http://schemas.microsoft.com/office/drawing/2014/main" id="{DEDA627B-16CB-4BBB-80A2-12F4039C46DB}"/>
              </a:ext>
            </a:extLst>
          </p:cNvPr>
          <p:cNvSpPr>
            <a:spLocks xmlns:a="http://schemas.openxmlformats.org/drawingml/2006/main" noGrp="1"/>
          </p:cNvSpPr>
          <p:nvPr/>
        </p:nvSpPr>
        <p:spPr>
          <a:xfrm xmlns:a="http://schemas.openxmlformats.org/drawingml/2006/main">
            <a:off x="6562725" y="3143250"/>
            <a:ext cx="45243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a:solidFill>
                  <a:srgbClr val="0B0F14"/>
                </a:solidFill>
              </a:defRPr>
            </a:pPr>
            <a:r>
              <a:rPr sz="1575" b="0">
                <a:solidFill>
                  <a:srgbClr val="0B0F14"/>
                </a:solidFill>
              </a:rPr>
              <a:t>Omit target when the SDK is loaded from MicrobeTrace</a:t>
            </a:r>
          </a:p>
        </p:txBody>
      </p:sp>
      <p:sp>
        <p:nvSpPr>
          <p:cNvPr id="16" name="">
            <a:extLst xmlns:a="http://schemas.openxmlformats.org/drawingml/2006/main">
              <a:ext uri="{FF2B5EF4-FFF2-40B4-BE49-F238E27FC236}">
                <a16:creationId xmlns:a16="http://schemas.microsoft.com/office/drawing/2014/main" id="{557CB8ED-87DE-48D8-ADE6-926E2AFCF419}"/>
              </a:ext>
            </a:extLst>
          </p:cNvPr>
          <p:cNvSpPr>
            <a:spLocks xmlns:a="http://schemas.openxmlformats.org/drawingml/2006/main" noGrp="1"/>
          </p:cNvSpPr>
          <p:nvPr/>
        </p:nvSpPr>
        <p:spPr>
          <a:xfrm xmlns:a="http://schemas.openxmlformats.org/drawingml/2006/main">
            <a:off x="6324600" y="3676650"/>
            <a:ext cx="95250" cy="95250"/>
          </a:xfrm>
          <a:prstGeom xmlns:a="http://schemas.openxmlformats.org/drawingml/2006/main" prst="rect">
            <a:avLst/>
          </a:prstGeom>
          <a:solidFill xmlns:a="http://schemas.openxmlformats.org/drawingml/2006/main">
            <a:srgbClr val="1E5B99"/>
          </a:solidFill>
          <a:ln xmlns:a="http://schemas.openxmlformats.org/drawingml/2006/main" w="9525">
            <a:solidFill>
              <a:srgbClr val="1E5B99"/>
            </a:solidFill>
            <a:prstDash val="solid"/>
          </a:ln>
        </p:spPr>
      </p:sp>
      <p:sp>
        <p:nvSpPr>
          <p:cNvPr id="17" name="">
            <a:extLst xmlns:a="http://schemas.openxmlformats.org/drawingml/2006/main">
              <a:ext uri="{FF2B5EF4-FFF2-40B4-BE49-F238E27FC236}">
                <a16:creationId xmlns:a16="http://schemas.microsoft.com/office/drawing/2014/main" id="{BFA5E85B-DAB6-4305-978D-57D929CD0603}"/>
              </a:ext>
            </a:extLst>
          </p:cNvPr>
          <p:cNvSpPr>
            <a:spLocks xmlns:a="http://schemas.openxmlformats.org/drawingml/2006/main" noGrp="1"/>
          </p:cNvSpPr>
          <p:nvPr/>
        </p:nvSpPr>
        <p:spPr>
          <a:xfrm xmlns:a="http://schemas.openxmlformats.org/drawingml/2006/main">
            <a:off x="6562725" y="3600450"/>
            <a:ext cx="45243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a:solidFill>
                  <a:srgbClr val="0B0F14"/>
                </a:solidFill>
              </a:defRPr>
            </a:pPr>
            <a:r>
              <a:rPr sz="1575" b="0">
                <a:solidFill>
                  <a:srgbClr val="0B0F14"/>
                </a:solidFill>
              </a:rPr>
              <a:t>Pass only datasetName and sourceApp metadata</a:t>
            </a:r>
          </a:p>
        </p:txBody>
      </p:sp>
      <p:sp>
        <p:nvSpPr>
          <p:cNvPr id="18" name="">
            <a:extLst xmlns:a="http://schemas.openxmlformats.org/drawingml/2006/main">
              <a:ext uri="{FF2B5EF4-FFF2-40B4-BE49-F238E27FC236}">
                <a16:creationId xmlns:a16="http://schemas.microsoft.com/office/drawing/2014/main" id="{4F97AF21-0442-4BEF-AB98-326BC5AC7189}"/>
              </a:ext>
            </a:extLst>
          </p:cNvPr>
          <p:cNvSpPr>
            <a:spLocks xmlns:a="http://schemas.openxmlformats.org/drawingml/2006/main" noGrp="1"/>
          </p:cNvSpPr>
          <p:nvPr/>
        </p:nvSpPr>
        <p:spPr>
          <a:xfrm xmlns:a="http://schemas.openxmlformats.org/drawingml/2006/main">
            <a:off x="6324600" y="4133850"/>
            <a:ext cx="95250" cy="95250"/>
          </a:xfrm>
          <a:prstGeom xmlns:a="http://schemas.openxmlformats.org/drawingml/2006/main" prst="rect">
            <a:avLst/>
          </a:prstGeom>
          <a:solidFill xmlns:a="http://schemas.openxmlformats.org/drawingml/2006/main">
            <a:srgbClr val="1E5B99"/>
          </a:solidFill>
          <a:ln xmlns:a="http://schemas.openxmlformats.org/drawingml/2006/main" w="9525">
            <a:solidFill>
              <a:srgbClr val="1E5B99"/>
            </a:solidFill>
            <a:prstDash val="solid"/>
          </a:ln>
        </p:spPr>
      </p:sp>
      <p:sp>
        <p:nvSpPr>
          <p:cNvPr id="19" name="">
            <a:extLst xmlns:a="http://schemas.openxmlformats.org/drawingml/2006/main">
              <a:ext uri="{FF2B5EF4-FFF2-40B4-BE49-F238E27FC236}">
                <a16:creationId xmlns:a16="http://schemas.microsoft.com/office/drawing/2014/main" id="{F99498E7-436E-4866-BBAA-54198057F6E9}"/>
              </a:ext>
            </a:extLst>
          </p:cNvPr>
          <p:cNvSpPr>
            <a:spLocks xmlns:a="http://schemas.openxmlformats.org/drawingml/2006/main" noGrp="1"/>
          </p:cNvSpPr>
          <p:nvPr/>
        </p:nvSpPr>
        <p:spPr>
          <a:xfrm xmlns:a="http://schemas.openxmlformats.org/drawingml/2006/main">
            <a:off x="6562725" y="4057650"/>
            <a:ext cx="45243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a:solidFill>
                  <a:srgbClr val="0B0F14"/>
                </a:solidFill>
              </a:defRPr>
            </a:pPr>
            <a:r>
              <a:rPr sz="1575" b="0">
                <a:solidFill>
                  <a:srgbClr val="0B0F14"/>
                </a:solidFill>
              </a:rPr>
              <a:t>Redact the raw receipt before logging</a:t>
            </a:r>
          </a:p>
        </p:txBody>
      </p:sp>
      <p:sp>
        <p:nvSpPr>
          <p:cNvPr id="20" name="">
            <a:extLst xmlns:a="http://schemas.openxmlformats.org/drawingml/2006/main">
              <a:ext uri="{FF2B5EF4-FFF2-40B4-BE49-F238E27FC236}">
                <a16:creationId xmlns:a16="http://schemas.microsoft.com/office/drawing/2014/main" id="{20B2D31A-369E-467A-9841-BA02EFB1D531}"/>
              </a:ext>
            </a:extLst>
          </p:cNvPr>
          <p:cNvSpPr>
            <a:spLocks xmlns:a="http://schemas.openxmlformats.org/drawingml/2006/main" noGrp="1"/>
          </p:cNvSpPr>
          <p:nvPr/>
        </p:nvSpPr>
        <p:spPr>
          <a:xfrm xmlns:a="http://schemas.openxmlformats.org/drawingml/2006/main">
            <a:off x="6324600" y="4591050"/>
            <a:ext cx="95250" cy="95250"/>
          </a:xfrm>
          <a:prstGeom xmlns:a="http://schemas.openxmlformats.org/drawingml/2006/main" prst="rect">
            <a:avLst/>
          </a:prstGeom>
          <a:solidFill xmlns:a="http://schemas.openxmlformats.org/drawingml/2006/main">
            <a:srgbClr val="1E5B99"/>
          </a:solidFill>
          <a:ln xmlns:a="http://schemas.openxmlformats.org/drawingml/2006/main" w="9525">
            <a:solidFill>
              <a:srgbClr val="1E5B99"/>
            </a:solidFill>
            <a:prstDash val="solid"/>
          </a:ln>
        </p:spPr>
      </p:sp>
      <p:sp>
        <p:nvSpPr>
          <p:cNvPr id="21" name="">
            <a:extLst xmlns:a="http://schemas.openxmlformats.org/drawingml/2006/main">
              <a:ext uri="{FF2B5EF4-FFF2-40B4-BE49-F238E27FC236}">
                <a16:creationId xmlns:a16="http://schemas.microsoft.com/office/drawing/2014/main" id="{685DCD21-70BD-45D5-B995-06D0F98D1D9E}"/>
              </a:ext>
            </a:extLst>
          </p:cNvPr>
          <p:cNvSpPr>
            <a:spLocks xmlns:a="http://schemas.openxmlformats.org/drawingml/2006/main" noGrp="1"/>
          </p:cNvSpPr>
          <p:nvPr/>
        </p:nvSpPr>
        <p:spPr>
          <a:xfrm xmlns:a="http://schemas.openxmlformats.org/drawingml/2006/main">
            <a:off x="6562725" y="4514850"/>
            <a:ext cx="45243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a:solidFill>
                  <a:srgbClr val="0B0F14"/>
                </a:solidFill>
              </a:defRPr>
            </a:pPr>
            <a:r>
              <a:rPr sz="1575" b="0">
                <a:solidFill>
                  <a:srgbClr val="0B0F14"/>
                </a:solidFill>
              </a:rPr>
              <a:t>Handle unsupported browser and popup failures</a:t>
            </a:r>
          </a:p>
        </p:txBody>
      </p:sp>
      <p:sp>
        <p:nvSpPr>
          <p:cNvPr id="22" name="">
            <a:extLst xmlns:a="http://schemas.openxmlformats.org/drawingml/2006/main">
              <a:ext uri="{FF2B5EF4-FFF2-40B4-BE49-F238E27FC236}">
                <a16:creationId xmlns:a16="http://schemas.microsoft.com/office/drawing/2014/main" id="{3FEBE730-6B2F-4381-AEBF-75D9B793D075}"/>
              </a:ext>
            </a:extLst>
          </p:cNvPr>
          <p:cNvSpPr>
            <a:spLocks xmlns:a="http://schemas.openxmlformats.org/drawingml/2006/main" noGrp="1"/>
          </p:cNvSpPr>
          <p:nvPr/>
        </p:nvSpPr>
        <p:spPr>
          <a:xfrm xmlns:a="http://schemas.openxmlformats.org/drawingml/2006/main">
            <a:off x="685800" y="5715000"/>
            <a:ext cx="1000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a:solidFill>
                  <a:srgbClr val="555555"/>
                </a:solidFill>
              </a:defRPr>
            </a:pPr>
            <a:r>
              <a:rPr sz="1650" b="0">
                <a:solidFill>
                  <a:srgbClr val="555555"/>
                </a:solidFill>
              </a:rPr>
              <a:t>Raw receipt is sensitive: it includes handoffId, nonce-bearing receiverUrl, file names, and timestamps.</a:t>
            </a:r>
          </a:p>
        </p:txBody>
      </p:sp>
      <p:sp>
        <p:nvSpPr>
          <p:cNvPr id="23" name="">
            <a:extLst xmlns:a="http://schemas.openxmlformats.org/drawingml/2006/main">
              <a:ext uri="{FF2B5EF4-FFF2-40B4-BE49-F238E27FC236}">
                <a16:creationId xmlns:a16="http://schemas.microsoft.com/office/drawing/2014/main" id="{57038625-08EF-45A3-B64F-7BE0501738A1}"/>
              </a:ext>
            </a:extLst>
          </p:cNvPr>
          <p:cNvSpPr>
            <a:spLocks xmlns:a="http://schemas.openxmlformats.org/drawingml/2006/main" noGrp="1"/>
          </p:cNvSpPr>
          <p:nvPr/>
        </p:nvSpPr>
        <p:spPr>
          <a:xfrm xmlns:a="http://schemas.openxmlformats.org/drawingml/2006/main">
            <a:off x="11287125" y="6286500"/>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200" b="0">
                <a:solidFill>
                  <a:srgbClr val="555555"/>
                </a:solidFill>
              </a:defRPr>
            </a:pPr>
            <a:r>
              <a:rPr sz="1200" b="0">
                <a:solidFill>
                  <a:srgbClr val="555555"/>
                </a:solidFill>
              </a:rPr>
              <a:t>05</a:t>
            </a:r>
          </a:p>
        </p:txBody>
      </p:sp>
    </p:spTree>
    <p:extLst>
      <p:ext uri="{BB962C8B-B14F-4D97-AF65-F5344CB8AC3E}">
        <p14:creationId xmlns:p14="http://schemas.microsoft.com/office/powerpoint/2010/main" val="74598180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8ACAB0E-346A-4672-A189-10E7C6AD92BF}"/>
              </a:ext>
            </a:extLst>
          </p:cNvPr>
          <p:cNvSpPr>
            <a:spLocks xmlns:a="http://schemas.openxmlformats.org/drawingml/2006/main" noGrp="1"/>
          </p:cNvSpPr>
          <p:nvPr/>
        </p:nvSpPr>
        <p:spPr>
          <a:xfrm xmlns:a="http://schemas.openxmlformats.org/drawingml/2006/main">
            <a:off x="400050" y="3238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555555"/>
                </a:solidFill>
              </a:defRPr>
            </a:pPr>
            <a:r>
              <a:rPr sz="1200" b="1">
                <a:solidFill>
                  <a:srgbClr val="555555"/>
                </a:solidFill>
              </a:rPr>
              <a:t>MICROBETRACE PARTNER EMBED</a:t>
            </a:r>
          </a:p>
        </p:txBody>
      </p:sp>
      <p:sp>
        <p:nvSpPr>
          <p:cNvPr id="2" name="">
            <a:extLst xmlns:a="http://schemas.openxmlformats.org/drawingml/2006/main">
              <a:ext uri="{FF2B5EF4-FFF2-40B4-BE49-F238E27FC236}">
                <a16:creationId xmlns:a16="http://schemas.microsoft.com/office/drawing/2014/main" id="{74298078-AEE5-4FBA-8902-D6071C99A56D}"/>
              </a:ext>
            </a:extLst>
          </p:cNvPr>
          <p:cNvSpPr>
            <a:spLocks xmlns:a="http://schemas.openxmlformats.org/drawingml/2006/main" noGrp="1"/>
          </p:cNvSpPr>
          <p:nvPr/>
        </p:nvSpPr>
        <p:spPr>
          <a:xfrm xmlns:a="http://schemas.openxmlformats.org/drawingml/2006/main">
            <a:off x="400050" y="723900"/>
            <a:ext cx="10001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4"/>
                </a:solidFill>
              </a:defRPr>
            </a:pPr>
            <a:r>
              <a:rPr sz="3150" b="1">
                <a:solidFill>
                  <a:srgbClr val="0B0F14"/>
                </a:solidFill>
              </a:rPr>
              <a:t>Validation runs before storage and again during import</a:t>
            </a:r>
          </a:p>
        </p:txBody>
      </p:sp>
      <p:sp>
        <p:nvSpPr>
          <p:cNvPr id="3" name="">
            <a:extLst xmlns:a="http://schemas.openxmlformats.org/drawingml/2006/main">
              <a:ext uri="{FF2B5EF4-FFF2-40B4-BE49-F238E27FC236}">
                <a16:creationId xmlns:a16="http://schemas.microsoft.com/office/drawing/2014/main" id="{580BC363-A6BA-4E71-B788-3642F1B13053}"/>
              </a:ext>
            </a:extLst>
          </p:cNvPr>
          <p:cNvSpPr>
            <a:spLocks xmlns:a="http://schemas.openxmlformats.org/drawingml/2006/main" noGrp="1"/>
          </p:cNvSpPr>
          <p:nvPr/>
        </p:nvSpPr>
        <p:spPr>
          <a:xfrm xmlns:a="http://schemas.openxmlformats.org/drawingml/2006/main">
            <a:off x="419100" y="1562100"/>
            <a:ext cx="857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a:solidFill>
                  <a:srgbClr val="555555"/>
                </a:solidFill>
              </a:defRPr>
            </a:pPr>
            <a:r>
              <a:rPr sz="1650" b="0">
                <a:solidFill>
                  <a:srgbClr val="555555"/>
                </a:solidFill>
              </a:rPr>
              <a:t>The SDK, receiver, and app fail closed when required checks cannot be completed.</a:t>
            </a:r>
          </a:p>
        </p:txBody>
      </p:sp>
      <p:sp>
        <p:nvSpPr>
          <p:cNvPr id="4" name="">
            <a:extLst xmlns:a="http://schemas.openxmlformats.org/drawingml/2006/main">
              <a:ext uri="{FF2B5EF4-FFF2-40B4-BE49-F238E27FC236}">
                <a16:creationId xmlns:a16="http://schemas.microsoft.com/office/drawing/2014/main" id="{B9652A6A-FCD7-49FE-B859-CE9ADEC1FC9E}"/>
              </a:ext>
            </a:extLst>
          </p:cNvPr>
          <p:cNvSpPr>
            <a:spLocks xmlns:a="http://schemas.openxmlformats.org/drawingml/2006/main" noGrp="1"/>
          </p:cNvSpPr>
          <p:nvPr/>
        </p:nvSpPr>
        <p:spPr>
          <a:xfrm xmlns:a="http://schemas.openxmlformats.org/drawingml/2006/main">
            <a:off x="685800" y="2114550"/>
            <a:ext cx="438150" cy="438150"/>
          </a:xfrm>
          <a:prstGeom xmlns:a="http://schemas.openxmlformats.org/drawingml/2006/main" prst="rect">
            <a:avLst/>
          </a:prstGeom>
          <a:solidFill xmlns:a="http://schemas.openxmlformats.org/drawingml/2006/main">
            <a:srgbClr val="0B0F14"/>
          </a:solidFill>
          <a:ln xmlns:a="http://schemas.openxmlformats.org/drawingml/2006/main" w="9525">
            <a:solidFill>
              <a:srgbClr val="0B0F1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FFFFF"/>
                </a:solidFill>
              </a:defRPr>
            </a:pPr>
            <a:r>
              <a:rPr sz="1650" b="1">
                <a:solidFill>
                  <a:srgbClr val="FFFFFF"/>
                </a:solidFill>
              </a:rPr>
              <a:t>1</a:t>
            </a:r>
          </a:p>
        </p:txBody>
      </p:sp>
      <p:sp>
        <p:nvSpPr>
          <p:cNvPr id="5" name="">
            <a:extLst xmlns:a="http://schemas.openxmlformats.org/drawingml/2006/main">
              <a:ext uri="{FF2B5EF4-FFF2-40B4-BE49-F238E27FC236}">
                <a16:creationId xmlns:a16="http://schemas.microsoft.com/office/drawing/2014/main" id="{1960A4D0-5709-4057-83CD-10DA92862346}"/>
              </a:ext>
            </a:extLst>
          </p:cNvPr>
          <p:cNvSpPr>
            <a:spLocks xmlns:a="http://schemas.openxmlformats.org/drawingml/2006/main" noGrp="1"/>
          </p:cNvSpPr>
          <p:nvPr/>
        </p:nvSpPr>
        <p:spPr>
          <a:xfrm xmlns:a="http://schemas.openxmlformats.org/drawingml/2006/main">
            <a:off x="1352550" y="2095500"/>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0B0F14"/>
                </a:solidFill>
              </a:defRPr>
            </a:pPr>
            <a:r>
              <a:rPr sz="1800" b="1">
                <a:solidFill>
                  <a:srgbClr val="0B0F14"/>
                </a:solidFill>
              </a:rPr>
              <a:t>Target validation</a:t>
            </a:r>
          </a:p>
        </p:txBody>
      </p:sp>
      <p:sp>
        <p:nvSpPr>
          <p:cNvPr id="6" name="">
            <a:extLst xmlns:a="http://schemas.openxmlformats.org/drawingml/2006/main">
              <a:ext uri="{FF2B5EF4-FFF2-40B4-BE49-F238E27FC236}">
                <a16:creationId xmlns:a16="http://schemas.microsoft.com/office/drawing/2014/main" id="{90B2BCB6-3530-4F56-B974-898F69A75703}"/>
              </a:ext>
            </a:extLst>
          </p:cNvPr>
          <p:cNvSpPr>
            <a:spLocks xmlns:a="http://schemas.openxmlformats.org/drawingml/2006/main" noGrp="1"/>
          </p:cNvSpPr>
          <p:nvPr/>
        </p:nvSpPr>
        <p:spPr>
          <a:xfrm xmlns:a="http://schemas.openxmlformats.org/drawingml/2006/main">
            <a:off x="4429125" y="2095500"/>
            <a:ext cx="6762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555555"/>
                </a:solidFill>
              </a:defRPr>
            </a:pPr>
            <a:r>
              <a:rPr sz="1350" b="0">
                <a:solidFill>
                  <a:srgbClr val="555555"/>
                </a:solidFill>
              </a:rPr>
              <a:t>Infer target from SDK script. Reject wildcard, credentials, non-HTTP(S), and unreviewed cross-origin targets.</a:t>
            </a:r>
          </a:p>
        </p:txBody>
      </p:sp>
      <p:sp>
        <p:nvSpPr>
          <p:cNvPr id="7" name="">
            <a:extLst xmlns:a="http://schemas.openxmlformats.org/drawingml/2006/main">
              <a:ext uri="{FF2B5EF4-FFF2-40B4-BE49-F238E27FC236}">
                <a16:creationId xmlns:a16="http://schemas.microsoft.com/office/drawing/2014/main" id="{912E7EB7-E5DB-45EF-8788-6D73E29BD465}"/>
              </a:ext>
            </a:extLst>
          </p:cNvPr>
          <p:cNvSpPr>
            <a:spLocks xmlns:a="http://schemas.openxmlformats.org/drawingml/2006/main" noGrp="1"/>
          </p:cNvSpPr>
          <p:nvPr/>
        </p:nvSpPr>
        <p:spPr>
          <a:xfrm xmlns:a="http://schemas.openxmlformats.org/drawingml/2006/main">
            <a:off x="685800" y="2847975"/>
            <a:ext cx="438150" cy="438150"/>
          </a:xfrm>
          <a:prstGeom xmlns:a="http://schemas.openxmlformats.org/drawingml/2006/main" prst="rect">
            <a:avLst/>
          </a:prstGeom>
          <a:solidFill xmlns:a="http://schemas.openxmlformats.org/drawingml/2006/main">
            <a:srgbClr val="0B0F14"/>
          </a:solidFill>
          <a:ln xmlns:a="http://schemas.openxmlformats.org/drawingml/2006/main" w="9525">
            <a:solidFill>
              <a:srgbClr val="0B0F1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FFFFF"/>
                </a:solidFill>
              </a:defRPr>
            </a:pPr>
            <a:r>
              <a:rPr sz="1650" b="1">
                <a:solidFill>
                  <a:srgbClr val="FFFFFF"/>
                </a:solidFill>
              </a:rPr>
              <a:t>2</a:t>
            </a:r>
          </a:p>
        </p:txBody>
      </p:sp>
      <p:sp>
        <p:nvSpPr>
          <p:cNvPr id="8" name="">
            <a:extLst xmlns:a="http://schemas.openxmlformats.org/drawingml/2006/main">
              <a:ext uri="{FF2B5EF4-FFF2-40B4-BE49-F238E27FC236}">
                <a16:creationId xmlns:a16="http://schemas.microsoft.com/office/drawing/2014/main" id="{8FD74A65-A984-432B-AF7A-F1CD8F77E587}"/>
              </a:ext>
            </a:extLst>
          </p:cNvPr>
          <p:cNvSpPr>
            <a:spLocks xmlns:a="http://schemas.openxmlformats.org/drawingml/2006/main" noGrp="1"/>
          </p:cNvSpPr>
          <p:nvPr/>
        </p:nvSpPr>
        <p:spPr>
          <a:xfrm xmlns:a="http://schemas.openxmlformats.org/drawingml/2006/main">
            <a:off x="1352550" y="2828925"/>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0B0F14"/>
                </a:solidFill>
              </a:defRPr>
            </a:pPr>
            <a:r>
              <a:rPr sz="1800" b="1">
                <a:solidFill>
                  <a:srgbClr val="0B0F14"/>
                </a:solidFill>
              </a:rPr>
              <a:t>Secure randomness</a:t>
            </a:r>
          </a:p>
        </p:txBody>
      </p:sp>
      <p:sp>
        <p:nvSpPr>
          <p:cNvPr id="9" name="">
            <a:extLst xmlns:a="http://schemas.openxmlformats.org/drawingml/2006/main">
              <a:ext uri="{FF2B5EF4-FFF2-40B4-BE49-F238E27FC236}">
                <a16:creationId xmlns:a16="http://schemas.microsoft.com/office/drawing/2014/main" id="{4D1EF4C3-6A5E-4C75-B0E3-61A340E0CB05}"/>
              </a:ext>
            </a:extLst>
          </p:cNvPr>
          <p:cNvSpPr>
            <a:spLocks xmlns:a="http://schemas.openxmlformats.org/drawingml/2006/main" noGrp="1"/>
          </p:cNvSpPr>
          <p:nvPr/>
        </p:nvSpPr>
        <p:spPr>
          <a:xfrm xmlns:a="http://schemas.openxmlformats.org/drawingml/2006/main">
            <a:off x="4429125" y="2828925"/>
            <a:ext cx="6762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555555"/>
                </a:solidFill>
              </a:defRPr>
            </a:pPr>
            <a:r>
              <a:rPr sz="1350" b="0">
                <a:solidFill>
                  <a:srgbClr val="555555"/>
                </a:solidFill>
              </a:rPr>
              <a:t>Require crypto.randomUUID() or crypto.getRandomValues(). No Math.random fallback.</a:t>
            </a:r>
          </a:p>
        </p:txBody>
      </p:sp>
      <p:sp>
        <p:nvSpPr>
          <p:cNvPr id="10" name="">
            <a:extLst xmlns:a="http://schemas.openxmlformats.org/drawingml/2006/main">
              <a:ext uri="{FF2B5EF4-FFF2-40B4-BE49-F238E27FC236}">
                <a16:creationId xmlns:a16="http://schemas.microsoft.com/office/drawing/2014/main" id="{C35A047A-FDED-439C-AEAD-7722BAF69A43}"/>
              </a:ext>
            </a:extLst>
          </p:cNvPr>
          <p:cNvSpPr>
            <a:spLocks xmlns:a="http://schemas.openxmlformats.org/drawingml/2006/main" noGrp="1"/>
          </p:cNvSpPr>
          <p:nvPr/>
        </p:nvSpPr>
        <p:spPr>
          <a:xfrm xmlns:a="http://schemas.openxmlformats.org/drawingml/2006/main">
            <a:off x="685800" y="3581400"/>
            <a:ext cx="438150" cy="438150"/>
          </a:xfrm>
          <a:prstGeom xmlns:a="http://schemas.openxmlformats.org/drawingml/2006/main" prst="rect">
            <a:avLst/>
          </a:prstGeom>
          <a:solidFill xmlns:a="http://schemas.openxmlformats.org/drawingml/2006/main">
            <a:srgbClr val="0B0F14"/>
          </a:solidFill>
          <a:ln xmlns:a="http://schemas.openxmlformats.org/drawingml/2006/main" w="9525">
            <a:solidFill>
              <a:srgbClr val="0B0F1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FFFFF"/>
                </a:solidFill>
              </a:defRPr>
            </a:pPr>
            <a:r>
              <a:rPr sz="1650" b="1">
                <a:solidFill>
                  <a:srgbClr val="FFFFFF"/>
                </a:solidFill>
              </a:rPr>
              <a:t>3</a:t>
            </a:r>
          </a:p>
        </p:txBody>
      </p:sp>
      <p:sp>
        <p:nvSpPr>
          <p:cNvPr id="11" name="">
            <a:extLst xmlns:a="http://schemas.openxmlformats.org/drawingml/2006/main">
              <a:ext uri="{FF2B5EF4-FFF2-40B4-BE49-F238E27FC236}">
                <a16:creationId xmlns:a16="http://schemas.microsoft.com/office/drawing/2014/main" id="{1F3684D3-FB82-49C1-A66D-F668C8C7201B}"/>
              </a:ext>
            </a:extLst>
          </p:cNvPr>
          <p:cNvSpPr>
            <a:spLocks xmlns:a="http://schemas.openxmlformats.org/drawingml/2006/main" noGrp="1"/>
          </p:cNvSpPr>
          <p:nvPr/>
        </p:nvSpPr>
        <p:spPr>
          <a:xfrm xmlns:a="http://schemas.openxmlformats.org/drawingml/2006/main">
            <a:off x="1352550" y="3562350"/>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0B0F14"/>
                </a:solidFill>
              </a:defRPr>
            </a:pPr>
            <a:r>
              <a:rPr sz="1800" b="1">
                <a:solidFill>
                  <a:srgbClr val="0B0F14"/>
                </a:solidFill>
              </a:rPr>
              <a:t>Origin and nonce</a:t>
            </a:r>
          </a:p>
        </p:txBody>
      </p:sp>
      <p:sp>
        <p:nvSpPr>
          <p:cNvPr id="12" name="">
            <a:extLst xmlns:a="http://schemas.openxmlformats.org/drawingml/2006/main">
              <a:ext uri="{FF2B5EF4-FFF2-40B4-BE49-F238E27FC236}">
                <a16:creationId xmlns:a16="http://schemas.microsoft.com/office/drawing/2014/main" id="{D3A0009C-2181-4BF1-8A31-3EB80A44D5F0}"/>
              </a:ext>
            </a:extLst>
          </p:cNvPr>
          <p:cNvSpPr>
            <a:spLocks xmlns:a="http://schemas.openxmlformats.org/drawingml/2006/main" noGrp="1"/>
          </p:cNvSpPr>
          <p:nvPr/>
        </p:nvSpPr>
        <p:spPr>
          <a:xfrm xmlns:a="http://schemas.openxmlformats.org/drawingml/2006/main">
            <a:off x="4429125" y="3562350"/>
            <a:ext cx="6762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555555"/>
                </a:solidFill>
              </a:defRPr>
            </a:pPr>
            <a:r>
              <a:rPr sz="1350" b="0">
                <a:solidFill>
                  <a:srgbClr val="555555"/>
                </a:solidFill>
              </a:rPr>
              <a:t>Validate receiver window, receiver origin, partnerId, opener origin, and one-time nonce.</a:t>
            </a:r>
          </a:p>
        </p:txBody>
      </p:sp>
      <p:sp>
        <p:nvSpPr>
          <p:cNvPr id="13" name="">
            <a:extLst xmlns:a="http://schemas.openxmlformats.org/drawingml/2006/main">
              <a:ext uri="{FF2B5EF4-FFF2-40B4-BE49-F238E27FC236}">
                <a16:creationId xmlns:a16="http://schemas.microsoft.com/office/drawing/2014/main" id="{8A2C0B64-42BD-4A0D-B06D-165056AAB11F}"/>
              </a:ext>
            </a:extLst>
          </p:cNvPr>
          <p:cNvSpPr>
            <a:spLocks xmlns:a="http://schemas.openxmlformats.org/drawingml/2006/main" noGrp="1"/>
          </p:cNvSpPr>
          <p:nvPr/>
        </p:nvSpPr>
        <p:spPr>
          <a:xfrm xmlns:a="http://schemas.openxmlformats.org/drawingml/2006/main">
            <a:off x="685800" y="4314825"/>
            <a:ext cx="438150" cy="438150"/>
          </a:xfrm>
          <a:prstGeom xmlns:a="http://schemas.openxmlformats.org/drawingml/2006/main" prst="rect">
            <a:avLst/>
          </a:prstGeom>
          <a:solidFill xmlns:a="http://schemas.openxmlformats.org/drawingml/2006/main">
            <a:srgbClr val="0B0F14"/>
          </a:solidFill>
          <a:ln xmlns:a="http://schemas.openxmlformats.org/drawingml/2006/main" w="9525">
            <a:solidFill>
              <a:srgbClr val="0B0F1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FFFFF"/>
                </a:solidFill>
              </a:defRPr>
            </a:pPr>
            <a:r>
              <a:rPr sz="1650" b="1">
                <a:solidFill>
                  <a:srgbClr val="FFFFFF"/>
                </a:solidFill>
              </a:rPr>
              <a:t>4</a:t>
            </a:r>
          </a:p>
        </p:txBody>
      </p:sp>
      <p:sp>
        <p:nvSpPr>
          <p:cNvPr id="14" name="">
            <a:extLst xmlns:a="http://schemas.openxmlformats.org/drawingml/2006/main">
              <a:ext uri="{FF2B5EF4-FFF2-40B4-BE49-F238E27FC236}">
                <a16:creationId xmlns:a16="http://schemas.microsoft.com/office/drawing/2014/main" id="{8C397180-E8BC-4F4B-8C08-E92C40D9BC61}"/>
              </a:ext>
            </a:extLst>
          </p:cNvPr>
          <p:cNvSpPr>
            <a:spLocks xmlns:a="http://schemas.openxmlformats.org/drawingml/2006/main" noGrp="1"/>
          </p:cNvSpPr>
          <p:nvPr/>
        </p:nvSpPr>
        <p:spPr>
          <a:xfrm xmlns:a="http://schemas.openxmlformats.org/drawingml/2006/main">
            <a:off x="1352550" y="4295775"/>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0B0F14"/>
                </a:solidFill>
              </a:defRPr>
            </a:pPr>
            <a:r>
              <a:rPr sz="1800" b="1">
                <a:solidFill>
                  <a:srgbClr val="0B0F14"/>
                </a:solidFill>
              </a:rPr>
              <a:t>Payload + metadata</a:t>
            </a:r>
          </a:p>
        </p:txBody>
      </p:sp>
      <p:sp>
        <p:nvSpPr>
          <p:cNvPr id="15" name="">
            <a:extLst xmlns:a="http://schemas.openxmlformats.org/drawingml/2006/main">
              <a:ext uri="{FF2B5EF4-FFF2-40B4-BE49-F238E27FC236}">
                <a16:creationId xmlns:a16="http://schemas.microsoft.com/office/drawing/2014/main" id="{61EA8A39-6F1E-442B-8486-779F478D60FB}"/>
              </a:ext>
            </a:extLst>
          </p:cNvPr>
          <p:cNvSpPr>
            <a:spLocks xmlns:a="http://schemas.openxmlformats.org/drawingml/2006/main" noGrp="1"/>
          </p:cNvSpPr>
          <p:nvPr/>
        </p:nvSpPr>
        <p:spPr>
          <a:xfrm xmlns:a="http://schemas.openxmlformats.org/drawingml/2006/main">
            <a:off x="4429125" y="4295775"/>
            <a:ext cx="6762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555555"/>
                </a:solidFill>
              </a:defRPr>
            </a:pPr>
            <a:r>
              <a:rPr sz="1350" b="0">
                <a:solidFill>
                  <a:srgbClr val="555555"/>
                </a:solidFill>
              </a:rPr>
              <a:t>Enforce schema, allowed kinds, file count, byte limits, blocked content, and allowlisted metadata with a size cap.</a:t>
            </a:r>
          </a:p>
        </p:txBody>
      </p:sp>
      <p:sp>
        <p:nvSpPr>
          <p:cNvPr id="16" name="">
            <a:extLst xmlns:a="http://schemas.openxmlformats.org/drawingml/2006/main">
              <a:ext uri="{FF2B5EF4-FFF2-40B4-BE49-F238E27FC236}">
                <a16:creationId xmlns:a16="http://schemas.microsoft.com/office/drawing/2014/main" id="{D22DC11C-1272-4A1E-A818-4059ED9750FF}"/>
              </a:ext>
            </a:extLst>
          </p:cNvPr>
          <p:cNvSpPr>
            <a:spLocks xmlns:a="http://schemas.openxmlformats.org/drawingml/2006/main" noGrp="1"/>
          </p:cNvSpPr>
          <p:nvPr/>
        </p:nvSpPr>
        <p:spPr>
          <a:xfrm xmlns:a="http://schemas.openxmlformats.org/drawingml/2006/main">
            <a:off x="685800" y="5048250"/>
            <a:ext cx="438150" cy="438150"/>
          </a:xfrm>
          <a:prstGeom xmlns:a="http://schemas.openxmlformats.org/drawingml/2006/main" prst="rect">
            <a:avLst/>
          </a:prstGeom>
          <a:solidFill xmlns:a="http://schemas.openxmlformats.org/drawingml/2006/main">
            <a:srgbClr val="0B0F14"/>
          </a:solidFill>
          <a:ln xmlns:a="http://schemas.openxmlformats.org/drawingml/2006/main" w="9525">
            <a:solidFill>
              <a:srgbClr val="0B0F1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FFFFF"/>
                </a:solidFill>
              </a:defRPr>
            </a:pPr>
            <a:r>
              <a:rPr sz="1650" b="1">
                <a:solidFill>
                  <a:srgbClr val="FFFFFF"/>
                </a:solidFill>
              </a:rPr>
              <a:t>5</a:t>
            </a:r>
          </a:p>
        </p:txBody>
      </p:sp>
      <p:sp>
        <p:nvSpPr>
          <p:cNvPr id="17" name="">
            <a:extLst xmlns:a="http://schemas.openxmlformats.org/drawingml/2006/main">
              <a:ext uri="{FF2B5EF4-FFF2-40B4-BE49-F238E27FC236}">
                <a16:creationId xmlns:a16="http://schemas.microsoft.com/office/drawing/2014/main" id="{9DE60366-05A8-4C64-9E60-3E8B6595002F}"/>
              </a:ext>
            </a:extLst>
          </p:cNvPr>
          <p:cNvSpPr>
            <a:spLocks xmlns:a="http://schemas.openxmlformats.org/drawingml/2006/main" noGrp="1"/>
          </p:cNvSpPr>
          <p:nvPr/>
        </p:nvSpPr>
        <p:spPr>
          <a:xfrm xmlns:a="http://schemas.openxmlformats.org/drawingml/2006/main">
            <a:off x="1352550" y="5029200"/>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0B0F14"/>
                </a:solidFill>
              </a:defRPr>
            </a:pPr>
            <a:r>
              <a:rPr sz="1800" b="1">
                <a:solidFill>
                  <a:srgbClr val="0B0F14"/>
                </a:solidFill>
              </a:rPr>
              <a:t>Storage lifecycle</a:t>
            </a:r>
          </a:p>
        </p:txBody>
      </p:sp>
      <p:sp>
        <p:nvSpPr>
          <p:cNvPr id="18" name="">
            <a:extLst xmlns:a="http://schemas.openxmlformats.org/drawingml/2006/main">
              <a:ext uri="{FF2B5EF4-FFF2-40B4-BE49-F238E27FC236}">
                <a16:creationId xmlns:a16="http://schemas.microsoft.com/office/drawing/2014/main" id="{DCA88FDE-33A4-40BE-9F51-8A02D3F3BA89}"/>
              </a:ext>
            </a:extLst>
          </p:cNvPr>
          <p:cNvSpPr>
            <a:spLocks xmlns:a="http://schemas.openxmlformats.org/drawingml/2006/main" noGrp="1"/>
          </p:cNvSpPr>
          <p:nvPr/>
        </p:nvSpPr>
        <p:spPr>
          <a:xfrm xmlns:a="http://schemas.openxmlformats.org/drawingml/2006/main">
            <a:off x="4429125" y="5029200"/>
            <a:ext cx="6762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555555"/>
                </a:solidFill>
              </a:defRPr>
            </a:pPr>
            <a:r>
              <a:rPr sz="1350" b="0">
                <a:solidFill>
                  <a:srgbClr val="555555"/>
                </a:solidFill>
              </a:rPr>
              <a:t>Use short TTL; delete on consume/error; clean stale records at startup or before a later handoff.</a:t>
            </a:r>
          </a:p>
        </p:txBody>
      </p:sp>
      <p:sp>
        <p:nvSpPr>
          <p:cNvPr id="19" name="">
            <a:extLst xmlns:a="http://schemas.openxmlformats.org/drawingml/2006/main">
              <a:ext uri="{FF2B5EF4-FFF2-40B4-BE49-F238E27FC236}">
                <a16:creationId xmlns:a16="http://schemas.microsoft.com/office/drawing/2014/main" id="{1FE40984-F0A8-49A4-B4ED-B6107DAE1A1F}"/>
              </a:ext>
            </a:extLst>
          </p:cNvPr>
          <p:cNvSpPr>
            <a:spLocks xmlns:a="http://schemas.openxmlformats.org/drawingml/2006/main" noGrp="1"/>
          </p:cNvSpPr>
          <p:nvPr/>
        </p:nvSpPr>
        <p:spPr>
          <a:xfrm xmlns:a="http://schemas.openxmlformats.org/drawingml/2006/main">
            <a:off x="11287125" y="6286500"/>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200" b="0">
                <a:solidFill>
                  <a:srgbClr val="555555"/>
                </a:solidFill>
              </a:defRPr>
            </a:pPr>
            <a:r>
              <a:rPr sz="1200" b="0">
                <a:solidFill>
                  <a:srgbClr val="555555"/>
                </a:solidFill>
              </a:rPr>
              <a:t>06</a:t>
            </a:r>
          </a:p>
        </p:txBody>
      </p:sp>
    </p:spTree>
    <p:extLst>
      <p:ext uri="{BB962C8B-B14F-4D97-AF65-F5344CB8AC3E}">
        <p14:creationId xmlns:p14="http://schemas.microsoft.com/office/powerpoint/2010/main" val="162666830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1AEC565-A8FB-4CEA-9A9D-C30E96BD6DC7}"/>
              </a:ext>
            </a:extLst>
          </p:cNvPr>
          <p:cNvSpPr>
            <a:spLocks xmlns:a="http://schemas.openxmlformats.org/drawingml/2006/main" noGrp="1"/>
          </p:cNvSpPr>
          <p:nvPr/>
        </p:nvSpPr>
        <p:spPr>
          <a:xfrm xmlns:a="http://schemas.openxmlformats.org/drawingml/2006/main">
            <a:off x="400050" y="3238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555555"/>
                </a:solidFill>
              </a:defRPr>
            </a:pPr>
            <a:r>
              <a:rPr sz="1200" b="1">
                <a:solidFill>
                  <a:srgbClr val="555555"/>
                </a:solidFill>
              </a:rPr>
              <a:t>MICROBETRACE PARTNER EMBED</a:t>
            </a:r>
          </a:p>
        </p:txBody>
      </p:sp>
      <p:sp>
        <p:nvSpPr>
          <p:cNvPr id="2" name="">
            <a:extLst xmlns:a="http://schemas.openxmlformats.org/drawingml/2006/main">
              <a:ext uri="{FF2B5EF4-FFF2-40B4-BE49-F238E27FC236}">
                <a16:creationId xmlns:a16="http://schemas.microsoft.com/office/drawing/2014/main" id="{4EE87BD5-96CD-4A07-9D2B-D60B3962688F}"/>
              </a:ext>
            </a:extLst>
          </p:cNvPr>
          <p:cNvSpPr>
            <a:spLocks xmlns:a="http://schemas.openxmlformats.org/drawingml/2006/main" noGrp="1"/>
          </p:cNvSpPr>
          <p:nvPr/>
        </p:nvSpPr>
        <p:spPr>
          <a:xfrm xmlns:a="http://schemas.openxmlformats.org/drawingml/2006/main">
            <a:off x="400050" y="723900"/>
            <a:ext cx="10001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4"/>
                </a:solidFill>
              </a:defRPr>
            </a:pPr>
            <a:r>
              <a:rPr sz="3150" b="1">
                <a:solidFill>
                  <a:srgbClr val="0B0F14"/>
                </a:solidFill>
              </a:rPr>
              <a:t>Launch controls close avoidable leakage paths</a:t>
            </a:r>
          </a:p>
        </p:txBody>
      </p:sp>
      <p:sp>
        <p:nvSpPr>
          <p:cNvPr id="3" name="">
            <a:extLst xmlns:a="http://schemas.openxmlformats.org/drawingml/2006/main">
              <a:ext uri="{FF2B5EF4-FFF2-40B4-BE49-F238E27FC236}">
                <a16:creationId xmlns:a16="http://schemas.microsoft.com/office/drawing/2014/main" id="{7D3487BF-4489-451B-9310-0C01BE5A20F9}"/>
              </a:ext>
            </a:extLst>
          </p:cNvPr>
          <p:cNvSpPr>
            <a:spLocks xmlns:a="http://schemas.openxmlformats.org/drawingml/2006/main" noGrp="1"/>
          </p:cNvSpPr>
          <p:nvPr/>
        </p:nvSpPr>
        <p:spPr>
          <a:xfrm xmlns:a="http://schemas.openxmlformats.org/drawingml/2006/main">
            <a:off x="419100" y="1562100"/>
            <a:ext cx="857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a:solidFill>
                  <a:srgbClr val="555555"/>
                </a:solidFill>
              </a:defRPr>
            </a:pPr>
            <a:r>
              <a:rPr sz="1650" b="0">
                <a:solidFill>
                  <a:srgbClr val="555555"/>
                </a:solidFill>
              </a:rPr>
              <a:t>Fragments, tag suppression, receipt redaction, and export escaping work together to reduce leakage.</a:t>
            </a:r>
          </a:p>
        </p:txBody>
      </p:sp>
      <p:sp>
        <p:nvSpPr>
          <p:cNvPr id="4" name="">
            <a:extLst xmlns:a="http://schemas.openxmlformats.org/drawingml/2006/main">
              <a:ext uri="{FF2B5EF4-FFF2-40B4-BE49-F238E27FC236}">
                <a16:creationId xmlns:a16="http://schemas.microsoft.com/office/drawing/2014/main" id="{EF49CA3A-A01F-42C6-BB9B-D13A6092DECC}"/>
              </a:ext>
            </a:extLst>
          </p:cNvPr>
          <p:cNvSpPr>
            <a:spLocks xmlns:a="http://schemas.openxmlformats.org/drawingml/2006/main" noGrp="1"/>
          </p:cNvSpPr>
          <p:nvPr/>
        </p:nvSpPr>
        <p:spPr>
          <a:xfrm xmlns:a="http://schemas.openxmlformats.org/drawingml/2006/main">
            <a:off x="400050" y="2266950"/>
            <a:ext cx="5429250" cy="3429000"/>
          </a:xfrm>
          <a:prstGeom xmlns:a="http://schemas.openxmlformats.org/drawingml/2006/main" prst="rect">
            <a:avLst/>
          </a:prstGeom>
          <a:solidFill xmlns:a="http://schemas.openxmlformats.org/drawingml/2006/main">
            <a:srgbClr val="F6F7F8"/>
          </a:solidFill>
          <a:ln xmlns:a="http://schemas.openxmlformats.org/drawingml/2006/main" w="9525">
            <a:noFill/>
            <a:prstDash val="solid"/>
          </a:ln>
        </p:spPr>
      </p:sp>
      <p:sp>
        <p:nvSpPr>
          <p:cNvPr id="5" name="">
            <a:extLst xmlns:a="http://schemas.openxmlformats.org/drawingml/2006/main">
              <a:ext uri="{FF2B5EF4-FFF2-40B4-BE49-F238E27FC236}">
                <a16:creationId xmlns:a16="http://schemas.microsoft.com/office/drawing/2014/main" id="{823AB16A-F709-45B8-8AAA-1F99FFB0A8CB}"/>
              </a:ext>
            </a:extLst>
          </p:cNvPr>
          <p:cNvSpPr>
            <a:spLocks xmlns:a="http://schemas.openxmlformats.org/drawingml/2006/main" noGrp="1"/>
          </p:cNvSpPr>
          <p:nvPr/>
        </p:nvSpPr>
        <p:spPr>
          <a:xfrm xmlns:a="http://schemas.openxmlformats.org/drawingml/2006/main">
            <a:off x="6362700" y="2266950"/>
            <a:ext cx="5429250" cy="3429000"/>
          </a:xfrm>
          <a:prstGeom xmlns:a="http://schemas.openxmlformats.org/drawingml/2006/main" prst="rect">
            <a:avLst/>
          </a:prstGeom>
          <a:solidFill xmlns:a="http://schemas.openxmlformats.org/drawingml/2006/main">
            <a:srgbClr val="F6F7F8"/>
          </a:solidFill>
          <a:ln xmlns:a="http://schemas.openxmlformats.org/drawingml/2006/main" w="9525">
            <a:noFill/>
            <a:prstDash val="solid"/>
          </a:ln>
        </p:spPr>
      </p:sp>
      <p:sp>
        <p:nvSpPr>
          <p:cNvPr id="6" name="">
            <a:extLst xmlns:a="http://schemas.openxmlformats.org/drawingml/2006/main">
              <a:ext uri="{FF2B5EF4-FFF2-40B4-BE49-F238E27FC236}">
                <a16:creationId xmlns:a16="http://schemas.microsoft.com/office/drawing/2014/main" id="{76E42A67-8ED3-4A78-B5CA-8C54C2D70686}"/>
              </a:ext>
            </a:extLst>
          </p:cNvPr>
          <p:cNvSpPr>
            <a:spLocks xmlns:a="http://schemas.openxmlformats.org/drawingml/2006/main" noGrp="1"/>
          </p:cNvSpPr>
          <p:nvPr/>
        </p:nvSpPr>
        <p:spPr>
          <a:xfrm xmlns:a="http://schemas.openxmlformats.org/drawingml/2006/main">
            <a:off x="685800" y="255270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0B0F14"/>
                </a:solidFill>
              </a:defRPr>
            </a:pPr>
            <a:r>
              <a:rPr sz="1950" b="1">
                <a:solidFill>
                  <a:srgbClr val="0B0F14"/>
                </a:solidFill>
              </a:rPr>
              <a:t>Handoff leakage controls</a:t>
            </a:r>
          </a:p>
        </p:txBody>
      </p:sp>
      <p:sp>
        <p:nvSpPr>
          <p:cNvPr id="7" name="">
            <a:extLst xmlns:a="http://schemas.openxmlformats.org/drawingml/2006/main">
              <a:ext uri="{FF2B5EF4-FFF2-40B4-BE49-F238E27FC236}">
                <a16:creationId xmlns:a16="http://schemas.microsoft.com/office/drawing/2014/main" id="{023B31D2-98D7-4DD1-8D29-B59FA35A675D}"/>
              </a:ext>
            </a:extLst>
          </p:cNvPr>
          <p:cNvSpPr>
            <a:spLocks xmlns:a="http://schemas.openxmlformats.org/drawingml/2006/main" noGrp="1"/>
          </p:cNvSpPr>
          <p:nvPr/>
        </p:nvSpPr>
        <p:spPr>
          <a:xfrm xmlns:a="http://schemas.openxmlformats.org/drawingml/2006/main">
            <a:off x="6648450" y="255270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0B0F14"/>
                </a:solidFill>
              </a:defRPr>
            </a:pPr>
            <a:r>
              <a:rPr sz="1950" b="1">
                <a:solidFill>
                  <a:srgbClr val="0B0F14"/>
                </a:solidFill>
              </a:rPr>
              <a:t>Receipt logging and spreadsheet exports</a:t>
            </a:r>
          </a:p>
        </p:txBody>
      </p:sp>
      <p:sp>
        <p:nvSpPr>
          <p:cNvPr id="8" name="">
            <a:extLst xmlns:a="http://schemas.openxmlformats.org/drawingml/2006/main">
              <a:ext uri="{FF2B5EF4-FFF2-40B4-BE49-F238E27FC236}">
                <a16:creationId xmlns:a16="http://schemas.microsoft.com/office/drawing/2014/main" id="{68B0C423-0D25-4454-B0DE-198B2AD1F550}"/>
              </a:ext>
            </a:extLst>
          </p:cNvPr>
          <p:cNvSpPr>
            <a:spLocks xmlns:a="http://schemas.openxmlformats.org/drawingml/2006/main" noGrp="1"/>
          </p:cNvSpPr>
          <p:nvPr/>
        </p:nvSpPr>
        <p:spPr>
          <a:xfrm xmlns:a="http://schemas.openxmlformats.org/drawingml/2006/main">
            <a:off x="723900" y="3076575"/>
            <a:ext cx="95250" cy="95250"/>
          </a:xfrm>
          <a:prstGeom xmlns:a="http://schemas.openxmlformats.org/drawingml/2006/main" prst="rect">
            <a:avLst/>
          </a:prstGeom>
          <a:solidFill xmlns:a="http://schemas.openxmlformats.org/drawingml/2006/main">
            <a:srgbClr val="FF6B35"/>
          </a:solidFill>
          <a:ln xmlns:a="http://schemas.openxmlformats.org/drawingml/2006/main" w="9525">
            <a:solidFill>
              <a:srgbClr val="FF6B35"/>
            </a:solidFill>
            <a:prstDash val="solid"/>
          </a:ln>
        </p:spPr>
      </p:sp>
      <p:sp>
        <p:nvSpPr>
          <p:cNvPr id="9" name="">
            <a:extLst xmlns:a="http://schemas.openxmlformats.org/drawingml/2006/main">
              <a:ext uri="{FF2B5EF4-FFF2-40B4-BE49-F238E27FC236}">
                <a16:creationId xmlns:a16="http://schemas.microsoft.com/office/drawing/2014/main" id="{C0DD9DFC-656E-413D-8733-F8D381B906A0}"/>
              </a:ext>
            </a:extLst>
          </p:cNvPr>
          <p:cNvSpPr>
            <a:spLocks xmlns:a="http://schemas.openxmlformats.org/drawingml/2006/main" noGrp="1"/>
          </p:cNvSpPr>
          <p:nvPr/>
        </p:nvSpPr>
        <p:spPr>
          <a:xfrm xmlns:a="http://schemas.openxmlformats.org/drawingml/2006/main">
            <a:off x="962025" y="3000375"/>
            <a:ext cx="45243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0B0F14"/>
                </a:solidFill>
              </a:defRPr>
            </a:pPr>
            <a:r>
              <a:rPr sz="1500" b="0">
                <a:solidFill>
                  <a:srgbClr val="0B0F14"/>
                </a:solidFill>
              </a:rPr>
              <a:t>Launches use URL fragments instead of query bearer references</a:t>
            </a:r>
          </a:p>
          <a:p xmlns:a="http://schemas.openxmlformats.org/drawingml/2006/main">
            <a:pPr algn="l">
              <a:buNone/>
              <a:defRPr sz="1500" b="0">
                <a:solidFill>
                  <a:srgbClr val="0B0F14"/>
                </a:solidFill>
              </a:defRPr>
            </a:pPr>
            <a:r>
              <a:rPr sz="1500" b="0">
                <a:solidFill>
                  <a:srgbClr val="0B0F14"/>
                </a:solidFill>
              </a:rPr>
              <a:t>(/#handoff=abc123; not /?handoff=abc123)</a:t>
            </a:r>
          </a:p>
        </p:txBody>
      </p:sp>
      <p:sp>
        <p:nvSpPr>
          <p:cNvPr id="10" name="">
            <a:extLst xmlns:a="http://schemas.openxmlformats.org/drawingml/2006/main">
              <a:ext uri="{FF2B5EF4-FFF2-40B4-BE49-F238E27FC236}">
                <a16:creationId xmlns:a16="http://schemas.microsoft.com/office/drawing/2014/main" id="{44F3FB80-05B7-436E-961F-B72797CB4D50}"/>
              </a:ext>
            </a:extLst>
          </p:cNvPr>
          <p:cNvSpPr>
            <a:spLocks xmlns:a="http://schemas.openxmlformats.org/drawingml/2006/main" noGrp="1"/>
          </p:cNvSpPr>
          <p:nvPr/>
        </p:nvSpPr>
        <p:spPr>
          <a:xfrm xmlns:a="http://schemas.openxmlformats.org/drawingml/2006/main">
            <a:off x="723900" y="3933825"/>
            <a:ext cx="95250" cy="95250"/>
          </a:xfrm>
          <a:prstGeom xmlns:a="http://schemas.openxmlformats.org/drawingml/2006/main" prst="rect">
            <a:avLst/>
          </a:prstGeom>
          <a:solidFill xmlns:a="http://schemas.openxmlformats.org/drawingml/2006/main">
            <a:srgbClr val="FF6B35"/>
          </a:solidFill>
          <a:ln xmlns:a="http://schemas.openxmlformats.org/drawingml/2006/main" w="9525">
            <a:solidFill>
              <a:srgbClr val="FF6B35"/>
            </a:solidFill>
            <a:prstDash val="solid"/>
          </a:ln>
        </p:spPr>
      </p:sp>
      <p:sp>
        <p:nvSpPr>
          <p:cNvPr id="11" name="">
            <a:extLst xmlns:a="http://schemas.openxmlformats.org/drawingml/2006/main">
              <a:ext uri="{FF2B5EF4-FFF2-40B4-BE49-F238E27FC236}">
                <a16:creationId xmlns:a16="http://schemas.microsoft.com/office/drawing/2014/main" id="{B677E69F-C4F1-494C-B05F-81C48A20EB13}"/>
              </a:ext>
            </a:extLst>
          </p:cNvPr>
          <p:cNvSpPr>
            <a:spLocks xmlns:a="http://schemas.openxmlformats.org/drawingml/2006/main" noGrp="1"/>
          </p:cNvSpPr>
          <p:nvPr/>
        </p:nvSpPr>
        <p:spPr>
          <a:xfrm xmlns:a="http://schemas.openxmlformats.org/drawingml/2006/main">
            <a:off x="962025" y="3857625"/>
            <a:ext cx="4524375"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0B0F14"/>
                </a:solidFill>
              </a:defRPr>
            </a:pPr>
            <a:r>
              <a:rPr sz="1500" b="0">
                <a:solidFill>
                  <a:srgbClr val="0B0F14"/>
                </a:solidFill>
              </a:rPr>
              <a:t>Query-form handoffs are consumed and cleaned</a:t>
            </a:r>
          </a:p>
          <a:p xmlns:a="http://schemas.openxmlformats.org/drawingml/2006/main">
            <a:pPr algn="l">
              <a:buNone/>
              <a:defRPr sz="1500" b="0">
                <a:solidFill>
                  <a:srgbClr val="0B0F14"/>
                </a:solidFill>
              </a:defRPr>
            </a:pPr>
            <a:r>
              <a:rPr sz="1500" b="0">
                <a:solidFill>
                  <a:srgbClr val="0B0F14"/>
                </a:solidFill>
              </a:rPr>
              <a:t>(/?handoff=abc123 -&gt; / after consume)</a:t>
            </a:r>
          </a:p>
        </p:txBody>
      </p:sp>
      <p:sp>
        <p:nvSpPr>
          <p:cNvPr id="12" name="">
            <a:extLst xmlns:a="http://schemas.openxmlformats.org/drawingml/2006/main">
              <a:ext uri="{FF2B5EF4-FFF2-40B4-BE49-F238E27FC236}">
                <a16:creationId xmlns:a16="http://schemas.microsoft.com/office/drawing/2014/main" id="{E5824650-320D-491C-994B-7D23502745F9}"/>
              </a:ext>
            </a:extLst>
          </p:cNvPr>
          <p:cNvSpPr>
            <a:spLocks xmlns:a="http://schemas.openxmlformats.org/drawingml/2006/main" noGrp="1"/>
          </p:cNvSpPr>
          <p:nvPr/>
        </p:nvSpPr>
        <p:spPr>
          <a:xfrm xmlns:a="http://schemas.openxmlformats.org/drawingml/2006/main">
            <a:off x="723900" y="4743450"/>
            <a:ext cx="95250" cy="95250"/>
          </a:xfrm>
          <a:prstGeom xmlns:a="http://schemas.openxmlformats.org/drawingml/2006/main" prst="rect">
            <a:avLst/>
          </a:prstGeom>
          <a:solidFill xmlns:a="http://schemas.openxmlformats.org/drawingml/2006/main">
            <a:srgbClr val="FF6B35"/>
          </a:solidFill>
          <a:ln xmlns:a="http://schemas.openxmlformats.org/drawingml/2006/main" w="9525">
            <a:solidFill>
              <a:srgbClr val="FF6B35"/>
            </a:solidFill>
            <a:prstDash val="solid"/>
          </a:ln>
        </p:spPr>
      </p:sp>
      <p:sp>
        <p:nvSpPr>
          <p:cNvPr id="13" name="">
            <a:extLst xmlns:a="http://schemas.openxmlformats.org/drawingml/2006/main">
              <a:ext uri="{FF2B5EF4-FFF2-40B4-BE49-F238E27FC236}">
                <a16:creationId xmlns:a16="http://schemas.microsoft.com/office/drawing/2014/main" id="{03D31E64-2B2C-49FE-AF3D-37088D50F171}"/>
              </a:ext>
            </a:extLst>
          </p:cNvPr>
          <p:cNvSpPr>
            <a:spLocks xmlns:a="http://schemas.openxmlformats.org/drawingml/2006/main" noGrp="1"/>
          </p:cNvSpPr>
          <p:nvPr/>
        </p:nvSpPr>
        <p:spPr>
          <a:xfrm xmlns:a="http://schemas.openxmlformats.org/drawingml/2006/main">
            <a:off x="962025" y="4667250"/>
            <a:ext cx="452437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0B0F14"/>
                </a:solidFill>
              </a:defRPr>
            </a:pPr>
            <a:r>
              <a:rPr sz="1500" b="0">
                <a:solidFill>
                  <a:srgbClr val="0B0F14"/>
                </a:solidFill>
              </a:rPr>
              <a:t>Third-party tags stay off until handoff cleanup</a:t>
            </a:r>
          </a:p>
          <a:p xmlns:a="http://schemas.openxmlformats.org/drawingml/2006/main">
            <a:pPr algn="l">
              <a:buNone/>
              <a:defRPr sz="1500" b="0">
                <a:solidFill>
                  <a:srgbClr val="0B0F14"/>
                </a:solidFill>
              </a:defRPr>
            </a:pPr>
            <a:r>
              <a:rPr sz="1500" b="0">
                <a:solidFill>
                  <a:srgbClr val="0B0F14"/>
                </a:solidFill>
              </a:rPr>
              <a:t>(no gtag/GTM before the reference is removed)</a:t>
            </a:r>
          </a:p>
        </p:txBody>
      </p:sp>
      <p:sp>
        <p:nvSpPr>
          <p:cNvPr id="14" name="">
            <a:extLst xmlns:a="http://schemas.openxmlformats.org/drawingml/2006/main">
              <a:ext uri="{FF2B5EF4-FFF2-40B4-BE49-F238E27FC236}">
                <a16:creationId xmlns:a16="http://schemas.microsoft.com/office/drawing/2014/main" id="{5EDB1270-D5D9-43D0-8912-2A01ED3C157F}"/>
              </a:ext>
            </a:extLst>
          </p:cNvPr>
          <p:cNvSpPr>
            <a:spLocks xmlns:a="http://schemas.openxmlformats.org/drawingml/2006/main" noGrp="1"/>
          </p:cNvSpPr>
          <p:nvPr/>
        </p:nvSpPr>
        <p:spPr>
          <a:xfrm xmlns:a="http://schemas.openxmlformats.org/drawingml/2006/main">
            <a:off x="6686550" y="3076575"/>
            <a:ext cx="95250" cy="95250"/>
          </a:xfrm>
          <a:prstGeom xmlns:a="http://schemas.openxmlformats.org/drawingml/2006/main" prst="rect">
            <a:avLst/>
          </a:prstGeom>
          <a:solidFill xmlns:a="http://schemas.openxmlformats.org/drawingml/2006/main">
            <a:srgbClr val="1E5B99"/>
          </a:solidFill>
          <a:ln xmlns:a="http://schemas.openxmlformats.org/drawingml/2006/main" w="9525">
            <a:solidFill>
              <a:srgbClr val="1E5B99"/>
            </a:solidFill>
            <a:prstDash val="solid"/>
          </a:ln>
        </p:spPr>
      </p:sp>
      <p:sp>
        <p:nvSpPr>
          <p:cNvPr id="15" name="">
            <a:extLst xmlns:a="http://schemas.openxmlformats.org/drawingml/2006/main">
              <a:ext uri="{FF2B5EF4-FFF2-40B4-BE49-F238E27FC236}">
                <a16:creationId xmlns:a16="http://schemas.microsoft.com/office/drawing/2014/main" id="{C439EC8B-4308-46DC-93AA-E1A7AFFC2D68}"/>
              </a:ext>
            </a:extLst>
          </p:cNvPr>
          <p:cNvSpPr>
            <a:spLocks xmlns:a="http://schemas.openxmlformats.org/drawingml/2006/main" noGrp="1"/>
          </p:cNvSpPr>
          <p:nvPr/>
        </p:nvSpPr>
        <p:spPr>
          <a:xfrm xmlns:a="http://schemas.openxmlformats.org/drawingml/2006/main">
            <a:off x="6924675" y="3000375"/>
            <a:ext cx="45243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0B0F14"/>
                </a:solidFill>
              </a:defRPr>
            </a:pPr>
            <a:r>
              <a:rPr sz="1500" b="0">
                <a:solidFill>
                  <a:srgbClr val="0B0F14"/>
                </a:solidFill>
              </a:rPr>
              <a:t>Never log raw handoff references</a:t>
            </a:r>
          </a:p>
          <a:p xmlns:a="http://schemas.openxmlformats.org/drawingml/2006/main">
            <a:pPr algn="l">
              <a:buNone/>
              <a:defRPr sz="1500" b="0">
                <a:solidFill>
                  <a:srgbClr val="0B0F14"/>
                </a:solidFill>
              </a:defRPr>
            </a:pPr>
            <a:r>
              <a:rPr sz="1500" b="0">
                <a:solidFill>
                  <a:srgbClr val="0B0F14"/>
                </a:solidFill>
              </a:rPr>
              <a:t>(no handoffId=abc123 or receiverUrl=...&amp;nonce=xyz)</a:t>
            </a:r>
          </a:p>
        </p:txBody>
      </p:sp>
      <p:sp>
        <p:nvSpPr>
          <p:cNvPr id="16" name="">
            <a:extLst xmlns:a="http://schemas.openxmlformats.org/drawingml/2006/main">
              <a:ext uri="{FF2B5EF4-FFF2-40B4-BE49-F238E27FC236}">
                <a16:creationId xmlns:a16="http://schemas.microsoft.com/office/drawing/2014/main" id="{1B4B4483-19C7-4A94-94EA-3E372CBB6D6C}"/>
              </a:ext>
            </a:extLst>
          </p:cNvPr>
          <p:cNvSpPr>
            <a:spLocks xmlns:a="http://schemas.openxmlformats.org/drawingml/2006/main" noGrp="1"/>
          </p:cNvSpPr>
          <p:nvPr/>
        </p:nvSpPr>
        <p:spPr>
          <a:xfrm xmlns:a="http://schemas.openxmlformats.org/drawingml/2006/main">
            <a:off x="6686550" y="3933825"/>
            <a:ext cx="95250" cy="95250"/>
          </a:xfrm>
          <a:prstGeom xmlns:a="http://schemas.openxmlformats.org/drawingml/2006/main" prst="rect">
            <a:avLst/>
          </a:prstGeom>
          <a:solidFill xmlns:a="http://schemas.openxmlformats.org/drawingml/2006/main">
            <a:srgbClr val="1E5B99"/>
          </a:solidFill>
          <a:ln xmlns:a="http://schemas.openxmlformats.org/drawingml/2006/main" w="9525">
            <a:solidFill>
              <a:srgbClr val="1E5B99"/>
            </a:solidFill>
            <a:prstDash val="solid"/>
          </a:ln>
        </p:spPr>
      </p:sp>
      <p:sp>
        <p:nvSpPr>
          <p:cNvPr id="17" name="">
            <a:extLst xmlns:a="http://schemas.openxmlformats.org/drawingml/2006/main">
              <a:ext uri="{FF2B5EF4-FFF2-40B4-BE49-F238E27FC236}">
                <a16:creationId xmlns:a16="http://schemas.microsoft.com/office/drawing/2014/main" id="{D04F9095-4306-4EA7-A517-1A8D0F3B8C65}"/>
              </a:ext>
            </a:extLst>
          </p:cNvPr>
          <p:cNvSpPr>
            <a:spLocks xmlns:a="http://schemas.openxmlformats.org/drawingml/2006/main" noGrp="1"/>
          </p:cNvSpPr>
          <p:nvPr/>
        </p:nvSpPr>
        <p:spPr>
          <a:xfrm xmlns:a="http://schemas.openxmlformats.org/drawingml/2006/main">
            <a:off x="6924675" y="3857625"/>
            <a:ext cx="4524375"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0B0F14"/>
                </a:solidFill>
              </a:defRPr>
            </a:pPr>
            <a:r>
              <a:rPr sz="1500" b="0">
                <a:solidFill>
                  <a:srgbClr val="0B0F14"/>
                </a:solidFill>
              </a:rPr>
              <a:t>Treat receipt details as sensitive audit metadata</a:t>
            </a:r>
          </a:p>
          <a:p xmlns:a="http://schemas.openxmlformats.org/drawingml/2006/main">
            <a:pPr algn="l">
              <a:buNone/>
              <a:defRPr sz="1500" b="0">
                <a:solidFill>
                  <a:srgbClr val="0B0F14"/>
                </a:solidFill>
              </a:defRPr>
            </a:pPr>
            <a:r>
              <a:rPr sz="1500" b="0">
                <a:solidFill>
                  <a:srgbClr val="0B0F14"/>
                </a:solidFill>
              </a:rPr>
              <a:t>(file.csv | 12 MB | node | 09:41)</a:t>
            </a:r>
          </a:p>
        </p:txBody>
      </p:sp>
      <p:sp>
        <p:nvSpPr>
          <p:cNvPr id="18" name="">
            <a:extLst xmlns:a="http://schemas.openxmlformats.org/drawingml/2006/main">
              <a:ext uri="{FF2B5EF4-FFF2-40B4-BE49-F238E27FC236}">
                <a16:creationId xmlns:a16="http://schemas.microsoft.com/office/drawing/2014/main" id="{282206E3-FC18-4A43-BD0B-BFD85AE65173}"/>
              </a:ext>
            </a:extLst>
          </p:cNvPr>
          <p:cNvSpPr>
            <a:spLocks xmlns:a="http://schemas.openxmlformats.org/drawingml/2006/main" noGrp="1"/>
          </p:cNvSpPr>
          <p:nvPr/>
        </p:nvSpPr>
        <p:spPr>
          <a:xfrm xmlns:a="http://schemas.openxmlformats.org/drawingml/2006/main">
            <a:off x="6686550" y="4743450"/>
            <a:ext cx="95250" cy="95250"/>
          </a:xfrm>
          <a:prstGeom xmlns:a="http://schemas.openxmlformats.org/drawingml/2006/main" prst="rect">
            <a:avLst/>
          </a:prstGeom>
          <a:solidFill xmlns:a="http://schemas.openxmlformats.org/drawingml/2006/main">
            <a:srgbClr val="1E5B99"/>
          </a:solidFill>
          <a:ln xmlns:a="http://schemas.openxmlformats.org/drawingml/2006/main" w="9525">
            <a:solidFill>
              <a:srgbClr val="1E5B99"/>
            </a:solidFill>
            <a:prstDash val="solid"/>
          </a:ln>
        </p:spPr>
      </p:sp>
      <p:sp>
        <p:nvSpPr>
          <p:cNvPr id="19" name="">
            <a:extLst xmlns:a="http://schemas.openxmlformats.org/drawingml/2006/main">
              <a:ext uri="{FF2B5EF4-FFF2-40B4-BE49-F238E27FC236}">
                <a16:creationId xmlns:a16="http://schemas.microsoft.com/office/drawing/2014/main" id="{5F86327E-AD21-47A0-BD77-16143DCFBCD6}"/>
              </a:ext>
            </a:extLst>
          </p:cNvPr>
          <p:cNvSpPr>
            <a:spLocks xmlns:a="http://schemas.openxmlformats.org/drawingml/2006/main" noGrp="1"/>
          </p:cNvSpPr>
          <p:nvPr/>
        </p:nvSpPr>
        <p:spPr>
          <a:xfrm xmlns:a="http://schemas.openxmlformats.org/drawingml/2006/main">
            <a:off x="6924675" y="4667250"/>
            <a:ext cx="452437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0B0F14"/>
                </a:solidFill>
              </a:defRPr>
            </a:pPr>
            <a:r>
              <a:rPr sz="1500" b="0">
                <a:solidFill>
                  <a:srgbClr val="0B0F14"/>
                </a:solidFill>
              </a:rPr>
              <a:t>Neutralize formulas only in CSV/XLSX</a:t>
            </a:r>
          </a:p>
          <a:p xmlns:a="http://schemas.openxmlformats.org/drawingml/2006/main">
            <a:pPr algn="l">
              <a:buNone/>
              <a:defRPr sz="1500" b="0">
                <a:solidFill>
                  <a:srgbClr val="0B0F14"/>
                </a:solidFill>
              </a:defRPr>
            </a:pPr>
            <a:r>
              <a:rPr sz="1500" b="0">
                <a:solidFill>
                  <a:srgbClr val="0B0F14"/>
                </a:solidFill>
              </a:rPr>
              <a:t>(session JSON keeps the original value)</a:t>
            </a:r>
          </a:p>
        </p:txBody>
      </p:sp>
      <p:sp>
        <p:nvSpPr>
          <p:cNvPr id="20" name="">
            <a:extLst xmlns:a="http://schemas.openxmlformats.org/drawingml/2006/main">
              <a:ext uri="{FF2B5EF4-FFF2-40B4-BE49-F238E27FC236}">
                <a16:creationId xmlns:a16="http://schemas.microsoft.com/office/drawing/2014/main" id="{372FA451-B530-41FE-9741-D7E2D95725E0}"/>
              </a:ext>
            </a:extLst>
          </p:cNvPr>
          <p:cNvSpPr>
            <a:spLocks xmlns:a="http://schemas.openxmlformats.org/drawingml/2006/main" noGrp="1"/>
          </p:cNvSpPr>
          <p:nvPr/>
        </p:nvSpPr>
        <p:spPr>
          <a:xfrm xmlns:a="http://schemas.openxmlformats.org/drawingml/2006/main">
            <a:off x="11287125" y="6286500"/>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200" b="0">
                <a:solidFill>
                  <a:srgbClr val="555555"/>
                </a:solidFill>
              </a:defRPr>
            </a:pPr>
            <a:r>
              <a:rPr sz="1200" b="0">
                <a:solidFill>
                  <a:srgbClr val="555555"/>
                </a:solidFill>
              </a:rPr>
              <a:t>07</a:t>
            </a:r>
          </a:p>
        </p:txBody>
      </p:sp>
    </p:spTree>
    <p:extLst>
      <p:ext uri="{BB962C8B-B14F-4D97-AF65-F5344CB8AC3E}">
        <p14:creationId xmlns:p14="http://schemas.microsoft.com/office/powerpoint/2010/main" val="126888218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9DBF525-4672-462D-B739-8E81A2811AE8}"/>
              </a:ext>
            </a:extLst>
          </p:cNvPr>
          <p:cNvSpPr>
            <a:spLocks xmlns:a="http://schemas.openxmlformats.org/drawingml/2006/main" noGrp="1"/>
          </p:cNvSpPr>
          <p:nvPr/>
        </p:nvSpPr>
        <p:spPr>
          <a:xfrm xmlns:a="http://schemas.openxmlformats.org/drawingml/2006/main">
            <a:off x="400050" y="3238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555555"/>
                </a:solidFill>
              </a:defRPr>
            </a:pPr>
            <a:r>
              <a:rPr sz="1200" b="1">
                <a:solidFill>
                  <a:srgbClr val="555555"/>
                </a:solidFill>
              </a:rPr>
              <a:t>MICROBETRACE PARTNER EMBED</a:t>
            </a:r>
          </a:p>
        </p:txBody>
      </p:sp>
      <p:sp>
        <p:nvSpPr>
          <p:cNvPr id="2" name="">
            <a:extLst xmlns:a="http://schemas.openxmlformats.org/drawingml/2006/main">
              <a:ext uri="{FF2B5EF4-FFF2-40B4-BE49-F238E27FC236}">
                <a16:creationId xmlns:a16="http://schemas.microsoft.com/office/drawing/2014/main" id="{26646592-CD1E-47B9-B205-6268190CA32F}"/>
              </a:ext>
            </a:extLst>
          </p:cNvPr>
          <p:cNvSpPr>
            <a:spLocks xmlns:a="http://schemas.openxmlformats.org/drawingml/2006/main" noGrp="1"/>
          </p:cNvSpPr>
          <p:nvPr/>
        </p:nvSpPr>
        <p:spPr>
          <a:xfrm xmlns:a="http://schemas.openxmlformats.org/drawingml/2006/main">
            <a:off x="400050" y="723900"/>
            <a:ext cx="10001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4"/>
                </a:solidFill>
              </a:defRPr>
            </a:pPr>
            <a:r>
              <a:rPr sz="3150" b="1">
                <a:solidFill>
                  <a:srgbClr val="0B0F14"/>
                </a:solidFill>
              </a:rPr>
              <a:t>Partner authorization is the primary boundary</a:t>
            </a:r>
          </a:p>
        </p:txBody>
      </p:sp>
      <p:sp>
        <p:nvSpPr>
          <p:cNvPr id="3" name="">
            <a:extLst xmlns:a="http://schemas.openxmlformats.org/drawingml/2006/main">
              <a:ext uri="{FF2B5EF4-FFF2-40B4-BE49-F238E27FC236}">
                <a16:creationId xmlns:a16="http://schemas.microsoft.com/office/drawing/2014/main" id="{49997755-ADE9-4D11-A0C2-F6CC519F6397}"/>
              </a:ext>
            </a:extLst>
          </p:cNvPr>
          <p:cNvSpPr>
            <a:spLocks xmlns:a="http://schemas.openxmlformats.org/drawingml/2006/main" noGrp="1"/>
          </p:cNvSpPr>
          <p:nvPr/>
        </p:nvSpPr>
        <p:spPr>
          <a:xfrm xmlns:a="http://schemas.openxmlformats.org/drawingml/2006/main">
            <a:off x="419100" y="1562100"/>
            <a:ext cx="857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a:solidFill>
                  <a:srgbClr val="555555"/>
                </a:solidFill>
              </a:defRPr>
            </a:pPr>
            <a:r>
              <a:rPr sz="1650" b="0">
                <a:solidFill>
                  <a:srgbClr val="555555"/>
                </a:solidFill>
              </a:rPr>
              <a:t>MicrobeTrace validates the handoff; it cannot verify the user's right to export each row, field, sequence, identifier, or metadata value.</a:t>
            </a:r>
          </a:p>
        </p:txBody>
      </p:sp>
      <p:sp>
        <p:nvSpPr>
          <p:cNvPr id="4" name="">
            <a:extLst xmlns:a="http://schemas.openxmlformats.org/drawingml/2006/main">
              <a:ext uri="{FF2B5EF4-FFF2-40B4-BE49-F238E27FC236}">
                <a16:creationId xmlns:a16="http://schemas.microsoft.com/office/drawing/2014/main" id="{AA9C59C4-AB14-4C40-8718-8467DBAB57D4}"/>
              </a:ext>
            </a:extLst>
          </p:cNvPr>
          <p:cNvSpPr>
            <a:spLocks xmlns:a="http://schemas.openxmlformats.org/drawingml/2006/main" noGrp="1"/>
          </p:cNvSpPr>
          <p:nvPr/>
        </p:nvSpPr>
        <p:spPr>
          <a:xfrm xmlns:a="http://schemas.openxmlformats.org/drawingml/2006/main">
            <a:off x="685800" y="2381250"/>
            <a:ext cx="3048000" cy="1352550"/>
          </a:xfrm>
          <a:prstGeom xmlns:a="http://schemas.openxmlformats.org/drawingml/2006/main" prst="rect">
            <a:avLst/>
          </a:prstGeom>
          <a:solidFill xmlns:a="http://schemas.openxmlformats.org/drawingml/2006/main">
            <a:srgbClr val="FFF3EE"/>
          </a:solidFill>
          <a:ln xmlns:a="http://schemas.openxmlformats.org/drawingml/2006/main" w="9525">
            <a:solidFill>
              <a:srgbClr val="B8BCC4"/>
            </a:solidFill>
            <a:prstDash val="solid"/>
          </a:ln>
        </p:spPr>
      </p:sp>
      <p:sp>
        <p:nvSpPr>
          <p:cNvPr id="5" name="">
            <a:extLst xmlns:a="http://schemas.openxmlformats.org/drawingml/2006/main">
              <a:ext uri="{FF2B5EF4-FFF2-40B4-BE49-F238E27FC236}">
                <a16:creationId xmlns:a16="http://schemas.microsoft.com/office/drawing/2014/main" id="{6AAC3FE1-634D-4695-A289-11F5C5161579}"/>
              </a:ext>
            </a:extLst>
          </p:cNvPr>
          <p:cNvSpPr>
            <a:spLocks xmlns:a="http://schemas.openxmlformats.org/drawingml/2006/main" noGrp="1"/>
          </p:cNvSpPr>
          <p:nvPr/>
        </p:nvSpPr>
        <p:spPr>
          <a:xfrm xmlns:a="http://schemas.openxmlformats.org/drawingml/2006/main">
            <a:off x="876300" y="25717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1">
                <a:solidFill>
                  <a:srgbClr val="0B0F14"/>
                </a:solidFill>
              </a:defRPr>
            </a:pPr>
            <a:r>
              <a:rPr sz="1875" b="1">
                <a:solidFill>
                  <a:srgbClr val="0B0F14"/>
                </a:solidFill>
              </a:rPr>
              <a:t>Authorize</a:t>
            </a:r>
          </a:p>
        </p:txBody>
      </p:sp>
      <p:sp>
        <p:nvSpPr>
          <p:cNvPr id="6" name="">
            <a:extLst xmlns:a="http://schemas.openxmlformats.org/drawingml/2006/main">
              <a:ext uri="{FF2B5EF4-FFF2-40B4-BE49-F238E27FC236}">
                <a16:creationId xmlns:a16="http://schemas.microsoft.com/office/drawing/2014/main" id="{6B136DF2-9A9E-4C55-9714-5249FDBEDF20}"/>
              </a:ext>
            </a:extLst>
          </p:cNvPr>
          <p:cNvSpPr>
            <a:spLocks xmlns:a="http://schemas.openxmlformats.org/drawingml/2006/main" noGrp="1"/>
          </p:cNvSpPr>
          <p:nvPr/>
        </p:nvSpPr>
        <p:spPr>
          <a:xfrm xmlns:a="http://schemas.openxmlformats.org/drawingml/2006/main">
            <a:off x="876300" y="2933700"/>
            <a:ext cx="2571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555555"/>
                </a:solidFill>
              </a:defRPr>
            </a:pPr>
            <a:r>
              <a:rPr sz="1350" b="0">
                <a:solidFill>
                  <a:srgbClr val="555555"/>
                </a:solidFill>
              </a:rPr>
              <a:t>Authorize server-side before building files; UI checks alone are insufficient.</a:t>
            </a:r>
          </a:p>
        </p:txBody>
      </p:sp>
      <p:sp>
        <p:nvSpPr>
          <p:cNvPr id="7" name="">
            <a:extLst xmlns:a="http://schemas.openxmlformats.org/drawingml/2006/main">
              <a:ext uri="{FF2B5EF4-FFF2-40B4-BE49-F238E27FC236}">
                <a16:creationId xmlns:a16="http://schemas.microsoft.com/office/drawing/2014/main" id="{E1AA15ED-E5E2-4B1C-89B3-081898E52D30}"/>
              </a:ext>
            </a:extLst>
          </p:cNvPr>
          <p:cNvSpPr>
            <a:spLocks xmlns:a="http://schemas.openxmlformats.org/drawingml/2006/main" noGrp="1"/>
          </p:cNvSpPr>
          <p:nvPr/>
        </p:nvSpPr>
        <p:spPr>
          <a:xfrm xmlns:a="http://schemas.openxmlformats.org/drawingml/2006/main">
            <a:off x="4305300" y="2381250"/>
            <a:ext cx="3048000" cy="13525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8" name="">
            <a:extLst xmlns:a="http://schemas.openxmlformats.org/drawingml/2006/main">
              <a:ext uri="{FF2B5EF4-FFF2-40B4-BE49-F238E27FC236}">
                <a16:creationId xmlns:a16="http://schemas.microsoft.com/office/drawing/2014/main" id="{D11A6D48-8E4C-4A1A-8612-795EFCD1B7F0}"/>
              </a:ext>
            </a:extLst>
          </p:cNvPr>
          <p:cNvSpPr>
            <a:spLocks xmlns:a="http://schemas.openxmlformats.org/drawingml/2006/main" noGrp="1"/>
          </p:cNvSpPr>
          <p:nvPr/>
        </p:nvSpPr>
        <p:spPr>
          <a:xfrm xmlns:a="http://schemas.openxmlformats.org/drawingml/2006/main">
            <a:off x="4495800" y="25717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1">
                <a:solidFill>
                  <a:srgbClr val="0B0F14"/>
                </a:solidFill>
              </a:defRPr>
            </a:pPr>
            <a:r>
              <a:rPr sz="1875" b="1">
                <a:solidFill>
                  <a:srgbClr val="0B0F14"/>
                </a:solidFill>
              </a:rPr>
              <a:t>Minimize</a:t>
            </a:r>
          </a:p>
        </p:txBody>
      </p:sp>
      <p:sp>
        <p:nvSpPr>
          <p:cNvPr id="9" name="">
            <a:extLst xmlns:a="http://schemas.openxmlformats.org/drawingml/2006/main">
              <a:ext uri="{FF2B5EF4-FFF2-40B4-BE49-F238E27FC236}">
                <a16:creationId xmlns:a16="http://schemas.microsoft.com/office/drawing/2014/main" id="{08FB29F1-4EC0-4513-9288-335ED6783F45}"/>
              </a:ext>
            </a:extLst>
          </p:cNvPr>
          <p:cNvSpPr>
            <a:spLocks xmlns:a="http://schemas.openxmlformats.org/drawingml/2006/main" noGrp="1"/>
          </p:cNvSpPr>
          <p:nvPr/>
        </p:nvSpPr>
        <p:spPr>
          <a:xfrm xmlns:a="http://schemas.openxmlformats.org/drawingml/2006/main">
            <a:off x="4495800" y="2933700"/>
            <a:ext cx="2571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555555"/>
                </a:solidFill>
              </a:defRPr>
            </a:pPr>
            <a:r>
              <a:rPr sz="1350" b="0">
                <a:solidFill>
                  <a:srgbClr val="555555"/>
                </a:solidFill>
              </a:rPr>
              <a:t>Treat data as sensitive; send only approved rows, fields, sequences, and metadata.</a:t>
            </a:r>
          </a:p>
        </p:txBody>
      </p:sp>
      <p:sp>
        <p:nvSpPr>
          <p:cNvPr id="10" name="">
            <a:extLst xmlns:a="http://schemas.openxmlformats.org/drawingml/2006/main">
              <a:ext uri="{FF2B5EF4-FFF2-40B4-BE49-F238E27FC236}">
                <a16:creationId xmlns:a16="http://schemas.microsoft.com/office/drawing/2014/main" id="{8AAB4883-7247-420D-B8BF-12C0C3045D93}"/>
              </a:ext>
            </a:extLst>
          </p:cNvPr>
          <p:cNvSpPr>
            <a:spLocks xmlns:a="http://schemas.openxmlformats.org/drawingml/2006/main" noGrp="1"/>
          </p:cNvSpPr>
          <p:nvPr/>
        </p:nvSpPr>
        <p:spPr>
          <a:xfrm xmlns:a="http://schemas.openxmlformats.org/drawingml/2006/main">
            <a:off x="7924800" y="2381250"/>
            <a:ext cx="3048000" cy="13525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11" name="">
            <a:extLst xmlns:a="http://schemas.openxmlformats.org/drawingml/2006/main">
              <a:ext uri="{FF2B5EF4-FFF2-40B4-BE49-F238E27FC236}">
                <a16:creationId xmlns:a16="http://schemas.microsoft.com/office/drawing/2014/main" id="{D6F628C5-1BA7-4BB6-B83F-C9139FBC7629}"/>
              </a:ext>
            </a:extLst>
          </p:cNvPr>
          <p:cNvSpPr>
            <a:spLocks xmlns:a="http://schemas.openxmlformats.org/drawingml/2006/main" noGrp="1"/>
          </p:cNvSpPr>
          <p:nvPr/>
        </p:nvSpPr>
        <p:spPr>
          <a:xfrm xmlns:a="http://schemas.openxmlformats.org/drawingml/2006/main">
            <a:off x="8115300" y="25717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1">
                <a:solidFill>
                  <a:srgbClr val="0B0F14"/>
                </a:solidFill>
              </a:defRPr>
            </a:pPr>
            <a:r>
              <a:rPr sz="1875" b="1">
                <a:solidFill>
                  <a:srgbClr val="0B0F14"/>
                </a:solidFill>
              </a:rPr>
              <a:t>Disclose</a:t>
            </a:r>
          </a:p>
        </p:txBody>
      </p:sp>
      <p:sp>
        <p:nvSpPr>
          <p:cNvPr id="12" name="">
            <a:extLst xmlns:a="http://schemas.openxmlformats.org/drawingml/2006/main">
              <a:ext uri="{FF2B5EF4-FFF2-40B4-BE49-F238E27FC236}">
                <a16:creationId xmlns:a16="http://schemas.microsoft.com/office/drawing/2014/main" id="{EB818F8C-0E66-48E8-B009-929C9C1CD5CD}"/>
              </a:ext>
            </a:extLst>
          </p:cNvPr>
          <p:cNvSpPr>
            <a:spLocks xmlns:a="http://schemas.openxmlformats.org/drawingml/2006/main" noGrp="1"/>
          </p:cNvSpPr>
          <p:nvPr/>
        </p:nvSpPr>
        <p:spPr>
          <a:xfrm xmlns:a="http://schemas.openxmlformats.org/drawingml/2006/main">
            <a:off x="8115300" y="2933700"/>
            <a:ext cx="2571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555555"/>
                </a:solidFill>
              </a:defRPr>
            </a:pPr>
            <a:r>
              <a:rPr sz="1350" b="0">
                <a:solidFill>
                  <a:srgbClr val="555555"/>
                </a:solidFill>
              </a:rPr>
              <a:t>Label the control clearly: it exports selected data to MicrobeTrace.</a:t>
            </a:r>
          </a:p>
        </p:txBody>
      </p:sp>
      <p:sp>
        <p:nvSpPr>
          <p:cNvPr id="13" name="">
            <a:extLst xmlns:a="http://schemas.openxmlformats.org/drawingml/2006/main">
              <a:ext uri="{FF2B5EF4-FFF2-40B4-BE49-F238E27FC236}">
                <a16:creationId xmlns:a16="http://schemas.microsoft.com/office/drawing/2014/main" id="{F3C85132-96D0-4BAE-BC4B-9C886A92D6E6}"/>
              </a:ext>
            </a:extLst>
          </p:cNvPr>
          <p:cNvSpPr>
            <a:spLocks xmlns:a="http://schemas.openxmlformats.org/drawingml/2006/main" noGrp="1"/>
          </p:cNvSpPr>
          <p:nvPr/>
        </p:nvSpPr>
        <p:spPr>
          <a:xfrm xmlns:a="http://schemas.openxmlformats.org/drawingml/2006/main">
            <a:off x="685800" y="4191000"/>
            <a:ext cx="3048000" cy="13525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14" name="">
            <a:extLst xmlns:a="http://schemas.openxmlformats.org/drawingml/2006/main">
              <a:ext uri="{FF2B5EF4-FFF2-40B4-BE49-F238E27FC236}">
                <a16:creationId xmlns:a16="http://schemas.microsoft.com/office/drawing/2014/main" id="{513F447A-BF72-4981-9A4D-88230C58D1AC}"/>
              </a:ext>
            </a:extLst>
          </p:cNvPr>
          <p:cNvSpPr>
            <a:spLocks xmlns:a="http://schemas.openxmlformats.org/drawingml/2006/main" noGrp="1"/>
          </p:cNvSpPr>
          <p:nvPr/>
        </p:nvSpPr>
        <p:spPr>
          <a:xfrm xmlns:a="http://schemas.openxmlformats.org/drawingml/2006/main">
            <a:off x="876300" y="43815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1">
                <a:solidFill>
                  <a:srgbClr val="0B0F14"/>
                </a:solidFill>
              </a:defRPr>
            </a:pPr>
            <a:r>
              <a:rPr sz="1875" b="1">
                <a:solidFill>
                  <a:srgbClr val="0B0F14"/>
                </a:solidFill>
              </a:rPr>
              <a:t>Audit</a:t>
            </a:r>
          </a:p>
        </p:txBody>
      </p:sp>
      <p:sp>
        <p:nvSpPr>
          <p:cNvPr id="15" name="">
            <a:extLst xmlns:a="http://schemas.openxmlformats.org/drawingml/2006/main">
              <a:ext uri="{FF2B5EF4-FFF2-40B4-BE49-F238E27FC236}">
                <a16:creationId xmlns:a16="http://schemas.microsoft.com/office/drawing/2014/main" id="{1C94F733-8DFF-4ED7-A1D2-156D941157CA}"/>
              </a:ext>
            </a:extLst>
          </p:cNvPr>
          <p:cNvSpPr>
            <a:spLocks xmlns:a="http://schemas.openxmlformats.org/drawingml/2006/main" noGrp="1"/>
          </p:cNvSpPr>
          <p:nvPr/>
        </p:nvSpPr>
        <p:spPr>
          <a:xfrm xmlns:a="http://schemas.openxmlformats.org/drawingml/2006/main">
            <a:off x="876300" y="4743450"/>
            <a:ext cx="2571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555555"/>
                </a:solidFill>
              </a:defRPr>
            </a:pPr>
            <a:r>
              <a:rPr sz="1350" b="0">
                <a:solidFill>
                  <a:srgbClr val="555555"/>
                </a:solidFill>
              </a:rPr>
              <a:t>Log approved audit fields—not payloads or unredacted receipts.</a:t>
            </a:r>
          </a:p>
        </p:txBody>
      </p:sp>
      <p:sp>
        <p:nvSpPr>
          <p:cNvPr id="16" name="">
            <a:extLst xmlns:a="http://schemas.openxmlformats.org/drawingml/2006/main">
              <a:ext uri="{FF2B5EF4-FFF2-40B4-BE49-F238E27FC236}">
                <a16:creationId xmlns:a16="http://schemas.microsoft.com/office/drawing/2014/main" id="{0E06655D-B675-4D14-9C6A-83785E749451}"/>
              </a:ext>
            </a:extLst>
          </p:cNvPr>
          <p:cNvSpPr>
            <a:spLocks xmlns:a="http://schemas.openxmlformats.org/drawingml/2006/main" noGrp="1"/>
          </p:cNvSpPr>
          <p:nvPr/>
        </p:nvSpPr>
        <p:spPr>
          <a:xfrm xmlns:a="http://schemas.openxmlformats.org/drawingml/2006/main">
            <a:off x="4305300" y="4191000"/>
            <a:ext cx="3048000" cy="13525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17" name="">
            <a:extLst xmlns:a="http://schemas.openxmlformats.org/drawingml/2006/main">
              <a:ext uri="{FF2B5EF4-FFF2-40B4-BE49-F238E27FC236}">
                <a16:creationId xmlns:a16="http://schemas.microsoft.com/office/drawing/2014/main" id="{3C6037A0-EA4A-4747-92D0-E9213346585F}"/>
              </a:ext>
            </a:extLst>
          </p:cNvPr>
          <p:cNvSpPr>
            <a:spLocks xmlns:a="http://schemas.openxmlformats.org/drawingml/2006/main" noGrp="1"/>
          </p:cNvSpPr>
          <p:nvPr/>
        </p:nvSpPr>
        <p:spPr>
          <a:xfrm xmlns:a="http://schemas.openxmlformats.org/drawingml/2006/main">
            <a:off x="4495800" y="43815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1">
                <a:solidFill>
                  <a:srgbClr val="0B0F14"/>
                </a:solidFill>
              </a:defRPr>
            </a:pPr>
            <a:r>
              <a:rPr sz="1875" b="1">
                <a:solidFill>
                  <a:srgbClr val="0B0F14"/>
                </a:solidFill>
              </a:rPr>
              <a:t>Metadata</a:t>
            </a:r>
          </a:p>
        </p:txBody>
      </p:sp>
      <p:sp>
        <p:nvSpPr>
          <p:cNvPr id="18" name="">
            <a:extLst xmlns:a="http://schemas.openxmlformats.org/drawingml/2006/main">
              <a:ext uri="{FF2B5EF4-FFF2-40B4-BE49-F238E27FC236}">
                <a16:creationId xmlns:a16="http://schemas.microsoft.com/office/drawing/2014/main" id="{2BA8D768-B1B1-4B20-A36A-C8DAFC9E5431}"/>
              </a:ext>
            </a:extLst>
          </p:cNvPr>
          <p:cNvSpPr>
            <a:spLocks xmlns:a="http://schemas.openxmlformats.org/drawingml/2006/main" noGrp="1"/>
          </p:cNvSpPr>
          <p:nvPr/>
        </p:nvSpPr>
        <p:spPr>
          <a:xfrm xmlns:a="http://schemas.openxmlformats.org/drawingml/2006/main">
            <a:off x="4495800" y="4743450"/>
            <a:ext cx="2571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555555"/>
                </a:solidFill>
              </a:defRPr>
            </a:pPr>
            <a:r>
              <a:rPr sz="1350" b="0">
                <a:solidFill>
                  <a:srgbClr val="555555"/>
                </a:solidFill>
              </a:rPr>
              <a:t>Use datasetName/sourceApp only; no IDs, secrets, policy details, or debug text.</a:t>
            </a:r>
          </a:p>
        </p:txBody>
      </p:sp>
      <p:sp>
        <p:nvSpPr>
          <p:cNvPr id="19" name="">
            <a:extLst xmlns:a="http://schemas.openxmlformats.org/drawingml/2006/main">
              <a:ext uri="{FF2B5EF4-FFF2-40B4-BE49-F238E27FC236}">
                <a16:creationId xmlns:a16="http://schemas.microsoft.com/office/drawing/2014/main" id="{518D5CD3-3827-4612-B8D6-CAE54DDD1604}"/>
              </a:ext>
            </a:extLst>
          </p:cNvPr>
          <p:cNvSpPr>
            <a:spLocks xmlns:a="http://schemas.openxmlformats.org/drawingml/2006/main" noGrp="1"/>
          </p:cNvSpPr>
          <p:nvPr/>
        </p:nvSpPr>
        <p:spPr>
          <a:xfrm xmlns:a="http://schemas.openxmlformats.org/drawingml/2006/main">
            <a:off x="11287125" y="6286500"/>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200" b="0">
                <a:solidFill>
                  <a:srgbClr val="555555"/>
                </a:solidFill>
              </a:defRPr>
            </a:pPr>
            <a:r>
              <a:rPr sz="1200" b="0">
                <a:solidFill>
                  <a:srgbClr val="555555"/>
                </a:solidFill>
              </a:rPr>
              <a:t>08</a:t>
            </a:r>
          </a:p>
        </p:txBody>
      </p:sp>
    </p:spTree>
    <p:extLst>
      <p:ext uri="{BB962C8B-B14F-4D97-AF65-F5344CB8AC3E}">
        <p14:creationId xmlns:p14="http://schemas.microsoft.com/office/powerpoint/2010/main" val="179827878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B241F5A-E262-4BC6-8E3C-BCE27DBF359E}"/>
              </a:ext>
            </a:extLst>
          </p:cNvPr>
          <p:cNvSpPr>
            <a:spLocks xmlns:a="http://schemas.openxmlformats.org/drawingml/2006/main" noGrp="1"/>
          </p:cNvSpPr>
          <p:nvPr/>
        </p:nvSpPr>
        <p:spPr>
          <a:xfrm xmlns:a="http://schemas.openxmlformats.org/drawingml/2006/main">
            <a:off x="400050" y="3238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555555"/>
                </a:solidFill>
              </a:defRPr>
            </a:pPr>
            <a:r>
              <a:rPr sz="1200" b="1">
                <a:solidFill>
                  <a:srgbClr val="555555"/>
                </a:solidFill>
              </a:rPr>
              <a:t>MICROBETRACE PARTNER EMBED</a:t>
            </a:r>
          </a:p>
        </p:txBody>
      </p:sp>
      <p:sp>
        <p:nvSpPr>
          <p:cNvPr id="2" name="">
            <a:extLst xmlns:a="http://schemas.openxmlformats.org/drawingml/2006/main">
              <a:ext uri="{FF2B5EF4-FFF2-40B4-BE49-F238E27FC236}">
                <a16:creationId xmlns:a16="http://schemas.microsoft.com/office/drawing/2014/main" id="{962C74D4-460E-4A3B-80D4-78636EEEB2BC}"/>
              </a:ext>
            </a:extLst>
          </p:cNvPr>
          <p:cNvSpPr>
            <a:spLocks xmlns:a="http://schemas.openxmlformats.org/drawingml/2006/main" noGrp="1"/>
          </p:cNvSpPr>
          <p:nvPr/>
        </p:nvSpPr>
        <p:spPr>
          <a:xfrm xmlns:a="http://schemas.openxmlformats.org/drawingml/2006/main">
            <a:off x="400050" y="723900"/>
            <a:ext cx="10001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4"/>
                </a:solidFill>
              </a:defRPr>
            </a:pPr>
            <a:r>
              <a:rPr sz="3150" b="1">
                <a:solidFill>
                  <a:srgbClr val="0B0F14"/>
                </a:solidFill>
              </a:rPr>
              <a:t>Risk examples make ownership clearer</a:t>
            </a:r>
          </a:p>
        </p:txBody>
      </p:sp>
      <p:sp>
        <p:nvSpPr>
          <p:cNvPr id="3" name="">
            <a:extLst xmlns:a="http://schemas.openxmlformats.org/drawingml/2006/main">
              <a:ext uri="{FF2B5EF4-FFF2-40B4-BE49-F238E27FC236}">
                <a16:creationId xmlns:a16="http://schemas.microsoft.com/office/drawing/2014/main" id="{EF46C29F-6B7A-4DCD-80F0-3840298FD215}"/>
              </a:ext>
            </a:extLst>
          </p:cNvPr>
          <p:cNvSpPr>
            <a:spLocks xmlns:a="http://schemas.openxmlformats.org/drawingml/2006/main" noGrp="1"/>
          </p:cNvSpPr>
          <p:nvPr/>
        </p:nvSpPr>
        <p:spPr>
          <a:xfrm xmlns:a="http://schemas.openxmlformats.org/drawingml/2006/main">
            <a:off x="419100" y="1562100"/>
            <a:ext cx="857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a:solidFill>
                  <a:srgbClr val="555555"/>
                </a:solidFill>
              </a:defRPr>
            </a:pPr>
            <a:r>
              <a:rPr sz="1650" b="0">
                <a:solidFill>
                  <a:srgbClr val="555555"/>
                </a:solidFill>
              </a:rPr>
              <a:t>Each row ties a concrete failure scenario to MicrobeTrace controls, partner controls, and residual risk.</a:t>
            </a:r>
          </a:p>
        </p:txBody>
      </p:sp>
      <p:graphicFrame>
        <p:nvGraphicFramePr>
          <p:cNvPr id="10" name=""/>
          <p:cNvGraphicFramePr/>
          <p:nvPr/>
        </p:nvGraphicFramePr>
        <p:xfrm>
          <a:off xmlns:a="http://schemas.openxmlformats.org/drawingml/2006/main" x="457200" y="2095500"/>
          <a:ext xmlns:a="http://schemas.openxmlformats.org/drawingml/2006/main" cx="11277600" cy="3714750"/>
        </p:xfrm>
        <a:graphic xmlns:a="http://schemas.openxmlformats.org/drawingml/2006/main">
          <a:graphicData uri="http://schemas.openxmlformats.org/drawingml/2006/table">
            <a:tbl>
              <a:tblPr firstRow="1" bandRow="1"/>
              <a:tblGrid>
                <a:gridCol w="3026791"/>
                <a:gridCol w="2645640"/>
                <a:gridCol w="2645640"/>
                <a:gridCol w="2959529"/>
              </a:tblGrid>
              <a:tr h="742950">
                <a:tc>
                  <a:txBody>
                    <a:bodyPr/>
                    <a:lstStyle/>
                    <a:p>
                      <a:r>
                        <a:rPr sz="1125" b="1">
                          <a:solidFill>
                            <a:srgbClr val="FFFFFF"/>
                          </a:solidFill>
                        </a:rPr>
                        <a:t>Risk + example</a:t>
                      </a:r>
                    </a:p>
                  </a:txBody>
                  <a:tcPr marL="91440" marR="91440" marT="45720" marB="45720">
                    <a:solidFill>
                      <a:srgbClr val="0B0F14"/>
                    </a:solidFill>
                  </a:tcPr>
                </a:tc>
                <a:tc>
                  <a:txBody>
                    <a:bodyPr/>
                    <a:lstStyle/>
                    <a:p>
                      <a:r>
                        <a:rPr sz="1125" b="1">
                          <a:solidFill>
                            <a:srgbClr val="FFFFFF"/>
                          </a:solidFill>
                        </a:rPr>
                        <a:t>MicrobeTrace mitigation</a:t>
                      </a:r>
                    </a:p>
                  </a:txBody>
                  <a:tcPr marL="91440" marR="91440" marT="45720" marB="45720">
                    <a:solidFill>
                      <a:srgbClr val="0B0F14"/>
                    </a:solidFill>
                  </a:tcPr>
                </a:tc>
                <a:tc>
                  <a:txBody>
                    <a:bodyPr/>
                    <a:lstStyle/>
                    <a:p>
                      <a:r>
                        <a:rPr sz="1125" b="1">
                          <a:solidFill>
                            <a:srgbClr val="FFFFFF"/>
                          </a:solidFill>
                        </a:rPr>
                        <a:t>Partner mitigation</a:t>
                      </a:r>
                    </a:p>
                  </a:txBody>
                  <a:tcPr marL="91440" marR="91440" marT="45720" marB="45720">
                    <a:solidFill>
                      <a:srgbClr val="0B0F14"/>
                    </a:solidFill>
                  </a:tcPr>
                </a:tc>
                <a:tc>
                  <a:txBody>
                    <a:bodyPr/>
                    <a:lstStyle/>
                    <a:p>
                      <a:r>
                        <a:rPr sz="1125" b="1">
                          <a:solidFill>
                            <a:srgbClr val="FFFFFF"/>
                          </a:solidFill>
                        </a:rPr>
                        <a:t>Residual risk</a:t>
                      </a:r>
                    </a:p>
                  </a:txBody>
                  <a:tcPr marL="91440" marR="91440" marT="45720" marB="45720">
                    <a:solidFill>
                      <a:srgbClr val="0B0F14"/>
                    </a:solidFill>
                  </a:tcPr>
                </a:tc>
              </a:tr>
              <a:tr h="742950">
                <a:tc>
                  <a:txBody>
                    <a:bodyPr/>
                    <a:lstStyle/>
                    <a:p>
                      <a:r>
                        <a:rPr sz="1200">
                          <a:solidFill>
                            <a:srgbClr val="0B0F14"/>
                          </a:solidFill>
                        </a:rPr>
                        <a:t>Overbroad export</a:t>
                      </a:r>
                    </a:p>
                    <a:p>
                      <a:r>
                        <a:rPr sz="1200">
                          <a:solidFill>
                            <a:srgbClr val="0B0F14"/>
                          </a:solidFill>
                        </a:rPr>
                        <a:t>Example: extra rows, hidden columns, or sequences are included.</a:t>
                      </a:r>
                    </a:p>
                  </a:txBody>
                  <a:tcPr marL="91440" marR="91440" marT="45720" marB="45720"/>
                </a:tc>
                <a:tc>
                  <a:txBody>
                    <a:bodyPr/>
                    <a:lstStyle/>
                    <a:p>
                      <a:r>
                        <a:rPr sz="1200">
                          <a:solidFill>
                            <a:srgbClr val="0B0F14"/>
                          </a:solidFill>
                        </a:rPr>
                        <a:t>Receives files only; no partner API or cookie access.</a:t>
                      </a:r>
                    </a:p>
                  </a:txBody>
                  <a:tcPr marL="91440" marR="91440" marT="45720" marB="45720"/>
                </a:tc>
                <a:tc>
                  <a:txBody>
                    <a:bodyPr/>
                    <a:lstStyle/>
                    <a:p>
                      <a:r>
                        <a:rPr sz="1200">
                          <a:solidFill>
                            <a:srgbClr val="0B0F14"/>
                          </a:solidFill>
                        </a:rPr>
                        <a:t>Authorize server-side; minimize fields; audit.</a:t>
                      </a:r>
                    </a:p>
                  </a:txBody>
                  <a:tcPr marL="91440" marR="91440" marT="45720" marB="45720"/>
                </a:tc>
                <a:tc>
                  <a:txBody>
                    <a:bodyPr/>
                    <a:lstStyle/>
                    <a:p>
                      <a:r>
                        <a:rPr sz="1200">
                          <a:solidFill>
                            <a:srgbClr val="0B0F14"/>
                          </a:solidFill>
                        </a:rPr>
                        <a:t>Allowed export can still be downloaded, shared, or screenshot.</a:t>
                      </a:r>
                    </a:p>
                  </a:txBody>
                  <a:tcPr marL="91440" marR="91440" marT="45720" marB="45720"/>
                </a:tc>
              </a:tr>
              <a:tr h="742950">
                <a:tc>
                  <a:txBody>
                    <a:bodyPr/>
                    <a:lstStyle/>
                    <a:p>
                      <a:r>
                        <a:rPr sz="1200">
                          <a:solidFill>
                            <a:srgbClr val="0B0F14"/>
                          </a:solidFill>
                        </a:rPr>
                        <a:t>Target or origin abuse</a:t>
                      </a:r>
                    </a:p>
                    <a:p>
                      <a:r>
                        <a:rPr sz="1200">
                          <a:solidFill>
                            <a:srgbClr val="0B0F14"/>
                          </a:solidFill>
                        </a:rPr>
                        <a:t>Example: data is sent to an unreviewed host.</a:t>
                      </a:r>
                    </a:p>
                  </a:txBody>
                  <a:tcPr marL="91440" marR="91440" marT="45720" marB="45720"/>
                </a:tc>
                <a:tc>
                  <a:txBody>
                    <a:bodyPr/>
                    <a:lstStyle/>
                    <a:p>
                      <a:r>
                        <a:rPr sz="1200">
                          <a:solidFill>
                            <a:srgbClr val="0B0F14"/>
                          </a:solidFill>
                        </a:rPr>
                        <a:t>Infers target; exact allowlist; nonce and origin checks.</a:t>
                      </a:r>
                    </a:p>
                  </a:txBody>
                  <a:tcPr marL="91440" marR="91440" marT="45720" marB="45720"/>
                </a:tc>
                <a:tc>
                  <a:txBody>
                    <a:bodyPr/>
                    <a:lstStyle/>
                    <a:p>
                      <a:r>
                        <a:rPr sz="1200">
                          <a:solidFill>
                            <a:srgbClr val="0B0F14"/>
                          </a:solidFill>
                        </a:rPr>
                        <a:t>Load SDK from intended deployment; hardcode exceptions.</a:t>
                      </a:r>
                    </a:p>
                  </a:txBody>
                  <a:tcPr marL="91440" marR="91440" marT="45720" marB="45720"/>
                </a:tc>
                <a:tc>
                  <a:txBody>
                    <a:bodyPr/>
                    <a:lstStyle/>
                    <a:p>
                      <a:r>
                        <a:rPr sz="1200">
                          <a:solidFill>
                            <a:srgbClr val="0B0F14"/>
                          </a:solidFill>
                        </a:rPr>
                        <a:t>A trusted-origin compromise can still misuse data it can read.</a:t>
                      </a:r>
                    </a:p>
                  </a:txBody>
                  <a:tcPr marL="91440" marR="91440" marT="45720" marB="45720"/>
                </a:tc>
              </a:tr>
              <a:tr h="742950">
                <a:tc>
                  <a:txBody>
                    <a:bodyPr/>
                    <a:lstStyle/>
                    <a:p>
                      <a:r>
                        <a:rPr sz="1200">
                          <a:solidFill>
                            <a:srgbClr val="0B0F14"/>
                          </a:solidFill>
                        </a:rPr>
                        <a:t>Browser storage leakage</a:t>
                      </a:r>
                    </a:p>
                    <a:p>
                      <a:r>
                        <a:rPr sz="1200">
                          <a:solidFill>
                            <a:srgbClr val="0B0F14"/>
                          </a:solidFill>
                        </a:rPr>
                        <a:t>Example: extension, malware, or shared device sees local handoff.</a:t>
                      </a:r>
                    </a:p>
                  </a:txBody>
                  <a:tcPr marL="91440" marR="91440" marT="45720" marB="45720"/>
                </a:tc>
                <a:tc>
                  <a:txBody>
                    <a:bodyPr/>
                    <a:lstStyle/>
                    <a:p>
                      <a:r>
                        <a:rPr sz="1200">
                          <a:solidFill>
                            <a:srgbClr val="0B0F14"/>
                          </a:solidFill>
                        </a:rPr>
                        <a:t>Short TTL; consume/delete lifecycle; cleanup.</a:t>
                      </a:r>
                    </a:p>
                  </a:txBody>
                  <a:tcPr marL="91440" marR="91440" marT="45720" marB="45720"/>
                </a:tc>
                <a:tc>
                  <a:txBody>
                    <a:bodyPr/>
                    <a:lstStyle/>
                    <a:p>
                      <a:r>
                        <a:rPr sz="1200">
                          <a:solidFill>
                            <a:srgbClr val="0B0F14"/>
                          </a:solidFill>
                        </a:rPr>
                        <a:t>Minimize payloads; manage device and browser policy.</a:t>
                      </a:r>
                    </a:p>
                  </a:txBody>
                  <a:tcPr marL="91440" marR="91440" marT="45720" marB="45720"/>
                </a:tc>
                <a:tc>
                  <a:txBody>
                    <a:bodyPr/>
                    <a:lstStyle/>
                    <a:p>
                      <a:r>
                        <a:rPr sz="1200">
                          <a:solidFill>
                            <a:srgbClr val="0B0F14"/>
                          </a:solidFill>
                        </a:rPr>
                        <a:t>A local compromise can copy the handoff before it expires.</a:t>
                      </a:r>
                    </a:p>
                  </a:txBody>
                  <a:tcPr marL="91440" marR="91440" marT="45720" marB="45720"/>
                </a:tc>
              </a:tr>
              <a:tr h="742950">
                <a:tc>
                  <a:txBody>
                    <a:bodyPr/>
                    <a:lstStyle/>
                    <a:p>
                      <a:r>
                        <a:rPr sz="1200">
                          <a:solidFill>
                            <a:srgbClr val="0B0F14"/>
                          </a:solidFill>
                        </a:rPr>
                        <a:t>Content injection</a:t>
                      </a:r>
                    </a:p>
                    <a:p>
                      <a:r>
                        <a:rPr sz="1200">
                          <a:solidFill>
                            <a:srgbClr val="0B0F14"/>
                          </a:solidFill>
                        </a:rPr>
                        <a:t>Example: value starts with = or includes markup-like text.</a:t>
                      </a:r>
                    </a:p>
                  </a:txBody>
                  <a:tcPr marL="91440" marR="91440" marT="45720" marB="45720"/>
                </a:tc>
                <a:tc>
                  <a:txBody>
                    <a:bodyPr/>
                    <a:lstStyle/>
                    <a:p>
                      <a:r>
                        <a:rPr sz="1200">
                          <a:solidFill>
                            <a:srgbClr val="0B0F14"/>
                          </a:solidFill>
                        </a:rPr>
                        <a:t>Blocks unsafe markup; escapes formulas in CSV/XLSX.</a:t>
                      </a:r>
                    </a:p>
                  </a:txBody>
                  <a:tcPr marL="91440" marR="91440" marT="45720" marB="45720"/>
                </a:tc>
                <a:tc>
                  <a:txBody>
                    <a:bodyPr/>
                    <a:lstStyle/>
                    <a:p>
                      <a:r>
                        <a:rPr sz="1200">
                          <a:solidFill>
                            <a:srgbClr val="0B0F14"/>
                          </a:solidFill>
                        </a:rPr>
                        <a:t>Treat values as untrusted; review downstream use.</a:t>
                      </a:r>
                    </a:p>
                  </a:txBody>
                  <a:tcPr marL="91440" marR="91440" marT="45720" marB="45720"/>
                </a:tc>
                <a:tc>
                  <a:txBody>
                    <a:bodyPr/>
                    <a:lstStyle/>
                    <a:p>
                      <a:r>
                        <a:rPr sz="1200">
                          <a:solidFill>
                            <a:srgbClr val="0B0F14"/>
                          </a:solidFill>
                        </a:rPr>
                        <a:t>Downstream tools or future views can interpret data differently.</a:t>
                      </a:r>
                    </a:p>
                  </a:txBody>
                  <a:tcPr marL="91440" marR="91440" marT="45720" marB="45720"/>
                </a:tc>
              </a:tr>
            </a:tbl>
          </a:graphicData>
        </a:graphic>
      </p:graphicFrame>
      <p:sp>
        <p:nvSpPr>
          <p:cNvPr id="5" name="">
            <a:extLst xmlns:a="http://schemas.openxmlformats.org/drawingml/2006/main">
              <a:ext uri="{FF2B5EF4-FFF2-40B4-BE49-F238E27FC236}">
                <a16:creationId xmlns:a16="http://schemas.microsoft.com/office/drawing/2014/main" id="{807E4C6F-EE7F-4AC7-86C8-782E3AF0C65D}"/>
              </a:ext>
            </a:extLst>
          </p:cNvPr>
          <p:cNvSpPr>
            <a:spLocks xmlns:a="http://schemas.openxmlformats.org/drawingml/2006/main" noGrp="1"/>
          </p:cNvSpPr>
          <p:nvPr/>
        </p:nvSpPr>
        <p:spPr>
          <a:xfrm xmlns:a="http://schemas.openxmlformats.org/drawingml/2006/main">
            <a:off x="11287125" y="6286500"/>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200" b="0">
                <a:solidFill>
                  <a:srgbClr val="555555"/>
                </a:solidFill>
              </a:defRPr>
            </a:pPr>
            <a:r>
              <a:rPr sz="1200" b="0">
                <a:solidFill>
                  <a:srgbClr val="555555"/>
                </a:solidFill>
              </a:rPr>
              <a:t>09</a:t>
            </a:r>
          </a:p>
        </p:txBody>
      </p:sp>
    </p:spTree>
    <p:extLst>
      <p:ext uri="{BB962C8B-B14F-4D97-AF65-F5344CB8AC3E}">
        <p14:creationId xmlns:p14="http://schemas.microsoft.com/office/powerpoint/2010/main" val="120844974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CD3B775-8EFF-4AF2-8CFB-770867205510}"/>
              </a:ext>
            </a:extLst>
          </p:cNvPr>
          <p:cNvSpPr>
            <a:spLocks xmlns:a="http://schemas.openxmlformats.org/drawingml/2006/main" noGrp="1"/>
          </p:cNvSpPr>
          <p:nvPr/>
        </p:nvSpPr>
        <p:spPr>
          <a:xfrm xmlns:a="http://schemas.openxmlformats.org/drawingml/2006/main">
            <a:off x="400050" y="3238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555555"/>
                </a:solidFill>
              </a:defRPr>
            </a:pPr>
            <a:r>
              <a:rPr sz="1200" b="1">
                <a:solidFill>
                  <a:srgbClr val="555555"/>
                </a:solidFill>
              </a:rPr>
              <a:t>MICROBETRACE PARTNER EMBED</a:t>
            </a:r>
          </a:p>
        </p:txBody>
      </p:sp>
      <p:sp>
        <p:nvSpPr>
          <p:cNvPr id="2" name="">
            <a:extLst xmlns:a="http://schemas.openxmlformats.org/drawingml/2006/main">
              <a:ext uri="{FF2B5EF4-FFF2-40B4-BE49-F238E27FC236}">
                <a16:creationId xmlns:a16="http://schemas.microsoft.com/office/drawing/2014/main" id="{BAABD0B6-E8E9-4926-B473-3C95FAC2B33C}"/>
              </a:ext>
            </a:extLst>
          </p:cNvPr>
          <p:cNvSpPr>
            <a:spLocks xmlns:a="http://schemas.openxmlformats.org/drawingml/2006/main" noGrp="1"/>
          </p:cNvSpPr>
          <p:nvPr/>
        </p:nvSpPr>
        <p:spPr>
          <a:xfrm xmlns:a="http://schemas.openxmlformats.org/drawingml/2006/main">
            <a:off x="400050" y="723900"/>
            <a:ext cx="10001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4"/>
                </a:solidFill>
              </a:defRPr>
            </a:pPr>
            <a:r>
              <a:rPr sz="3150" b="1">
                <a:solidFill>
                  <a:srgbClr val="0B0F14"/>
                </a:solidFill>
              </a:rPr>
              <a:t>Security headers survive the full deployed path</a:t>
            </a:r>
          </a:p>
        </p:txBody>
      </p:sp>
      <p:sp>
        <p:nvSpPr>
          <p:cNvPr id="3" name="">
            <a:extLst xmlns:a="http://schemas.openxmlformats.org/drawingml/2006/main">
              <a:ext uri="{FF2B5EF4-FFF2-40B4-BE49-F238E27FC236}">
                <a16:creationId xmlns:a16="http://schemas.microsoft.com/office/drawing/2014/main" id="{2B3BA916-5A8C-4888-9F03-68C3DADD6E8B}"/>
              </a:ext>
            </a:extLst>
          </p:cNvPr>
          <p:cNvSpPr>
            <a:spLocks xmlns:a="http://schemas.openxmlformats.org/drawingml/2006/main" noGrp="1"/>
          </p:cNvSpPr>
          <p:nvPr/>
        </p:nvSpPr>
        <p:spPr>
          <a:xfrm xmlns:a="http://schemas.openxmlformats.org/drawingml/2006/main">
            <a:off x="419100" y="1562100"/>
            <a:ext cx="857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a:solidFill>
                  <a:srgbClr val="555555"/>
                </a:solidFill>
              </a:defRPr>
            </a:pPr>
            <a:r>
              <a:rPr sz="1650" b="0">
                <a:solidFill>
                  <a:srgbClr val="555555"/>
                </a:solidFill>
              </a:rPr>
              <a:t>The final /assets/embed/receiver.html response preserves required headers across every proxy, gateway, CDN, and WAF.</a:t>
            </a:r>
          </a:p>
        </p:txBody>
      </p:sp>
      <p:sp>
        <p:nvSpPr>
          <p:cNvPr id="4" name="">
            <a:extLst xmlns:a="http://schemas.openxmlformats.org/drawingml/2006/main">
              <a:ext uri="{FF2B5EF4-FFF2-40B4-BE49-F238E27FC236}">
                <a16:creationId xmlns:a16="http://schemas.microsoft.com/office/drawing/2014/main" id="{57B9F089-F3E4-41BB-99F1-516670A16EC0}"/>
              </a:ext>
            </a:extLst>
          </p:cNvPr>
          <p:cNvSpPr>
            <a:spLocks xmlns:a="http://schemas.openxmlformats.org/drawingml/2006/main" noGrp="1"/>
          </p:cNvSpPr>
          <p:nvPr/>
        </p:nvSpPr>
        <p:spPr>
          <a:xfrm xmlns:a="http://schemas.openxmlformats.org/drawingml/2006/main">
            <a:off x="666750" y="2476500"/>
            <a:ext cx="3143250" cy="23812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5" name="">
            <a:extLst xmlns:a="http://schemas.openxmlformats.org/drawingml/2006/main">
              <a:ext uri="{FF2B5EF4-FFF2-40B4-BE49-F238E27FC236}">
                <a16:creationId xmlns:a16="http://schemas.microsoft.com/office/drawing/2014/main" id="{3B13C7C2-6DF8-443E-8620-671916D2916D}"/>
              </a:ext>
            </a:extLst>
          </p:cNvPr>
          <p:cNvSpPr>
            <a:spLocks xmlns:a="http://schemas.openxmlformats.org/drawingml/2006/main" noGrp="1"/>
          </p:cNvSpPr>
          <p:nvPr/>
        </p:nvSpPr>
        <p:spPr>
          <a:xfrm xmlns:a="http://schemas.openxmlformats.org/drawingml/2006/main">
            <a:off x="4524375" y="2476500"/>
            <a:ext cx="3143250" cy="2381250"/>
          </a:xfrm>
          <a:prstGeom xmlns:a="http://schemas.openxmlformats.org/drawingml/2006/main" prst="rect">
            <a:avLst/>
          </a:prstGeom>
          <a:solidFill xmlns:a="http://schemas.openxmlformats.org/drawingml/2006/main">
            <a:srgbClr val="FFF3EE"/>
          </a:solidFill>
          <a:ln xmlns:a="http://schemas.openxmlformats.org/drawingml/2006/main" w="9525">
            <a:solidFill>
              <a:srgbClr val="FF6B35"/>
            </a:solidFill>
            <a:prstDash val="solid"/>
          </a:ln>
        </p:spPr>
      </p:sp>
      <p:sp>
        <p:nvSpPr>
          <p:cNvPr id="6" name="">
            <a:extLst xmlns:a="http://schemas.openxmlformats.org/drawingml/2006/main">
              <a:ext uri="{FF2B5EF4-FFF2-40B4-BE49-F238E27FC236}">
                <a16:creationId xmlns:a16="http://schemas.microsoft.com/office/drawing/2014/main" id="{C7B5793C-2C27-4ED7-BC43-2052B3768B0E}"/>
              </a:ext>
            </a:extLst>
          </p:cNvPr>
          <p:cNvSpPr>
            <a:spLocks xmlns:a="http://schemas.openxmlformats.org/drawingml/2006/main" noGrp="1"/>
          </p:cNvSpPr>
          <p:nvPr/>
        </p:nvSpPr>
        <p:spPr>
          <a:xfrm xmlns:a="http://schemas.openxmlformats.org/drawingml/2006/main">
            <a:off x="8382000" y="2476500"/>
            <a:ext cx="3143250" cy="23812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3FA772CF-AECD-4234-B180-9591C42CE6A1}"/>
              </a:ext>
            </a:extLst>
          </p:cNvPr>
          <p:cNvSpPr>
            <a:spLocks xmlns:a="http://schemas.openxmlformats.org/drawingml/2006/main" noGrp="1"/>
          </p:cNvSpPr>
          <p:nvPr/>
        </p:nvSpPr>
        <p:spPr>
          <a:xfrm xmlns:a="http://schemas.openxmlformats.org/drawingml/2006/main">
            <a:off x="3981450" y="3476625"/>
            <a:ext cx="381000" cy="428625"/>
          </a:xfrm>
          <a:prstGeom xmlns:a="http://schemas.openxmlformats.org/drawingml/2006/main" prst="rightArrow">
            <a:avLst/>
          </a:prstGeom>
          <a:solidFill xmlns:a="http://schemas.openxmlformats.org/drawingml/2006/main">
            <a:srgbClr val="B8BCC4"/>
          </a:solidFill>
          <a:ln xmlns:a="http://schemas.openxmlformats.org/drawingml/2006/main" w="0">
            <a:solidFill>
              <a:srgbClr val="B8BCC4"/>
            </a:solidFill>
            <a:prstDash val="solid"/>
          </a:ln>
        </p:spPr>
      </p:sp>
      <p:sp>
        <p:nvSpPr>
          <p:cNvPr id="8" name="">
            <a:extLst xmlns:a="http://schemas.openxmlformats.org/drawingml/2006/main">
              <a:ext uri="{FF2B5EF4-FFF2-40B4-BE49-F238E27FC236}">
                <a16:creationId xmlns:a16="http://schemas.microsoft.com/office/drawing/2014/main" id="{AC986749-8F40-4298-914B-78546C075D58}"/>
              </a:ext>
            </a:extLst>
          </p:cNvPr>
          <p:cNvSpPr>
            <a:spLocks xmlns:a="http://schemas.openxmlformats.org/drawingml/2006/main" noGrp="1"/>
          </p:cNvSpPr>
          <p:nvPr/>
        </p:nvSpPr>
        <p:spPr>
          <a:xfrm xmlns:a="http://schemas.openxmlformats.org/drawingml/2006/main">
            <a:off x="7839075" y="3476625"/>
            <a:ext cx="381000" cy="428625"/>
          </a:xfrm>
          <a:prstGeom xmlns:a="http://schemas.openxmlformats.org/drawingml/2006/main" prst="rightArrow">
            <a:avLst/>
          </a:prstGeom>
          <a:solidFill xmlns:a="http://schemas.openxmlformats.org/drawingml/2006/main">
            <a:srgbClr val="B8BCC4"/>
          </a:solidFill>
          <a:ln xmlns:a="http://schemas.openxmlformats.org/drawingml/2006/main" w="0">
            <a:solidFill>
              <a:srgbClr val="B8BCC4"/>
            </a:solidFill>
            <a:prstDash val="solid"/>
          </a:ln>
        </p:spPr>
      </p:sp>
      <p:sp>
        <p:nvSpPr>
          <p:cNvPr id="9" name="">
            <a:extLst xmlns:a="http://schemas.openxmlformats.org/drawingml/2006/main">
              <a:ext uri="{FF2B5EF4-FFF2-40B4-BE49-F238E27FC236}">
                <a16:creationId xmlns:a16="http://schemas.microsoft.com/office/drawing/2014/main" id="{524E0B9C-C9F9-4206-8C54-46BFF69B2F8B}"/>
              </a:ext>
            </a:extLst>
          </p:cNvPr>
          <p:cNvSpPr>
            <a:spLocks xmlns:a="http://schemas.openxmlformats.org/drawingml/2006/main" noGrp="1"/>
          </p:cNvSpPr>
          <p:nvPr/>
        </p:nvSpPr>
        <p:spPr>
          <a:xfrm xmlns:a="http://schemas.openxmlformats.org/drawingml/2006/main">
            <a:off x="895350" y="272415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4"/>
                </a:solidFill>
              </a:defRPr>
            </a:pPr>
            <a:r>
              <a:rPr sz="1800" b="1">
                <a:solidFill>
                  <a:srgbClr val="0B0F14"/>
                </a:solidFill>
              </a:rPr>
              <a:t>MicrobeTrace repo</a:t>
            </a:r>
          </a:p>
        </p:txBody>
      </p:sp>
      <p:sp>
        <p:nvSpPr>
          <p:cNvPr id="10" name="">
            <a:extLst xmlns:a="http://schemas.openxmlformats.org/drawingml/2006/main">
              <a:ext uri="{FF2B5EF4-FFF2-40B4-BE49-F238E27FC236}">
                <a16:creationId xmlns:a16="http://schemas.microsoft.com/office/drawing/2014/main" id="{DC3D9ABE-3F54-42E4-93C9-9A0D5D9C6CDB}"/>
              </a:ext>
            </a:extLst>
          </p:cNvPr>
          <p:cNvSpPr>
            <a:spLocks xmlns:a="http://schemas.openxmlformats.org/drawingml/2006/main" noGrp="1"/>
          </p:cNvSpPr>
          <p:nvPr/>
        </p:nvSpPr>
        <p:spPr>
          <a:xfrm xmlns:a="http://schemas.openxmlformats.org/drawingml/2006/main">
            <a:off x="952500" y="3219450"/>
            <a:ext cx="252412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555555"/>
                </a:solidFill>
              </a:defRPr>
            </a:pPr>
            <a:r>
              <a:rPr sz="1500" b="0">
                <a:solidFill>
                  <a:srgbClr val="555555"/>
                </a:solidFill>
              </a:rPr>
              <a:t>Build checks verify embed assets, allowlist validation, and WAR web.xml header support.</a:t>
            </a:r>
          </a:p>
        </p:txBody>
      </p:sp>
      <p:sp>
        <p:nvSpPr>
          <p:cNvPr id="11" name="">
            <a:extLst xmlns:a="http://schemas.openxmlformats.org/drawingml/2006/main">
              <a:ext uri="{FF2B5EF4-FFF2-40B4-BE49-F238E27FC236}">
                <a16:creationId xmlns:a16="http://schemas.microsoft.com/office/drawing/2014/main" id="{AACECA74-7674-419B-B8A9-74692DBD815B}"/>
              </a:ext>
            </a:extLst>
          </p:cNvPr>
          <p:cNvSpPr>
            <a:spLocks xmlns:a="http://schemas.openxmlformats.org/drawingml/2006/main" noGrp="1"/>
          </p:cNvSpPr>
          <p:nvPr/>
        </p:nvSpPr>
        <p:spPr>
          <a:xfrm xmlns:a="http://schemas.openxmlformats.org/drawingml/2006/main">
            <a:off x="4762500" y="2724150"/>
            <a:ext cx="266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4"/>
                </a:solidFill>
              </a:defRPr>
            </a:pPr>
            <a:r>
              <a:rPr sz="1800" b="1">
                <a:solidFill>
                  <a:srgbClr val="0B0F14"/>
                </a:solidFill>
              </a:rPr>
              <a:t>CDC / Tomcat hosting path</a:t>
            </a:r>
          </a:p>
        </p:txBody>
      </p:sp>
      <p:sp>
        <p:nvSpPr>
          <p:cNvPr id="12" name="">
            <a:extLst xmlns:a="http://schemas.openxmlformats.org/drawingml/2006/main">
              <a:ext uri="{FF2B5EF4-FFF2-40B4-BE49-F238E27FC236}">
                <a16:creationId xmlns:a16="http://schemas.microsoft.com/office/drawing/2014/main" id="{3D84C012-EE9B-4F15-BA0C-A3945D0DF473}"/>
              </a:ext>
            </a:extLst>
          </p:cNvPr>
          <p:cNvSpPr>
            <a:spLocks xmlns:a="http://schemas.openxmlformats.org/drawingml/2006/main" noGrp="1"/>
          </p:cNvSpPr>
          <p:nvPr/>
        </p:nvSpPr>
        <p:spPr>
          <a:xfrm xmlns:a="http://schemas.openxmlformats.org/drawingml/2006/main">
            <a:off x="4810125" y="3371850"/>
            <a:ext cx="25717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555555"/>
                </a:solidFill>
              </a:defRPr>
            </a:pPr>
            <a:r>
              <a:rPr sz="1500" b="0">
                <a:solidFill>
                  <a:srgbClr val="555555"/>
                </a:solidFill>
              </a:rPr>
              <a:t>WAR deployment, ingress, gateways, CDNs, and load balancers preserve the final headers.</a:t>
            </a:r>
          </a:p>
        </p:txBody>
      </p:sp>
      <p:sp>
        <p:nvSpPr>
          <p:cNvPr id="13" name="">
            <a:extLst xmlns:a="http://schemas.openxmlformats.org/drawingml/2006/main">
              <a:ext uri="{FF2B5EF4-FFF2-40B4-BE49-F238E27FC236}">
                <a16:creationId xmlns:a16="http://schemas.microsoft.com/office/drawing/2014/main" id="{91D50645-9F45-437B-8691-7E38A69208F9}"/>
              </a:ext>
            </a:extLst>
          </p:cNvPr>
          <p:cNvSpPr>
            <a:spLocks xmlns:a="http://schemas.openxmlformats.org/drawingml/2006/main" noGrp="1"/>
          </p:cNvSpPr>
          <p:nvPr/>
        </p:nvSpPr>
        <p:spPr>
          <a:xfrm xmlns:a="http://schemas.openxmlformats.org/drawingml/2006/main">
            <a:off x="8667750" y="272415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4"/>
                </a:solidFill>
              </a:defRPr>
            </a:pPr>
            <a:r>
              <a:rPr sz="1800" b="1">
                <a:solidFill>
                  <a:srgbClr val="0B0F14"/>
                </a:solidFill>
              </a:rPr>
              <a:t>Header evidence</a:t>
            </a:r>
          </a:p>
        </p:txBody>
      </p:sp>
      <p:sp>
        <p:nvSpPr>
          <p:cNvPr id="14" name="">
            <a:extLst xmlns:a="http://schemas.openxmlformats.org/drawingml/2006/main">
              <a:ext uri="{FF2B5EF4-FFF2-40B4-BE49-F238E27FC236}">
                <a16:creationId xmlns:a16="http://schemas.microsoft.com/office/drawing/2014/main" id="{AFA1D503-6867-4A3F-A889-D6EB9221AA0D}"/>
              </a:ext>
            </a:extLst>
          </p:cNvPr>
          <p:cNvSpPr>
            <a:spLocks xmlns:a="http://schemas.openxmlformats.org/drawingml/2006/main" noGrp="1"/>
          </p:cNvSpPr>
          <p:nvPr/>
        </p:nvSpPr>
        <p:spPr>
          <a:xfrm xmlns:a="http://schemas.openxmlformats.org/drawingml/2006/main">
            <a:off x="8667750" y="3219450"/>
            <a:ext cx="2524125"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555555"/>
                </a:solidFill>
              </a:defRPr>
            </a:pPr>
            <a:r>
              <a:rPr sz="1500" b="0">
                <a:solidFill>
                  <a:srgbClr val="555555"/>
                </a:solidFill>
              </a:rPr>
              <a:t>Final-response evidence confirms CSP, Referrer-Policy, no-store, and framing controls.</a:t>
            </a:r>
          </a:p>
        </p:txBody>
      </p:sp>
      <p:sp>
        <p:nvSpPr>
          <p:cNvPr id="15" name="">
            <a:extLst xmlns:a="http://schemas.openxmlformats.org/drawingml/2006/main">
              <a:ext uri="{FF2B5EF4-FFF2-40B4-BE49-F238E27FC236}">
                <a16:creationId xmlns:a16="http://schemas.microsoft.com/office/drawing/2014/main" id="{C507AD35-C105-4B6C-AC29-B8FC862D2CE1}"/>
              </a:ext>
            </a:extLst>
          </p:cNvPr>
          <p:cNvSpPr>
            <a:spLocks xmlns:a="http://schemas.openxmlformats.org/drawingml/2006/main" noGrp="1"/>
          </p:cNvSpPr>
          <p:nvPr/>
        </p:nvSpPr>
        <p:spPr>
          <a:xfrm xmlns:a="http://schemas.openxmlformats.org/drawingml/2006/main">
            <a:off x="11287125" y="6286500"/>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200" b="0">
                <a:solidFill>
                  <a:srgbClr val="555555"/>
                </a:solidFill>
              </a:defRPr>
            </a:pPr>
            <a:r>
              <a:rPr sz="1200" b="0">
                <a:solidFill>
                  <a:srgbClr val="555555"/>
                </a:solidFill>
              </a:rPr>
              <a:t>10</a:t>
            </a:r>
          </a:p>
        </p:txBody>
      </p:sp>
    </p:spTree>
    <p:extLst>
      <p:ext uri="{BB962C8B-B14F-4D97-AF65-F5344CB8AC3E}">
        <p14:creationId xmlns:p14="http://schemas.microsoft.com/office/powerpoint/2010/main" val="18429473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4663966-FC17-474B-9891-1A2250FA529E}"/>
              </a:ext>
            </a:extLst>
          </p:cNvPr>
          <p:cNvSpPr>
            <a:spLocks xmlns:a="http://schemas.openxmlformats.org/drawingml/2006/main" noGrp="1"/>
          </p:cNvSpPr>
          <p:nvPr/>
        </p:nvSpPr>
        <p:spPr>
          <a:xfrm xmlns:a="http://schemas.openxmlformats.org/drawingml/2006/main">
            <a:off x="400050" y="3238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555555"/>
                </a:solidFill>
              </a:defRPr>
            </a:pPr>
            <a:r>
              <a:rPr sz="1200" b="1">
                <a:solidFill>
                  <a:srgbClr val="555555"/>
                </a:solidFill>
              </a:rPr>
              <a:t>MICROBETRACE PARTNER EMBED</a:t>
            </a:r>
          </a:p>
        </p:txBody>
      </p:sp>
      <p:sp>
        <p:nvSpPr>
          <p:cNvPr id="2" name="">
            <a:extLst xmlns:a="http://schemas.openxmlformats.org/drawingml/2006/main">
              <a:ext uri="{FF2B5EF4-FFF2-40B4-BE49-F238E27FC236}">
                <a16:creationId xmlns:a16="http://schemas.microsoft.com/office/drawing/2014/main" id="{331B29C7-BB2C-4033-B475-198EF26E19DD}"/>
              </a:ext>
            </a:extLst>
          </p:cNvPr>
          <p:cNvSpPr>
            <a:spLocks xmlns:a="http://schemas.openxmlformats.org/drawingml/2006/main" noGrp="1"/>
          </p:cNvSpPr>
          <p:nvPr/>
        </p:nvSpPr>
        <p:spPr>
          <a:xfrm xmlns:a="http://schemas.openxmlformats.org/drawingml/2006/main">
            <a:off x="400050" y="723900"/>
            <a:ext cx="10001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4"/>
                </a:solidFill>
              </a:defRPr>
            </a:pPr>
            <a:r>
              <a:rPr sz="3150" b="1">
                <a:solidFill>
                  <a:srgbClr val="0B0F14"/>
                </a:solidFill>
              </a:rPr>
              <a:t>Tests prove both success and denial paths</a:t>
            </a:r>
          </a:p>
        </p:txBody>
      </p:sp>
      <p:sp>
        <p:nvSpPr>
          <p:cNvPr id="3" name="">
            <a:extLst xmlns:a="http://schemas.openxmlformats.org/drawingml/2006/main">
              <a:ext uri="{FF2B5EF4-FFF2-40B4-BE49-F238E27FC236}">
                <a16:creationId xmlns:a16="http://schemas.microsoft.com/office/drawing/2014/main" id="{CDF3DF04-0AA0-47E2-AB86-C711032D22E5}"/>
              </a:ext>
            </a:extLst>
          </p:cNvPr>
          <p:cNvSpPr>
            <a:spLocks xmlns:a="http://schemas.openxmlformats.org/drawingml/2006/main" noGrp="1"/>
          </p:cNvSpPr>
          <p:nvPr/>
        </p:nvSpPr>
        <p:spPr>
          <a:xfrm xmlns:a="http://schemas.openxmlformats.org/drawingml/2006/main">
            <a:off x="419100" y="1562100"/>
            <a:ext cx="857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a:solidFill>
                  <a:srgbClr val="555555"/>
                </a:solidFill>
              </a:defRPr>
            </a:pPr>
            <a:r>
              <a:rPr sz="1650" b="0">
                <a:solidFill>
                  <a:srgbClr val="555555"/>
                </a:solidFill>
              </a:rPr>
              <a:t>The launch test proves both the happy path and the denial cases.</a:t>
            </a:r>
          </a:p>
        </p:txBody>
      </p:sp>
      <p:sp>
        <p:nvSpPr>
          <p:cNvPr id="4" name="">
            <a:extLst xmlns:a="http://schemas.openxmlformats.org/drawingml/2006/main">
              <a:ext uri="{FF2B5EF4-FFF2-40B4-BE49-F238E27FC236}">
                <a16:creationId xmlns:a16="http://schemas.microsoft.com/office/drawing/2014/main" id="{4F9B2559-1AD1-4372-9D04-B5D2A9F36F48}"/>
              </a:ext>
            </a:extLst>
          </p:cNvPr>
          <p:cNvSpPr>
            <a:spLocks xmlns:a="http://schemas.openxmlformats.org/drawingml/2006/main" noGrp="1"/>
          </p:cNvSpPr>
          <p:nvPr/>
        </p:nvSpPr>
        <p:spPr>
          <a:xfrm xmlns:a="http://schemas.openxmlformats.org/drawingml/2006/main">
            <a:off x="609600" y="2571750"/>
            <a:ext cx="2362200" cy="23812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5" name="">
            <a:extLst xmlns:a="http://schemas.openxmlformats.org/drawingml/2006/main">
              <a:ext uri="{FF2B5EF4-FFF2-40B4-BE49-F238E27FC236}">
                <a16:creationId xmlns:a16="http://schemas.microsoft.com/office/drawing/2014/main" id="{9FE3B755-3B30-4C03-93C1-53EBE414E925}"/>
              </a:ext>
            </a:extLst>
          </p:cNvPr>
          <p:cNvSpPr>
            <a:spLocks xmlns:a="http://schemas.openxmlformats.org/drawingml/2006/main" noGrp="1"/>
          </p:cNvSpPr>
          <p:nvPr/>
        </p:nvSpPr>
        <p:spPr>
          <a:xfrm xmlns:a="http://schemas.openxmlformats.org/drawingml/2006/main">
            <a:off x="800100" y="285750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0B0F14"/>
                </a:solidFill>
              </a:defRPr>
            </a:pPr>
            <a:r>
              <a:rPr sz="1950" b="1">
                <a:solidFill>
                  <a:srgbClr val="0B0F14"/>
                </a:solidFill>
              </a:rPr>
              <a:t>Access</a:t>
            </a:r>
          </a:p>
        </p:txBody>
      </p:sp>
      <p:sp>
        <p:nvSpPr>
          <p:cNvPr id="6" name="">
            <a:extLst xmlns:a="http://schemas.openxmlformats.org/drawingml/2006/main">
              <a:ext uri="{FF2B5EF4-FFF2-40B4-BE49-F238E27FC236}">
                <a16:creationId xmlns:a16="http://schemas.microsoft.com/office/drawing/2014/main" id="{B952B41E-646F-48E8-91BA-BD4AF56846A6}"/>
              </a:ext>
            </a:extLst>
          </p:cNvPr>
          <p:cNvSpPr>
            <a:spLocks xmlns:a="http://schemas.openxmlformats.org/drawingml/2006/main" noGrp="1"/>
          </p:cNvSpPr>
          <p:nvPr/>
        </p:nvSpPr>
        <p:spPr>
          <a:xfrm xmlns:a="http://schemas.openxmlformats.org/drawingml/2006/main">
            <a:off x="819150" y="3429000"/>
            <a:ext cx="1905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a:solidFill>
                  <a:srgbClr val="555555"/>
                </a:solidFill>
              </a:defRPr>
            </a:pPr>
            <a:r>
              <a:rPr sz="1650" b="0">
                <a:solidFill>
                  <a:srgbClr val="555555"/>
                </a:solidFill>
              </a:rPr>
              <a:t>authorized user</a:t>
            </a:r>
          </a:p>
          <a:p xmlns:a="http://schemas.openxmlformats.org/drawingml/2006/main">
            <a:pPr algn="l">
              <a:buNone/>
              <a:defRPr sz="1650" b="0">
                <a:solidFill>
                  <a:srgbClr val="555555"/>
                </a:solidFill>
              </a:defRPr>
            </a:pPr>
            <a:r>
              <a:rPr sz="1650" b="0">
                <a:solidFill>
                  <a:srgbClr val="555555"/>
                </a:solidFill>
              </a:rPr>
              <a:t>unauthorized user</a:t>
            </a:r>
          </a:p>
          <a:p xmlns:a="http://schemas.openxmlformats.org/drawingml/2006/main">
            <a:pPr algn="l">
              <a:buNone/>
              <a:defRPr sz="1650" b="0">
                <a:solidFill>
                  <a:srgbClr val="555555"/>
                </a:solidFill>
              </a:defRPr>
            </a:pPr>
            <a:r>
              <a:rPr sz="1650" b="0">
                <a:solidFill>
                  <a:srgbClr val="555555"/>
                </a:solidFill>
              </a:rPr>
              <a:t>partial data rights</a:t>
            </a:r>
          </a:p>
        </p:txBody>
      </p:sp>
      <p:sp>
        <p:nvSpPr>
          <p:cNvPr id="7" name="">
            <a:extLst xmlns:a="http://schemas.openxmlformats.org/drawingml/2006/main">
              <a:ext uri="{FF2B5EF4-FFF2-40B4-BE49-F238E27FC236}">
                <a16:creationId xmlns:a16="http://schemas.microsoft.com/office/drawing/2014/main" id="{2322794D-F848-4BEE-97BA-AFC35E80AABE}"/>
              </a:ext>
            </a:extLst>
          </p:cNvPr>
          <p:cNvSpPr>
            <a:spLocks xmlns:a="http://schemas.openxmlformats.org/drawingml/2006/main" noGrp="1"/>
          </p:cNvSpPr>
          <p:nvPr/>
        </p:nvSpPr>
        <p:spPr>
          <a:xfrm xmlns:a="http://schemas.openxmlformats.org/drawingml/2006/main">
            <a:off x="3486150" y="2571750"/>
            <a:ext cx="2362200" cy="23812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8" name="">
            <a:extLst xmlns:a="http://schemas.openxmlformats.org/drawingml/2006/main">
              <a:ext uri="{FF2B5EF4-FFF2-40B4-BE49-F238E27FC236}">
                <a16:creationId xmlns:a16="http://schemas.microsoft.com/office/drawing/2014/main" id="{BD09DAE4-3746-46E7-90DE-903270E4E78D}"/>
              </a:ext>
            </a:extLst>
          </p:cNvPr>
          <p:cNvSpPr>
            <a:spLocks xmlns:a="http://schemas.openxmlformats.org/drawingml/2006/main" noGrp="1"/>
          </p:cNvSpPr>
          <p:nvPr/>
        </p:nvSpPr>
        <p:spPr>
          <a:xfrm xmlns:a="http://schemas.openxmlformats.org/drawingml/2006/main">
            <a:off x="3676650" y="285750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0B0F14"/>
                </a:solidFill>
              </a:defRPr>
            </a:pPr>
            <a:r>
              <a:rPr sz="1950" b="1">
                <a:solidFill>
                  <a:srgbClr val="0B0F14"/>
                </a:solidFill>
              </a:rPr>
              <a:t>Runtime</a:t>
            </a:r>
          </a:p>
        </p:txBody>
      </p:sp>
      <p:sp>
        <p:nvSpPr>
          <p:cNvPr id="9" name="">
            <a:extLst xmlns:a="http://schemas.openxmlformats.org/drawingml/2006/main">
              <a:ext uri="{FF2B5EF4-FFF2-40B4-BE49-F238E27FC236}">
                <a16:creationId xmlns:a16="http://schemas.microsoft.com/office/drawing/2014/main" id="{49533597-B9F5-4912-B293-2AE046A9B512}"/>
              </a:ext>
            </a:extLst>
          </p:cNvPr>
          <p:cNvSpPr>
            <a:spLocks xmlns:a="http://schemas.openxmlformats.org/drawingml/2006/main" noGrp="1"/>
          </p:cNvSpPr>
          <p:nvPr/>
        </p:nvSpPr>
        <p:spPr>
          <a:xfrm xmlns:a="http://schemas.openxmlformats.org/drawingml/2006/main">
            <a:off x="3695700" y="3429000"/>
            <a:ext cx="1905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a:solidFill>
                  <a:srgbClr val="555555"/>
                </a:solidFill>
              </a:defRPr>
            </a:pPr>
            <a:r>
              <a:rPr sz="1650" b="0">
                <a:solidFill>
                  <a:srgbClr val="555555"/>
                </a:solidFill>
              </a:rPr>
              <a:t>disallowed origin</a:t>
            </a:r>
          </a:p>
          <a:p xmlns:a="http://schemas.openxmlformats.org/drawingml/2006/main">
            <a:pPr algn="l">
              <a:buNone/>
              <a:defRPr sz="1650" b="0">
                <a:solidFill>
                  <a:srgbClr val="555555"/>
                </a:solidFill>
              </a:defRPr>
            </a:pPr>
            <a:r>
              <a:rPr sz="1650" b="0">
                <a:solidFill>
                  <a:srgbClr val="555555"/>
                </a:solidFill>
              </a:rPr>
              <a:t>popup blocked</a:t>
            </a:r>
          </a:p>
          <a:p xmlns:a="http://schemas.openxmlformats.org/drawingml/2006/main">
            <a:pPr algn="l">
              <a:buNone/>
              <a:defRPr sz="1650" b="0">
                <a:solidFill>
                  <a:srgbClr val="555555"/>
                </a:solidFill>
              </a:defRPr>
            </a:pPr>
            <a:r>
              <a:rPr sz="1650" b="0">
                <a:solidFill>
                  <a:srgbClr val="555555"/>
                </a:solidFill>
              </a:rPr>
              <a:t>unsupported browser</a:t>
            </a:r>
          </a:p>
          <a:p xmlns:a="http://schemas.openxmlformats.org/drawingml/2006/main">
            <a:pPr algn="l">
              <a:buNone/>
              <a:defRPr sz="1650" b="0">
                <a:solidFill>
                  <a:srgbClr val="555555"/>
                </a:solidFill>
              </a:defRPr>
            </a:pPr>
            <a:r>
              <a:rPr sz="1650" b="0">
                <a:solidFill>
                  <a:srgbClr val="555555"/>
                </a:solidFill>
              </a:rPr>
              <a:t>tag suppression</a:t>
            </a:r>
          </a:p>
        </p:txBody>
      </p:sp>
      <p:sp>
        <p:nvSpPr>
          <p:cNvPr id="10" name="">
            <a:extLst xmlns:a="http://schemas.openxmlformats.org/drawingml/2006/main">
              <a:ext uri="{FF2B5EF4-FFF2-40B4-BE49-F238E27FC236}">
                <a16:creationId xmlns:a16="http://schemas.microsoft.com/office/drawing/2014/main" id="{59E1EED3-E79E-409F-A588-BC3DF7325707}"/>
              </a:ext>
            </a:extLst>
          </p:cNvPr>
          <p:cNvSpPr>
            <a:spLocks xmlns:a="http://schemas.openxmlformats.org/drawingml/2006/main" noGrp="1"/>
          </p:cNvSpPr>
          <p:nvPr/>
        </p:nvSpPr>
        <p:spPr>
          <a:xfrm xmlns:a="http://schemas.openxmlformats.org/drawingml/2006/main">
            <a:off x="6362700" y="2571750"/>
            <a:ext cx="2362200" cy="23812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11" name="">
            <a:extLst xmlns:a="http://schemas.openxmlformats.org/drawingml/2006/main">
              <a:ext uri="{FF2B5EF4-FFF2-40B4-BE49-F238E27FC236}">
                <a16:creationId xmlns:a16="http://schemas.microsoft.com/office/drawing/2014/main" id="{4C9C8EA8-F876-4829-88B8-FCD71F34359E}"/>
              </a:ext>
            </a:extLst>
          </p:cNvPr>
          <p:cNvSpPr>
            <a:spLocks xmlns:a="http://schemas.openxmlformats.org/drawingml/2006/main" noGrp="1"/>
          </p:cNvSpPr>
          <p:nvPr/>
        </p:nvSpPr>
        <p:spPr>
          <a:xfrm xmlns:a="http://schemas.openxmlformats.org/drawingml/2006/main">
            <a:off x="6553200" y="285750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0B0F14"/>
                </a:solidFill>
              </a:defRPr>
            </a:pPr>
            <a:r>
              <a:rPr sz="1950" b="1">
                <a:solidFill>
                  <a:srgbClr val="0B0F14"/>
                </a:solidFill>
              </a:rPr>
              <a:t>Payload</a:t>
            </a:r>
          </a:p>
        </p:txBody>
      </p:sp>
      <p:sp>
        <p:nvSpPr>
          <p:cNvPr id="12" name="">
            <a:extLst xmlns:a="http://schemas.openxmlformats.org/drawingml/2006/main">
              <a:ext uri="{FF2B5EF4-FFF2-40B4-BE49-F238E27FC236}">
                <a16:creationId xmlns:a16="http://schemas.microsoft.com/office/drawing/2014/main" id="{0AF2E9FC-D450-405B-BF0F-CF072AB6ED48}"/>
              </a:ext>
            </a:extLst>
          </p:cNvPr>
          <p:cNvSpPr>
            <a:spLocks xmlns:a="http://schemas.openxmlformats.org/drawingml/2006/main" noGrp="1"/>
          </p:cNvSpPr>
          <p:nvPr/>
        </p:nvSpPr>
        <p:spPr>
          <a:xfrm xmlns:a="http://schemas.openxmlformats.org/drawingml/2006/main">
            <a:off x="6572250" y="3429000"/>
            <a:ext cx="1905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a:solidFill>
                  <a:srgbClr val="555555"/>
                </a:solidFill>
              </a:defRPr>
            </a:pPr>
            <a:r>
              <a:rPr sz="1650" b="0">
                <a:solidFill>
                  <a:srgbClr val="555555"/>
                </a:solidFill>
              </a:rPr>
              <a:t>oversized files</a:t>
            </a:r>
          </a:p>
          <a:p xmlns:a="http://schemas.openxmlformats.org/drawingml/2006/main">
            <a:pPr algn="l">
              <a:buNone/>
              <a:defRPr sz="1650" b="0">
                <a:solidFill>
                  <a:srgbClr val="555555"/>
                </a:solidFill>
              </a:defRPr>
            </a:pPr>
            <a:r>
              <a:rPr sz="1650" b="0">
                <a:solidFill>
                  <a:srgbClr val="555555"/>
                </a:solidFill>
              </a:rPr>
              <a:t>blocked markup</a:t>
            </a:r>
          </a:p>
          <a:p xmlns:a="http://schemas.openxmlformats.org/drawingml/2006/main">
            <a:pPr algn="l">
              <a:buNone/>
              <a:defRPr sz="1650" b="0">
                <a:solidFill>
                  <a:srgbClr val="555555"/>
                </a:solidFill>
              </a:defRPr>
            </a:pPr>
            <a:r>
              <a:rPr sz="1650" b="0">
                <a:solidFill>
                  <a:srgbClr val="555555"/>
                </a:solidFill>
              </a:rPr>
              <a:t>formula values</a:t>
            </a:r>
          </a:p>
          <a:p xmlns:a="http://schemas.openxmlformats.org/drawingml/2006/main">
            <a:pPr algn="l">
              <a:buNone/>
              <a:defRPr sz="1650" b="0">
                <a:solidFill>
                  <a:srgbClr val="555555"/>
                </a:solidFill>
              </a:defRPr>
            </a:pPr>
            <a:r>
              <a:rPr sz="1650" b="0">
                <a:solidFill>
                  <a:srgbClr val="555555"/>
                </a:solidFill>
              </a:rPr>
              <a:t>metadata limits</a:t>
            </a:r>
          </a:p>
        </p:txBody>
      </p:sp>
      <p:sp>
        <p:nvSpPr>
          <p:cNvPr id="13" name="">
            <a:extLst xmlns:a="http://schemas.openxmlformats.org/drawingml/2006/main">
              <a:ext uri="{FF2B5EF4-FFF2-40B4-BE49-F238E27FC236}">
                <a16:creationId xmlns:a16="http://schemas.microsoft.com/office/drawing/2014/main" id="{C5C3B095-E4C2-42D2-B400-71EA3B9AF65E}"/>
              </a:ext>
            </a:extLst>
          </p:cNvPr>
          <p:cNvSpPr>
            <a:spLocks xmlns:a="http://schemas.openxmlformats.org/drawingml/2006/main" noGrp="1"/>
          </p:cNvSpPr>
          <p:nvPr/>
        </p:nvSpPr>
        <p:spPr>
          <a:xfrm xmlns:a="http://schemas.openxmlformats.org/drawingml/2006/main">
            <a:off x="9239250" y="2571750"/>
            <a:ext cx="2362200" cy="23812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14" name="">
            <a:extLst xmlns:a="http://schemas.openxmlformats.org/drawingml/2006/main">
              <a:ext uri="{FF2B5EF4-FFF2-40B4-BE49-F238E27FC236}">
                <a16:creationId xmlns:a16="http://schemas.microsoft.com/office/drawing/2014/main" id="{6612C8E0-374C-47A3-A4E2-47154FA101CA}"/>
              </a:ext>
            </a:extLst>
          </p:cNvPr>
          <p:cNvSpPr>
            <a:spLocks xmlns:a="http://schemas.openxmlformats.org/drawingml/2006/main" noGrp="1"/>
          </p:cNvSpPr>
          <p:nvPr/>
        </p:nvSpPr>
        <p:spPr>
          <a:xfrm xmlns:a="http://schemas.openxmlformats.org/drawingml/2006/main">
            <a:off x="9429750" y="285750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0B0F14"/>
                </a:solidFill>
              </a:defRPr>
            </a:pPr>
            <a:r>
              <a:rPr sz="1950" b="1">
                <a:solidFill>
                  <a:srgbClr val="0B0F14"/>
                </a:solidFill>
              </a:rPr>
              <a:t>Handoff</a:t>
            </a:r>
          </a:p>
        </p:txBody>
      </p:sp>
      <p:sp>
        <p:nvSpPr>
          <p:cNvPr id="15" name="">
            <a:extLst xmlns:a="http://schemas.openxmlformats.org/drawingml/2006/main">
              <a:ext uri="{FF2B5EF4-FFF2-40B4-BE49-F238E27FC236}">
                <a16:creationId xmlns:a16="http://schemas.microsoft.com/office/drawing/2014/main" id="{52E03D59-7F25-4962-96E5-5E6684331D76}"/>
              </a:ext>
            </a:extLst>
          </p:cNvPr>
          <p:cNvSpPr>
            <a:spLocks xmlns:a="http://schemas.openxmlformats.org/drawingml/2006/main" noGrp="1"/>
          </p:cNvSpPr>
          <p:nvPr/>
        </p:nvSpPr>
        <p:spPr>
          <a:xfrm xmlns:a="http://schemas.openxmlformats.org/drawingml/2006/main">
            <a:off x="9448800" y="3429000"/>
            <a:ext cx="1905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a:solidFill>
                  <a:srgbClr val="555555"/>
                </a:solidFill>
              </a:defRPr>
            </a:pPr>
            <a:r>
              <a:rPr sz="1650" b="0">
                <a:solidFill>
                  <a:srgbClr val="555555"/>
                </a:solidFill>
              </a:rPr>
              <a:t>hash/query load</a:t>
            </a:r>
          </a:p>
          <a:p xmlns:a="http://schemas.openxmlformats.org/drawingml/2006/main">
            <a:pPr algn="l">
              <a:buNone/>
              <a:defRPr sz="1650" b="0">
                <a:solidFill>
                  <a:srgbClr val="555555"/>
                </a:solidFill>
              </a:defRPr>
            </a:pPr>
            <a:r>
              <a:rPr sz="1650" b="0">
                <a:solidFill>
                  <a:srgbClr val="555555"/>
                </a:solidFill>
              </a:rPr>
              <a:t>consume/error cleanup</a:t>
            </a:r>
          </a:p>
          <a:p xmlns:a="http://schemas.openxmlformats.org/drawingml/2006/main">
            <a:pPr algn="l">
              <a:buNone/>
              <a:defRPr sz="1650" b="0">
                <a:solidFill>
                  <a:srgbClr val="555555"/>
                </a:solidFill>
              </a:defRPr>
            </a:pPr>
            <a:r>
              <a:rPr sz="1650" b="0">
                <a:solidFill>
                  <a:srgbClr val="555555"/>
                </a:solidFill>
              </a:rPr>
              <a:t>live headers</a:t>
            </a:r>
          </a:p>
        </p:txBody>
      </p:sp>
      <p:sp>
        <p:nvSpPr>
          <p:cNvPr id="16" name="">
            <a:extLst xmlns:a="http://schemas.openxmlformats.org/drawingml/2006/main">
              <a:ext uri="{FF2B5EF4-FFF2-40B4-BE49-F238E27FC236}">
                <a16:creationId xmlns:a16="http://schemas.microsoft.com/office/drawing/2014/main" id="{F249B1AC-8FE9-48F6-A0BE-3665A2BE271F}"/>
              </a:ext>
            </a:extLst>
          </p:cNvPr>
          <p:cNvSpPr>
            <a:spLocks xmlns:a="http://schemas.openxmlformats.org/drawingml/2006/main" noGrp="1"/>
          </p:cNvSpPr>
          <p:nvPr/>
        </p:nvSpPr>
        <p:spPr>
          <a:xfrm xmlns:a="http://schemas.openxmlformats.org/drawingml/2006/main">
            <a:off x="704850" y="5600700"/>
            <a:ext cx="904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0B0F14"/>
                </a:solidFill>
              </a:defRPr>
            </a:pPr>
            <a:r>
              <a:rPr sz="1800" b="1">
                <a:solidFill>
                  <a:srgbClr val="0B0F14"/>
                </a:solidFill>
              </a:rPr>
              <a:t>Evidence covers denial cases, analytics suppression, and final receiver headers—not only the smoke test.</a:t>
            </a:r>
          </a:p>
        </p:txBody>
      </p:sp>
      <p:sp>
        <p:nvSpPr>
          <p:cNvPr id="17" name="">
            <a:extLst xmlns:a="http://schemas.openxmlformats.org/drawingml/2006/main">
              <a:ext uri="{FF2B5EF4-FFF2-40B4-BE49-F238E27FC236}">
                <a16:creationId xmlns:a16="http://schemas.microsoft.com/office/drawing/2014/main" id="{42A2703C-5585-46E0-9E6D-DDBDF16836D9}"/>
              </a:ext>
            </a:extLst>
          </p:cNvPr>
          <p:cNvSpPr>
            <a:spLocks xmlns:a="http://schemas.openxmlformats.org/drawingml/2006/main" noGrp="1"/>
          </p:cNvSpPr>
          <p:nvPr/>
        </p:nvSpPr>
        <p:spPr>
          <a:xfrm xmlns:a="http://schemas.openxmlformats.org/drawingml/2006/main">
            <a:off x="11287125" y="6286500"/>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200" b="0">
                <a:solidFill>
                  <a:srgbClr val="555555"/>
                </a:solidFill>
              </a:defRPr>
            </a:pPr>
            <a:r>
              <a:rPr sz="1200" b="0">
                <a:solidFill>
                  <a:srgbClr val="555555"/>
                </a:solidFill>
              </a:rPr>
              <a:t>11</a:t>
            </a:r>
          </a:p>
        </p:txBody>
      </p:sp>
    </p:spTree>
    <p:extLst>
      <p:ext uri="{BB962C8B-B14F-4D97-AF65-F5344CB8AC3E}">
        <p14:creationId xmlns:p14="http://schemas.microsoft.com/office/powerpoint/2010/main" val="51739794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016DA5F-B7A2-48E5-AC3F-C663B6DE3E04}"/>
              </a:ext>
            </a:extLst>
          </p:cNvPr>
          <p:cNvSpPr>
            <a:spLocks xmlns:a="http://schemas.openxmlformats.org/drawingml/2006/main" noGrp="1"/>
          </p:cNvSpPr>
          <p:nvPr/>
        </p:nvSpPr>
        <p:spPr>
          <a:xfrm xmlns:a="http://schemas.openxmlformats.org/drawingml/2006/main">
            <a:off x="400050" y="3238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555555"/>
                </a:solidFill>
              </a:defRPr>
            </a:pPr>
            <a:r>
              <a:rPr sz="1200" b="1">
                <a:solidFill>
                  <a:srgbClr val="555555"/>
                </a:solidFill>
              </a:rPr>
              <a:t>MICROBETRACE PARTNER EMBED</a:t>
            </a:r>
          </a:p>
        </p:txBody>
      </p:sp>
      <p:sp>
        <p:nvSpPr>
          <p:cNvPr id="2" name="">
            <a:extLst xmlns:a="http://schemas.openxmlformats.org/drawingml/2006/main">
              <a:ext uri="{FF2B5EF4-FFF2-40B4-BE49-F238E27FC236}">
                <a16:creationId xmlns:a16="http://schemas.microsoft.com/office/drawing/2014/main" id="{79A6B566-5ABD-49B7-9F42-6C43D8BEFDE9}"/>
              </a:ext>
            </a:extLst>
          </p:cNvPr>
          <p:cNvSpPr>
            <a:spLocks xmlns:a="http://schemas.openxmlformats.org/drawingml/2006/main" noGrp="1"/>
          </p:cNvSpPr>
          <p:nvPr/>
        </p:nvSpPr>
        <p:spPr>
          <a:xfrm xmlns:a="http://schemas.openxmlformats.org/drawingml/2006/main">
            <a:off x="400050" y="723900"/>
            <a:ext cx="10001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4"/>
                </a:solidFill>
              </a:defRPr>
            </a:pPr>
            <a:r>
              <a:rPr sz="3150" b="1">
                <a:solidFill>
                  <a:srgbClr val="0B0F14"/>
                </a:solidFill>
              </a:rPr>
              <a:t>MicrobeTrace controls reduce handoff abuse risks</a:t>
            </a:r>
          </a:p>
        </p:txBody>
      </p:sp>
      <p:sp>
        <p:nvSpPr>
          <p:cNvPr id="3" name="">
            <a:extLst xmlns:a="http://schemas.openxmlformats.org/drawingml/2006/main">
              <a:ext uri="{FF2B5EF4-FFF2-40B4-BE49-F238E27FC236}">
                <a16:creationId xmlns:a16="http://schemas.microsoft.com/office/drawing/2014/main" id="{132EA8DB-1852-417A-84E2-6F49EBFD91DA}"/>
              </a:ext>
            </a:extLst>
          </p:cNvPr>
          <p:cNvSpPr>
            <a:spLocks xmlns:a="http://schemas.openxmlformats.org/drawingml/2006/main" noGrp="1"/>
          </p:cNvSpPr>
          <p:nvPr/>
        </p:nvSpPr>
        <p:spPr>
          <a:xfrm xmlns:a="http://schemas.openxmlformats.org/drawingml/2006/main">
            <a:off x="419100" y="1562100"/>
            <a:ext cx="857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a:solidFill>
                  <a:srgbClr val="555555"/>
                </a:solidFill>
              </a:defRPr>
            </a:pPr>
            <a:r>
              <a:rPr sz="1650" b="0">
                <a:solidFill>
                  <a:srgbClr val="555555"/>
                </a:solidFill>
              </a:rPr>
              <a:t>These are the main failure modes the SDK and receiver are designed to reject.</a:t>
            </a:r>
          </a:p>
        </p:txBody>
      </p:sp>
      <p:sp>
        <p:nvSpPr>
          <p:cNvPr id="4" name="">
            <a:extLst xmlns:a="http://schemas.openxmlformats.org/drawingml/2006/main">
              <a:ext uri="{FF2B5EF4-FFF2-40B4-BE49-F238E27FC236}">
                <a16:creationId xmlns:a16="http://schemas.microsoft.com/office/drawing/2014/main" id="{6CFD7D5C-D585-4201-9AAF-962F2E724562}"/>
              </a:ext>
            </a:extLst>
          </p:cNvPr>
          <p:cNvSpPr>
            <a:spLocks xmlns:a="http://schemas.openxmlformats.org/drawingml/2006/main" noGrp="1"/>
          </p:cNvSpPr>
          <p:nvPr/>
        </p:nvSpPr>
        <p:spPr>
          <a:xfrm xmlns:a="http://schemas.openxmlformats.org/drawingml/2006/main">
            <a:off x="514350" y="2266950"/>
            <a:ext cx="5334000" cy="1571625"/>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5" name="">
            <a:extLst xmlns:a="http://schemas.openxmlformats.org/drawingml/2006/main">
              <a:ext uri="{FF2B5EF4-FFF2-40B4-BE49-F238E27FC236}">
                <a16:creationId xmlns:a16="http://schemas.microsoft.com/office/drawing/2014/main" id="{AB7ECB46-3345-48C5-ADB8-29F2AA2934D9}"/>
              </a:ext>
            </a:extLst>
          </p:cNvPr>
          <p:cNvSpPr>
            <a:spLocks xmlns:a="http://schemas.openxmlformats.org/drawingml/2006/main" noGrp="1"/>
          </p:cNvSpPr>
          <p:nvPr/>
        </p:nvSpPr>
        <p:spPr>
          <a:xfrm xmlns:a="http://schemas.openxmlformats.org/drawingml/2006/main">
            <a:off x="685800" y="2400300"/>
            <a:ext cx="4991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0B0F14"/>
                </a:solidFill>
              </a:defRPr>
            </a:pPr>
            <a:r>
              <a:rPr sz="1650" b="1">
                <a:solidFill>
                  <a:srgbClr val="0B0F14"/>
                </a:solidFill>
              </a:rPr>
              <a:t>Wrong MicrobeTrace target</a:t>
            </a:r>
          </a:p>
        </p:txBody>
      </p:sp>
      <p:sp>
        <p:nvSpPr>
          <p:cNvPr id="6" name="">
            <a:extLst xmlns:a="http://schemas.openxmlformats.org/drawingml/2006/main">
              <a:ext uri="{FF2B5EF4-FFF2-40B4-BE49-F238E27FC236}">
                <a16:creationId xmlns:a16="http://schemas.microsoft.com/office/drawing/2014/main" id="{BEC9290B-8050-42C9-A6DE-22B2FE8CC654}"/>
              </a:ext>
            </a:extLst>
          </p:cNvPr>
          <p:cNvSpPr>
            <a:spLocks xmlns:a="http://schemas.openxmlformats.org/drawingml/2006/main" noGrp="1"/>
          </p:cNvSpPr>
          <p:nvPr/>
        </p:nvSpPr>
        <p:spPr>
          <a:xfrm xmlns:a="http://schemas.openxmlformats.org/drawingml/2006/main">
            <a:off x="685800" y="2819400"/>
            <a:ext cx="781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A53E17"/>
                </a:solidFill>
              </a:defRPr>
            </a:pPr>
            <a:r>
              <a:rPr sz="1050" b="1">
                <a:solidFill>
                  <a:srgbClr val="A53E17"/>
                </a:solidFill>
              </a:rPr>
              <a:t>Example</a:t>
            </a:r>
          </a:p>
        </p:txBody>
      </p:sp>
      <p:sp>
        <p:nvSpPr>
          <p:cNvPr id="7" name="">
            <a:extLst xmlns:a="http://schemas.openxmlformats.org/drawingml/2006/main">
              <a:ext uri="{FF2B5EF4-FFF2-40B4-BE49-F238E27FC236}">
                <a16:creationId xmlns:a16="http://schemas.microsoft.com/office/drawing/2014/main" id="{52A7B915-F7A0-441F-8FBE-B259EB0C2F98}"/>
              </a:ext>
            </a:extLst>
          </p:cNvPr>
          <p:cNvSpPr>
            <a:spLocks xmlns:a="http://schemas.openxmlformats.org/drawingml/2006/main" noGrp="1"/>
          </p:cNvSpPr>
          <p:nvPr/>
        </p:nvSpPr>
        <p:spPr>
          <a:xfrm xmlns:a="http://schemas.openxmlformats.org/drawingml/2006/main">
            <a:off x="1581150" y="2790825"/>
            <a:ext cx="4076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555555"/>
                </a:solidFill>
              </a:defRPr>
            </a:pPr>
            <a:r>
              <a:rPr sz="1200" b="0">
                <a:solidFill>
                  <a:srgbClr val="555555"/>
                </a:solidFill>
              </a:rPr>
              <a:t>A page tries to set target to https://example.org or another unreviewed host.</a:t>
            </a:r>
          </a:p>
        </p:txBody>
      </p:sp>
      <p:sp>
        <p:nvSpPr>
          <p:cNvPr id="8" name="">
            <a:extLst xmlns:a="http://schemas.openxmlformats.org/drawingml/2006/main">
              <a:ext uri="{FF2B5EF4-FFF2-40B4-BE49-F238E27FC236}">
                <a16:creationId xmlns:a16="http://schemas.microsoft.com/office/drawing/2014/main" id="{15F8C91E-DB91-4E19-8916-E2629E882D0A}"/>
              </a:ext>
            </a:extLst>
          </p:cNvPr>
          <p:cNvSpPr>
            <a:spLocks xmlns:a="http://schemas.openxmlformats.org/drawingml/2006/main" noGrp="1"/>
          </p:cNvSpPr>
          <p:nvPr/>
        </p:nvSpPr>
        <p:spPr>
          <a:xfrm xmlns:a="http://schemas.openxmlformats.org/drawingml/2006/main">
            <a:off x="685800" y="3295650"/>
            <a:ext cx="876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1E5B99"/>
                </a:solidFill>
              </a:defRPr>
            </a:pPr>
            <a:r>
              <a:rPr sz="1050" b="1">
                <a:solidFill>
                  <a:srgbClr val="1E5B99"/>
                </a:solidFill>
              </a:rPr>
              <a:t>Mitigation</a:t>
            </a:r>
          </a:p>
        </p:txBody>
      </p:sp>
      <p:sp>
        <p:nvSpPr>
          <p:cNvPr id="9" name="">
            <a:extLst xmlns:a="http://schemas.openxmlformats.org/drawingml/2006/main">
              <a:ext uri="{FF2B5EF4-FFF2-40B4-BE49-F238E27FC236}">
                <a16:creationId xmlns:a16="http://schemas.microsoft.com/office/drawing/2014/main" id="{D748CCAE-60F5-41DF-9592-15E9805570AA}"/>
              </a:ext>
            </a:extLst>
          </p:cNvPr>
          <p:cNvSpPr>
            <a:spLocks xmlns:a="http://schemas.openxmlformats.org/drawingml/2006/main" noGrp="1"/>
          </p:cNvSpPr>
          <p:nvPr/>
        </p:nvSpPr>
        <p:spPr>
          <a:xfrm xmlns:a="http://schemas.openxmlformats.org/drawingml/2006/main">
            <a:off x="1676400" y="3257550"/>
            <a:ext cx="3981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0B0F14"/>
                </a:solidFill>
              </a:defRPr>
            </a:pPr>
            <a:r>
              <a:rPr sz="1200" b="0">
                <a:solidFill>
                  <a:srgbClr val="0B0F14"/>
                </a:solidFill>
              </a:rPr>
              <a:t>Infer target from the SDK URL and reject cross-origin targets unless allowedTargetOrigins is reviewed.</a:t>
            </a:r>
          </a:p>
        </p:txBody>
      </p:sp>
      <p:sp>
        <p:nvSpPr>
          <p:cNvPr id="10" name="">
            <a:extLst xmlns:a="http://schemas.openxmlformats.org/drawingml/2006/main">
              <a:ext uri="{FF2B5EF4-FFF2-40B4-BE49-F238E27FC236}">
                <a16:creationId xmlns:a16="http://schemas.microsoft.com/office/drawing/2014/main" id="{6D230684-B8DB-4DB9-B58C-6BDAD4BE2B38}"/>
              </a:ext>
            </a:extLst>
          </p:cNvPr>
          <p:cNvSpPr>
            <a:spLocks xmlns:a="http://schemas.openxmlformats.org/drawingml/2006/main" noGrp="1"/>
          </p:cNvSpPr>
          <p:nvPr/>
        </p:nvSpPr>
        <p:spPr>
          <a:xfrm xmlns:a="http://schemas.openxmlformats.org/drawingml/2006/main">
            <a:off x="6343650" y="2266950"/>
            <a:ext cx="5334000" cy="1571625"/>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11" name="">
            <a:extLst xmlns:a="http://schemas.openxmlformats.org/drawingml/2006/main">
              <a:ext uri="{FF2B5EF4-FFF2-40B4-BE49-F238E27FC236}">
                <a16:creationId xmlns:a16="http://schemas.microsoft.com/office/drawing/2014/main" id="{1A00E1E6-0A2A-4FFF-ACB7-6CDC330DA3B3}"/>
              </a:ext>
            </a:extLst>
          </p:cNvPr>
          <p:cNvSpPr>
            <a:spLocks xmlns:a="http://schemas.openxmlformats.org/drawingml/2006/main" noGrp="1"/>
          </p:cNvSpPr>
          <p:nvPr/>
        </p:nvSpPr>
        <p:spPr>
          <a:xfrm xmlns:a="http://schemas.openxmlformats.org/drawingml/2006/main">
            <a:off x="6515100" y="2400300"/>
            <a:ext cx="4991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0B0F14"/>
                </a:solidFill>
              </a:defRPr>
            </a:pPr>
            <a:r>
              <a:rPr sz="1650" b="1">
                <a:solidFill>
                  <a:srgbClr val="0B0F14"/>
                </a:solidFill>
              </a:rPr>
              <a:t>Spoofed receiver message</a:t>
            </a:r>
          </a:p>
        </p:txBody>
      </p:sp>
      <p:sp>
        <p:nvSpPr>
          <p:cNvPr id="12" name="">
            <a:extLst xmlns:a="http://schemas.openxmlformats.org/drawingml/2006/main">
              <a:ext uri="{FF2B5EF4-FFF2-40B4-BE49-F238E27FC236}">
                <a16:creationId xmlns:a16="http://schemas.microsoft.com/office/drawing/2014/main" id="{12D1B281-8337-4463-BA82-33C19A1F296D}"/>
              </a:ext>
            </a:extLst>
          </p:cNvPr>
          <p:cNvSpPr>
            <a:spLocks xmlns:a="http://schemas.openxmlformats.org/drawingml/2006/main" noGrp="1"/>
          </p:cNvSpPr>
          <p:nvPr/>
        </p:nvSpPr>
        <p:spPr>
          <a:xfrm xmlns:a="http://schemas.openxmlformats.org/drawingml/2006/main">
            <a:off x="6515100" y="2819400"/>
            <a:ext cx="781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A53E17"/>
                </a:solidFill>
              </a:defRPr>
            </a:pPr>
            <a:r>
              <a:rPr sz="1050" b="1">
                <a:solidFill>
                  <a:srgbClr val="A53E17"/>
                </a:solidFill>
              </a:rPr>
              <a:t>Example</a:t>
            </a:r>
          </a:p>
        </p:txBody>
      </p:sp>
      <p:sp>
        <p:nvSpPr>
          <p:cNvPr id="13" name="">
            <a:extLst xmlns:a="http://schemas.openxmlformats.org/drawingml/2006/main">
              <a:ext uri="{FF2B5EF4-FFF2-40B4-BE49-F238E27FC236}">
                <a16:creationId xmlns:a16="http://schemas.microsoft.com/office/drawing/2014/main" id="{82765C9C-4DC2-48E5-AD0A-FAFFCEA56CA3}"/>
              </a:ext>
            </a:extLst>
          </p:cNvPr>
          <p:cNvSpPr>
            <a:spLocks xmlns:a="http://schemas.openxmlformats.org/drawingml/2006/main" noGrp="1"/>
          </p:cNvSpPr>
          <p:nvPr/>
        </p:nvSpPr>
        <p:spPr>
          <a:xfrm xmlns:a="http://schemas.openxmlformats.org/drawingml/2006/main">
            <a:off x="7410450" y="2790825"/>
            <a:ext cx="4076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555555"/>
                </a:solidFill>
              </a:defRPr>
            </a:pPr>
            <a:r>
              <a:rPr sz="1200" b="0">
                <a:solidFill>
                  <a:srgbClr val="555555"/>
                </a:solidFill>
              </a:rPr>
              <a:t>An unrelated popup sends a fake READY message to get the partner page to post files.</a:t>
            </a:r>
          </a:p>
        </p:txBody>
      </p:sp>
      <p:sp>
        <p:nvSpPr>
          <p:cNvPr id="14" name="">
            <a:extLst xmlns:a="http://schemas.openxmlformats.org/drawingml/2006/main">
              <a:ext uri="{FF2B5EF4-FFF2-40B4-BE49-F238E27FC236}">
                <a16:creationId xmlns:a16="http://schemas.microsoft.com/office/drawing/2014/main" id="{ED899A69-D89E-4050-9D6D-9FF61A736AE9}"/>
              </a:ext>
            </a:extLst>
          </p:cNvPr>
          <p:cNvSpPr>
            <a:spLocks xmlns:a="http://schemas.openxmlformats.org/drawingml/2006/main" noGrp="1"/>
          </p:cNvSpPr>
          <p:nvPr/>
        </p:nvSpPr>
        <p:spPr>
          <a:xfrm xmlns:a="http://schemas.openxmlformats.org/drawingml/2006/main">
            <a:off x="6515100" y="3295650"/>
            <a:ext cx="876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1E5B99"/>
                </a:solidFill>
              </a:defRPr>
            </a:pPr>
            <a:r>
              <a:rPr sz="1050" b="1">
                <a:solidFill>
                  <a:srgbClr val="1E5B99"/>
                </a:solidFill>
              </a:rPr>
              <a:t>Mitigation</a:t>
            </a:r>
          </a:p>
        </p:txBody>
      </p:sp>
      <p:sp>
        <p:nvSpPr>
          <p:cNvPr id="15" name="">
            <a:extLst xmlns:a="http://schemas.openxmlformats.org/drawingml/2006/main">
              <a:ext uri="{FF2B5EF4-FFF2-40B4-BE49-F238E27FC236}">
                <a16:creationId xmlns:a16="http://schemas.microsoft.com/office/drawing/2014/main" id="{0FAE5553-204C-4D38-B9D3-610CD553479C}"/>
              </a:ext>
            </a:extLst>
          </p:cNvPr>
          <p:cNvSpPr>
            <a:spLocks xmlns:a="http://schemas.openxmlformats.org/drawingml/2006/main" noGrp="1"/>
          </p:cNvSpPr>
          <p:nvPr/>
        </p:nvSpPr>
        <p:spPr>
          <a:xfrm xmlns:a="http://schemas.openxmlformats.org/drawingml/2006/main">
            <a:off x="7505700" y="3257550"/>
            <a:ext cx="3981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0B0F14"/>
                </a:solidFill>
              </a:defRPr>
            </a:pPr>
            <a:r>
              <a:rPr sz="1200" b="0">
                <a:solidFill>
                  <a:srgbClr val="0B0F14"/>
                </a:solidFill>
              </a:rPr>
              <a:t>Check popup identity, receiver origin, partnerId, and one-time nonce before sending files.</a:t>
            </a:r>
          </a:p>
        </p:txBody>
      </p:sp>
      <p:sp>
        <p:nvSpPr>
          <p:cNvPr id="16" name="">
            <a:extLst xmlns:a="http://schemas.openxmlformats.org/drawingml/2006/main">
              <a:ext uri="{FF2B5EF4-FFF2-40B4-BE49-F238E27FC236}">
                <a16:creationId xmlns:a16="http://schemas.microsoft.com/office/drawing/2014/main" id="{2B7812D2-0108-4343-A56C-0A21C0DC950A}"/>
              </a:ext>
            </a:extLst>
          </p:cNvPr>
          <p:cNvSpPr>
            <a:spLocks xmlns:a="http://schemas.openxmlformats.org/drawingml/2006/main" noGrp="1"/>
          </p:cNvSpPr>
          <p:nvPr/>
        </p:nvSpPr>
        <p:spPr>
          <a:xfrm xmlns:a="http://schemas.openxmlformats.org/drawingml/2006/main">
            <a:off x="514350" y="4076700"/>
            <a:ext cx="5334000" cy="1571625"/>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17" name="">
            <a:extLst xmlns:a="http://schemas.openxmlformats.org/drawingml/2006/main">
              <a:ext uri="{FF2B5EF4-FFF2-40B4-BE49-F238E27FC236}">
                <a16:creationId xmlns:a16="http://schemas.microsoft.com/office/drawing/2014/main" id="{36C95D1A-B4D0-4588-8B25-F2DC1A565350}"/>
              </a:ext>
            </a:extLst>
          </p:cNvPr>
          <p:cNvSpPr>
            <a:spLocks xmlns:a="http://schemas.openxmlformats.org/drawingml/2006/main" noGrp="1"/>
          </p:cNvSpPr>
          <p:nvPr/>
        </p:nvSpPr>
        <p:spPr>
          <a:xfrm xmlns:a="http://schemas.openxmlformats.org/drawingml/2006/main">
            <a:off x="685800" y="4210050"/>
            <a:ext cx="4991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0B0F14"/>
                </a:solidFill>
              </a:defRPr>
            </a:pPr>
            <a:r>
              <a:rPr sz="1650" b="1">
                <a:solidFill>
                  <a:srgbClr val="0B0F14"/>
                </a:solidFill>
              </a:rPr>
              <a:t>Unapproved partner origin</a:t>
            </a:r>
          </a:p>
        </p:txBody>
      </p:sp>
      <p:sp>
        <p:nvSpPr>
          <p:cNvPr id="18" name="">
            <a:extLst xmlns:a="http://schemas.openxmlformats.org/drawingml/2006/main">
              <a:ext uri="{FF2B5EF4-FFF2-40B4-BE49-F238E27FC236}">
                <a16:creationId xmlns:a16="http://schemas.microsoft.com/office/drawing/2014/main" id="{B3C8DD2A-8897-420F-BC25-812998969F6A}"/>
              </a:ext>
            </a:extLst>
          </p:cNvPr>
          <p:cNvSpPr>
            <a:spLocks xmlns:a="http://schemas.openxmlformats.org/drawingml/2006/main" noGrp="1"/>
          </p:cNvSpPr>
          <p:nvPr/>
        </p:nvSpPr>
        <p:spPr>
          <a:xfrm xmlns:a="http://schemas.openxmlformats.org/drawingml/2006/main">
            <a:off x="685800" y="4629150"/>
            <a:ext cx="781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A53E17"/>
                </a:solidFill>
              </a:defRPr>
            </a:pPr>
            <a:r>
              <a:rPr sz="1050" b="1">
                <a:solidFill>
                  <a:srgbClr val="A53E17"/>
                </a:solidFill>
              </a:rPr>
              <a:t>Example</a:t>
            </a:r>
          </a:p>
        </p:txBody>
      </p:sp>
      <p:sp>
        <p:nvSpPr>
          <p:cNvPr id="19" name="">
            <a:extLst xmlns:a="http://schemas.openxmlformats.org/drawingml/2006/main">
              <a:ext uri="{FF2B5EF4-FFF2-40B4-BE49-F238E27FC236}">
                <a16:creationId xmlns:a16="http://schemas.microsoft.com/office/drawing/2014/main" id="{87C5B256-609C-4BA2-8984-CD2294E5B5CC}"/>
              </a:ext>
            </a:extLst>
          </p:cNvPr>
          <p:cNvSpPr>
            <a:spLocks xmlns:a="http://schemas.openxmlformats.org/drawingml/2006/main" noGrp="1"/>
          </p:cNvSpPr>
          <p:nvPr/>
        </p:nvSpPr>
        <p:spPr>
          <a:xfrm xmlns:a="http://schemas.openxmlformats.org/drawingml/2006/main">
            <a:off x="1581150" y="4600575"/>
            <a:ext cx="4076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555555"/>
                </a:solidFill>
              </a:defRPr>
            </a:pPr>
            <a:r>
              <a:rPr sz="1200" b="0">
                <a:solidFill>
                  <a:srgbClr val="555555"/>
                </a:solidFill>
              </a:rPr>
              <a:t>A copied SDK call runs from a host that was not onboarded for this partnerId.</a:t>
            </a:r>
          </a:p>
        </p:txBody>
      </p:sp>
      <p:sp>
        <p:nvSpPr>
          <p:cNvPr id="20" name="">
            <a:extLst xmlns:a="http://schemas.openxmlformats.org/drawingml/2006/main">
              <a:ext uri="{FF2B5EF4-FFF2-40B4-BE49-F238E27FC236}">
                <a16:creationId xmlns:a16="http://schemas.microsoft.com/office/drawing/2014/main" id="{3E296F37-5D73-45FE-A537-443BE6B4DB4A}"/>
              </a:ext>
            </a:extLst>
          </p:cNvPr>
          <p:cNvSpPr>
            <a:spLocks xmlns:a="http://schemas.openxmlformats.org/drawingml/2006/main" noGrp="1"/>
          </p:cNvSpPr>
          <p:nvPr/>
        </p:nvSpPr>
        <p:spPr>
          <a:xfrm xmlns:a="http://schemas.openxmlformats.org/drawingml/2006/main">
            <a:off x="685800" y="5105400"/>
            <a:ext cx="876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1E5B99"/>
                </a:solidFill>
              </a:defRPr>
            </a:pPr>
            <a:r>
              <a:rPr sz="1050" b="1">
                <a:solidFill>
                  <a:srgbClr val="1E5B99"/>
                </a:solidFill>
              </a:rPr>
              <a:t>Mitigation</a:t>
            </a:r>
          </a:p>
        </p:txBody>
      </p:sp>
      <p:sp>
        <p:nvSpPr>
          <p:cNvPr id="21" name="">
            <a:extLst xmlns:a="http://schemas.openxmlformats.org/drawingml/2006/main">
              <a:ext uri="{FF2B5EF4-FFF2-40B4-BE49-F238E27FC236}">
                <a16:creationId xmlns:a16="http://schemas.microsoft.com/office/drawing/2014/main" id="{B412AE6A-BC60-45C5-AEC8-9D2150BAF504}"/>
              </a:ext>
            </a:extLst>
          </p:cNvPr>
          <p:cNvSpPr>
            <a:spLocks xmlns:a="http://schemas.openxmlformats.org/drawingml/2006/main" noGrp="1"/>
          </p:cNvSpPr>
          <p:nvPr/>
        </p:nvSpPr>
        <p:spPr>
          <a:xfrm xmlns:a="http://schemas.openxmlformats.org/drawingml/2006/main">
            <a:off x="1676400" y="5067300"/>
            <a:ext cx="3981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0B0F14"/>
                </a:solidFill>
              </a:defRPr>
            </a:pPr>
            <a:r>
              <a:rPr sz="1200" b="0">
                <a:solidFill>
                  <a:srgbClr val="0B0F14"/>
                </a:solidFill>
              </a:rPr>
              <a:t>Receiver loads the partner allowlist and accepts messages only from exact configured origins.</a:t>
            </a:r>
          </a:p>
        </p:txBody>
      </p:sp>
      <p:sp>
        <p:nvSpPr>
          <p:cNvPr id="22" name="">
            <a:extLst xmlns:a="http://schemas.openxmlformats.org/drawingml/2006/main">
              <a:ext uri="{FF2B5EF4-FFF2-40B4-BE49-F238E27FC236}">
                <a16:creationId xmlns:a16="http://schemas.microsoft.com/office/drawing/2014/main" id="{DA3882F8-6EB2-463E-ABBB-2DF5D14E40FB}"/>
              </a:ext>
            </a:extLst>
          </p:cNvPr>
          <p:cNvSpPr>
            <a:spLocks xmlns:a="http://schemas.openxmlformats.org/drawingml/2006/main" noGrp="1"/>
          </p:cNvSpPr>
          <p:nvPr/>
        </p:nvSpPr>
        <p:spPr>
          <a:xfrm xmlns:a="http://schemas.openxmlformats.org/drawingml/2006/main">
            <a:off x="6343650" y="4076700"/>
            <a:ext cx="5334000" cy="1571625"/>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23" name="">
            <a:extLst xmlns:a="http://schemas.openxmlformats.org/drawingml/2006/main">
              <a:ext uri="{FF2B5EF4-FFF2-40B4-BE49-F238E27FC236}">
                <a16:creationId xmlns:a16="http://schemas.microsoft.com/office/drawing/2014/main" id="{AF149806-B49D-4657-BD36-2AE3F1969B2D}"/>
              </a:ext>
            </a:extLst>
          </p:cNvPr>
          <p:cNvSpPr>
            <a:spLocks xmlns:a="http://schemas.openxmlformats.org/drawingml/2006/main" noGrp="1"/>
          </p:cNvSpPr>
          <p:nvPr/>
        </p:nvSpPr>
        <p:spPr>
          <a:xfrm xmlns:a="http://schemas.openxmlformats.org/drawingml/2006/main">
            <a:off x="6515100" y="4210050"/>
            <a:ext cx="4991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0B0F14"/>
                </a:solidFill>
              </a:defRPr>
            </a:pPr>
            <a:r>
              <a:rPr sz="1650" b="1">
                <a:solidFill>
                  <a:srgbClr val="0B0F14"/>
                </a:solidFill>
              </a:rPr>
              <a:t>Unsafe or oversized payload</a:t>
            </a:r>
          </a:p>
        </p:txBody>
      </p:sp>
      <p:sp>
        <p:nvSpPr>
          <p:cNvPr id="24" name="">
            <a:extLst xmlns:a="http://schemas.openxmlformats.org/drawingml/2006/main">
              <a:ext uri="{FF2B5EF4-FFF2-40B4-BE49-F238E27FC236}">
                <a16:creationId xmlns:a16="http://schemas.microsoft.com/office/drawing/2014/main" id="{CA168FB3-7384-4C5F-99F3-26D71F822C7E}"/>
              </a:ext>
            </a:extLst>
          </p:cNvPr>
          <p:cNvSpPr>
            <a:spLocks xmlns:a="http://schemas.openxmlformats.org/drawingml/2006/main" noGrp="1"/>
          </p:cNvSpPr>
          <p:nvPr/>
        </p:nvSpPr>
        <p:spPr>
          <a:xfrm xmlns:a="http://schemas.openxmlformats.org/drawingml/2006/main">
            <a:off x="6515100" y="4629150"/>
            <a:ext cx="781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A53E17"/>
                </a:solidFill>
              </a:defRPr>
            </a:pPr>
            <a:r>
              <a:rPr sz="1050" b="1">
                <a:solidFill>
                  <a:srgbClr val="A53E17"/>
                </a:solidFill>
              </a:rPr>
              <a:t>Example</a:t>
            </a:r>
          </a:p>
        </p:txBody>
      </p:sp>
      <p:sp>
        <p:nvSpPr>
          <p:cNvPr id="25" name="">
            <a:extLst xmlns:a="http://schemas.openxmlformats.org/drawingml/2006/main">
              <a:ext uri="{FF2B5EF4-FFF2-40B4-BE49-F238E27FC236}">
                <a16:creationId xmlns:a16="http://schemas.microsoft.com/office/drawing/2014/main" id="{EA67A86B-0594-479B-A643-BBE70D02F74A}"/>
              </a:ext>
            </a:extLst>
          </p:cNvPr>
          <p:cNvSpPr>
            <a:spLocks xmlns:a="http://schemas.openxmlformats.org/drawingml/2006/main" noGrp="1"/>
          </p:cNvSpPr>
          <p:nvPr/>
        </p:nvSpPr>
        <p:spPr>
          <a:xfrm xmlns:a="http://schemas.openxmlformats.org/drawingml/2006/main">
            <a:off x="7410450" y="4600575"/>
            <a:ext cx="4076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555555"/>
                </a:solidFill>
              </a:defRPr>
            </a:pPr>
            <a:r>
              <a:rPr sz="1200" b="0">
                <a:solidFill>
                  <a:srgbClr val="555555"/>
                </a:solidFill>
              </a:rPr>
              <a:t>The payload includes script-like markup, unsupported files, or more bytes than allowed.</a:t>
            </a:r>
          </a:p>
        </p:txBody>
      </p:sp>
      <p:sp>
        <p:nvSpPr>
          <p:cNvPr id="26" name="">
            <a:extLst xmlns:a="http://schemas.openxmlformats.org/drawingml/2006/main">
              <a:ext uri="{FF2B5EF4-FFF2-40B4-BE49-F238E27FC236}">
                <a16:creationId xmlns:a16="http://schemas.microsoft.com/office/drawing/2014/main" id="{0BBA3832-F5B8-4D7D-8B6E-A9B38A2A9018}"/>
              </a:ext>
            </a:extLst>
          </p:cNvPr>
          <p:cNvSpPr>
            <a:spLocks xmlns:a="http://schemas.openxmlformats.org/drawingml/2006/main" noGrp="1"/>
          </p:cNvSpPr>
          <p:nvPr/>
        </p:nvSpPr>
        <p:spPr>
          <a:xfrm xmlns:a="http://schemas.openxmlformats.org/drawingml/2006/main">
            <a:off x="6515100" y="5105400"/>
            <a:ext cx="876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1E5B99"/>
                </a:solidFill>
              </a:defRPr>
            </a:pPr>
            <a:r>
              <a:rPr sz="1050" b="1">
                <a:solidFill>
                  <a:srgbClr val="1E5B99"/>
                </a:solidFill>
              </a:rPr>
              <a:t>Mitigation</a:t>
            </a:r>
          </a:p>
        </p:txBody>
      </p:sp>
      <p:sp>
        <p:nvSpPr>
          <p:cNvPr id="27" name="">
            <a:extLst xmlns:a="http://schemas.openxmlformats.org/drawingml/2006/main">
              <a:ext uri="{FF2B5EF4-FFF2-40B4-BE49-F238E27FC236}">
                <a16:creationId xmlns:a16="http://schemas.microsoft.com/office/drawing/2014/main" id="{FFFB26EE-A03F-48F4-9CDA-C31224DEBBDB}"/>
              </a:ext>
            </a:extLst>
          </p:cNvPr>
          <p:cNvSpPr>
            <a:spLocks xmlns:a="http://schemas.openxmlformats.org/drawingml/2006/main" noGrp="1"/>
          </p:cNvSpPr>
          <p:nvPr/>
        </p:nvSpPr>
        <p:spPr>
          <a:xfrm xmlns:a="http://schemas.openxmlformats.org/drawingml/2006/main">
            <a:off x="7505700" y="5067300"/>
            <a:ext cx="3981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0B0F14"/>
                </a:solidFill>
              </a:defRPr>
            </a:pPr>
            <a:r>
              <a:rPr sz="1200" b="0">
                <a:solidFill>
                  <a:srgbClr val="0B0F14"/>
                </a:solidFill>
              </a:rPr>
              <a:t>Validate schema, file kind, file count, byte limits, and blocked content before storage.</a:t>
            </a:r>
          </a:p>
        </p:txBody>
      </p:sp>
      <p:sp>
        <p:nvSpPr>
          <p:cNvPr id="28" name="">
            <a:extLst xmlns:a="http://schemas.openxmlformats.org/drawingml/2006/main">
              <a:ext uri="{FF2B5EF4-FFF2-40B4-BE49-F238E27FC236}">
                <a16:creationId xmlns:a16="http://schemas.microsoft.com/office/drawing/2014/main" id="{D4C89DB8-0516-4F36-A9A9-C43769CF70E6}"/>
              </a:ext>
            </a:extLst>
          </p:cNvPr>
          <p:cNvSpPr>
            <a:spLocks xmlns:a="http://schemas.openxmlformats.org/drawingml/2006/main" noGrp="1"/>
          </p:cNvSpPr>
          <p:nvPr/>
        </p:nvSpPr>
        <p:spPr>
          <a:xfrm xmlns:a="http://schemas.openxmlformats.org/drawingml/2006/main">
            <a:off x="11287125" y="6286500"/>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200" b="0">
                <a:solidFill>
                  <a:srgbClr val="555555"/>
                </a:solidFill>
              </a:defRPr>
            </a:pPr>
            <a:r>
              <a:rPr sz="1200" b="0">
                <a:solidFill>
                  <a:srgbClr val="555555"/>
                </a:solidFill>
              </a:rPr>
              <a:t>12</a:t>
            </a:r>
          </a:p>
        </p:txBody>
      </p:sp>
    </p:spTree>
    <p:extLst>
      <p:ext uri="{BB962C8B-B14F-4D97-AF65-F5344CB8AC3E}">
        <p14:creationId xmlns:p14="http://schemas.microsoft.com/office/powerpoint/2010/main" val="200692039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04B76AA-6143-4DCC-83A3-ECD258C63288}"/>
              </a:ext>
            </a:extLst>
          </p:cNvPr>
          <p:cNvSpPr>
            <a:spLocks xmlns:a="http://schemas.openxmlformats.org/drawingml/2006/main" noGrp="1"/>
          </p:cNvSpPr>
          <p:nvPr/>
        </p:nvSpPr>
        <p:spPr>
          <a:xfrm xmlns:a="http://schemas.openxmlformats.org/drawingml/2006/main">
            <a:off x="400050" y="3238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555555"/>
                </a:solidFill>
              </a:defRPr>
            </a:pPr>
            <a:r>
              <a:rPr sz="1200" b="1">
                <a:solidFill>
                  <a:srgbClr val="555555"/>
                </a:solidFill>
              </a:rPr>
              <a:t>MICROBETRACE PARTNER EMBED</a:t>
            </a:r>
          </a:p>
        </p:txBody>
      </p:sp>
      <p:sp>
        <p:nvSpPr>
          <p:cNvPr id="2" name="">
            <a:extLst xmlns:a="http://schemas.openxmlformats.org/drawingml/2006/main">
              <a:ext uri="{FF2B5EF4-FFF2-40B4-BE49-F238E27FC236}">
                <a16:creationId xmlns:a16="http://schemas.microsoft.com/office/drawing/2014/main" id="{408056DE-72E2-42F5-952B-DDC476A35495}"/>
              </a:ext>
            </a:extLst>
          </p:cNvPr>
          <p:cNvSpPr>
            <a:spLocks xmlns:a="http://schemas.openxmlformats.org/drawingml/2006/main" noGrp="1"/>
          </p:cNvSpPr>
          <p:nvPr/>
        </p:nvSpPr>
        <p:spPr>
          <a:xfrm xmlns:a="http://schemas.openxmlformats.org/drawingml/2006/main">
            <a:off x="400050" y="723900"/>
            <a:ext cx="10001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4"/>
                </a:solidFill>
              </a:defRPr>
            </a:pPr>
            <a:r>
              <a:rPr sz="3150" b="1">
                <a:solidFill>
                  <a:srgbClr val="0B0F14"/>
                </a:solidFill>
              </a:rPr>
              <a:t>Security conclusion: controls are in place</a:t>
            </a:r>
          </a:p>
        </p:txBody>
      </p:sp>
      <p:sp>
        <p:nvSpPr>
          <p:cNvPr id="3" name="">
            <a:extLst xmlns:a="http://schemas.openxmlformats.org/drawingml/2006/main">
              <a:ext uri="{FF2B5EF4-FFF2-40B4-BE49-F238E27FC236}">
                <a16:creationId xmlns:a16="http://schemas.microsoft.com/office/drawing/2014/main" id="{C263E6A0-23B4-4E33-AB83-2B423C155C2A}"/>
              </a:ext>
            </a:extLst>
          </p:cNvPr>
          <p:cNvSpPr>
            <a:spLocks xmlns:a="http://schemas.openxmlformats.org/drawingml/2006/main" noGrp="1"/>
          </p:cNvSpPr>
          <p:nvPr/>
        </p:nvSpPr>
        <p:spPr>
          <a:xfrm xmlns:a="http://schemas.openxmlformats.org/drawingml/2006/main">
            <a:off x="419100" y="1562100"/>
            <a:ext cx="857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a:solidFill>
                  <a:srgbClr val="555555"/>
                </a:solidFill>
              </a:defRPr>
            </a:pPr>
            <a:r>
              <a:rPr sz="1650" b="0">
                <a:solidFill>
                  <a:srgbClr val="555555"/>
                </a:solidFill>
              </a:rPr>
              <a:t>This is a controlled export, not delegated login; partner authorization and device security remain separate boundaries.</a:t>
            </a:r>
          </a:p>
        </p:txBody>
      </p:sp>
      <p:sp>
        <p:nvSpPr>
          <p:cNvPr id="4" name="">
            <a:extLst xmlns:a="http://schemas.openxmlformats.org/drawingml/2006/main">
              <a:ext uri="{FF2B5EF4-FFF2-40B4-BE49-F238E27FC236}">
                <a16:creationId xmlns:a16="http://schemas.microsoft.com/office/drawing/2014/main" id="{5998DAF8-ACE7-4B1D-AE84-813E4DF19FAF}"/>
              </a:ext>
            </a:extLst>
          </p:cNvPr>
          <p:cNvSpPr>
            <a:spLocks xmlns:a="http://schemas.openxmlformats.org/drawingml/2006/main" noGrp="1"/>
          </p:cNvSpPr>
          <p:nvPr/>
        </p:nvSpPr>
        <p:spPr>
          <a:xfrm xmlns:a="http://schemas.openxmlformats.org/drawingml/2006/main">
            <a:off x="514350" y="2266950"/>
            <a:ext cx="5334000" cy="1571625"/>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5" name="">
            <a:extLst xmlns:a="http://schemas.openxmlformats.org/drawingml/2006/main">
              <a:ext uri="{FF2B5EF4-FFF2-40B4-BE49-F238E27FC236}">
                <a16:creationId xmlns:a16="http://schemas.microsoft.com/office/drawing/2014/main" id="{C915591D-E725-4498-B682-1924F5D240D4}"/>
              </a:ext>
            </a:extLst>
          </p:cNvPr>
          <p:cNvSpPr>
            <a:spLocks xmlns:a="http://schemas.openxmlformats.org/drawingml/2006/main" noGrp="1"/>
          </p:cNvSpPr>
          <p:nvPr/>
        </p:nvSpPr>
        <p:spPr>
          <a:xfrm xmlns:a="http://schemas.openxmlformats.org/drawingml/2006/main">
            <a:off x="685800" y="2400300"/>
            <a:ext cx="4991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0B0F14"/>
                </a:solidFill>
              </a:defRPr>
            </a:pPr>
            <a:r>
              <a:rPr sz="1650" b="1">
                <a:solidFill>
                  <a:srgbClr val="0B0F14"/>
                </a:solidFill>
              </a:rPr>
              <a:t>Partner authorization</a:t>
            </a:r>
          </a:p>
        </p:txBody>
      </p:sp>
      <p:sp>
        <p:nvSpPr>
          <p:cNvPr id="6" name="">
            <a:extLst xmlns:a="http://schemas.openxmlformats.org/drawingml/2006/main">
              <a:ext uri="{FF2B5EF4-FFF2-40B4-BE49-F238E27FC236}">
                <a16:creationId xmlns:a16="http://schemas.microsoft.com/office/drawing/2014/main" id="{A4C84725-083D-4204-AD1D-2A6F2211B8DE}"/>
              </a:ext>
            </a:extLst>
          </p:cNvPr>
          <p:cNvSpPr>
            <a:spLocks xmlns:a="http://schemas.openxmlformats.org/drawingml/2006/main" noGrp="1"/>
          </p:cNvSpPr>
          <p:nvPr/>
        </p:nvSpPr>
        <p:spPr>
          <a:xfrm xmlns:a="http://schemas.openxmlformats.org/drawingml/2006/main">
            <a:off x="685800" y="2819400"/>
            <a:ext cx="781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A53E17"/>
                </a:solidFill>
              </a:defRPr>
            </a:pPr>
            <a:r>
              <a:rPr sz="1050" b="1">
                <a:solidFill>
                  <a:srgbClr val="A53E17"/>
                </a:solidFill>
              </a:rPr>
              <a:t>Control</a:t>
            </a:r>
          </a:p>
        </p:txBody>
      </p:sp>
      <p:sp>
        <p:nvSpPr>
          <p:cNvPr id="7" name="">
            <a:extLst xmlns:a="http://schemas.openxmlformats.org/drawingml/2006/main">
              <a:ext uri="{FF2B5EF4-FFF2-40B4-BE49-F238E27FC236}">
                <a16:creationId xmlns:a16="http://schemas.microsoft.com/office/drawing/2014/main" id="{839676FB-8DD1-49D3-903E-FED5EC5250B8}"/>
              </a:ext>
            </a:extLst>
          </p:cNvPr>
          <p:cNvSpPr>
            <a:spLocks xmlns:a="http://schemas.openxmlformats.org/drawingml/2006/main" noGrp="1"/>
          </p:cNvSpPr>
          <p:nvPr/>
        </p:nvSpPr>
        <p:spPr>
          <a:xfrm xmlns:a="http://schemas.openxmlformats.org/drawingml/2006/main">
            <a:off x="1581150" y="2790825"/>
            <a:ext cx="4076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555555"/>
                </a:solidFill>
              </a:defRPr>
            </a:pPr>
            <a:r>
              <a:rPr sz="1200" b="0">
                <a:solidFill>
                  <a:srgbClr val="555555"/>
                </a:solidFill>
              </a:rPr>
              <a:t>Backend or trusted service authorizes and minimizes data before files are built.</a:t>
            </a:r>
          </a:p>
        </p:txBody>
      </p:sp>
      <p:sp>
        <p:nvSpPr>
          <p:cNvPr id="8" name="">
            <a:extLst xmlns:a="http://schemas.openxmlformats.org/drawingml/2006/main">
              <a:ext uri="{FF2B5EF4-FFF2-40B4-BE49-F238E27FC236}">
                <a16:creationId xmlns:a16="http://schemas.microsoft.com/office/drawing/2014/main" id="{DFE9845A-9D1E-493C-94A7-4D760397E1DA}"/>
              </a:ext>
            </a:extLst>
          </p:cNvPr>
          <p:cNvSpPr>
            <a:spLocks xmlns:a="http://schemas.openxmlformats.org/drawingml/2006/main" noGrp="1"/>
          </p:cNvSpPr>
          <p:nvPr/>
        </p:nvSpPr>
        <p:spPr>
          <a:xfrm xmlns:a="http://schemas.openxmlformats.org/drawingml/2006/main">
            <a:off x="685800" y="3295650"/>
            <a:ext cx="876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1E5B99"/>
                </a:solidFill>
              </a:defRPr>
            </a:pPr>
            <a:r>
              <a:rPr sz="1050" b="1">
                <a:solidFill>
                  <a:srgbClr val="1E5B99"/>
                </a:solidFill>
              </a:rPr>
              <a:t>Boundary</a:t>
            </a:r>
          </a:p>
        </p:txBody>
      </p:sp>
      <p:sp>
        <p:nvSpPr>
          <p:cNvPr id="9" name="">
            <a:extLst xmlns:a="http://schemas.openxmlformats.org/drawingml/2006/main">
              <a:ext uri="{FF2B5EF4-FFF2-40B4-BE49-F238E27FC236}">
                <a16:creationId xmlns:a16="http://schemas.microsoft.com/office/drawing/2014/main" id="{82917EEC-DC0E-4B00-B87B-C269B70705FE}"/>
              </a:ext>
            </a:extLst>
          </p:cNvPr>
          <p:cNvSpPr>
            <a:spLocks xmlns:a="http://schemas.openxmlformats.org/drawingml/2006/main" noGrp="1"/>
          </p:cNvSpPr>
          <p:nvPr/>
        </p:nvSpPr>
        <p:spPr>
          <a:xfrm xmlns:a="http://schemas.openxmlformats.org/drawingml/2006/main">
            <a:off x="1676400" y="3257550"/>
            <a:ext cx="3981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0B0F14"/>
                </a:solidFill>
              </a:defRPr>
            </a:pPr>
            <a:r>
              <a:rPr sz="1200" b="0">
                <a:solidFill>
                  <a:srgbClr val="0B0F14"/>
                </a:solidFill>
              </a:rPr>
              <a:t>MicrobeTrace cannot verify partner-user identity or export scope.</a:t>
            </a:r>
          </a:p>
        </p:txBody>
      </p:sp>
      <p:sp>
        <p:nvSpPr>
          <p:cNvPr id="10" name="">
            <a:extLst xmlns:a="http://schemas.openxmlformats.org/drawingml/2006/main">
              <a:ext uri="{FF2B5EF4-FFF2-40B4-BE49-F238E27FC236}">
                <a16:creationId xmlns:a16="http://schemas.microsoft.com/office/drawing/2014/main" id="{EF4804E9-8979-4391-A8D0-7EE0C264D5C2}"/>
              </a:ext>
            </a:extLst>
          </p:cNvPr>
          <p:cNvSpPr>
            <a:spLocks xmlns:a="http://schemas.openxmlformats.org/drawingml/2006/main" noGrp="1"/>
          </p:cNvSpPr>
          <p:nvPr/>
        </p:nvSpPr>
        <p:spPr>
          <a:xfrm xmlns:a="http://schemas.openxmlformats.org/drawingml/2006/main">
            <a:off x="6343650" y="2266950"/>
            <a:ext cx="5334000" cy="1571625"/>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11" name="">
            <a:extLst xmlns:a="http://schemas.openxmlformats.org/drawingml/2006/main">
              <a:ext uri="{FF2B5EF4-FFF2-40B4-BE49-F238E27FC236}">
                <a16:creationId xmlns:a16="http://schemas.microsoft.com/office/drawing/2014/main" id="{0750E7C9-F06F-481B-ACF3-A2AC9E609C79}"/>
              </a:ext>
            </a:extLst>
          </p:cNvPr>
          <p:cNvSpPr>
            <a:spLocks xmlns:a="http://schemas.openxmlformats.org/drawingml/2006/main" noGrp="1"/>
          </p:cNvSpPr>
          <p:nvPr/>
        </p:nvSpPr>
        <p:spPr>
          <a:xfrm xmlns:a="http://schemas.openxmlformats.org/drawingml/2006/main">
            <a:off x="6515100" y="2400300"/>
            <a:ext cx="4991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0B0F14"/>
                </a:solidFill>
              </a:defRPr>
            </a:pPr>
            <a:r>
              <a:rPr sz="1650" b="1">
                <a:solidFill>
                  <a:srgbClr val="0B0F14"/>
                </a:solidFill>
              </a:rPr>
              <a:t>Handoff enforcement</a:t>
            </a:r>
          </a:p>
        </p:txBody>
      </p:sp>
      <p:sp>
        <p:nvSpPr>
          <p:cNvPr id="12" name="">
            <a:extLst xmlns:a="http://schemas.openxmlformats.org/drawingml/2006/main">
              <a:ext uri="{FF2B5EF4-FFF2-40B4-BE49-F238E27FC236}">
                <a16:creationId xmlns:a16="http://schemas.microsoft.com/office/drawing/2014/main" id="{781E7435-3225-4FFA-94E4-1660E6C6E654}"/>
              </a:ext>
            </a:extLst>
          </p:cNvPr>
          <p:cNvSpPr>
            <a:spLocks xmlns:a="http://schemas.openxmlformats.org/drawingml/2006/main" noGrp="1"/>
          </p:cNvSpPr>
          <p:nvPr/>
        </p:nvSpPr>
        <p:spPr>
          <a:xfrm xmlns:a="http://schemas.openxmlformats.org/drawingml/2006/main">
            <a:off x="6515100" y="2819400"/>
            <a:ext cx="781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A53E17"/>
                </a:solidFill>
              </a:defRPr>
            </a:pPr>
            <a:r>
              <a:rPr sz="1050" b="1">
                <a:solidFill>
                  <a:srgbClr val="A53E17"/>
                </a:solidFill>
              </a:rPr>
              <a:t>Control</a:t>
            </a:r>
          </a:p>
        </p:txBody>
      </p:sp>
      <p:sp>
        <p:nvSpPr>
          <p:cNvPr id="13" name="">
            <a:extLst xmlns:a="http://schemas.openxmlformats.org/drawingml/2006/main">
              <a:ext uri="{FF2B5EF4-FFF2-40B4-BE49-F238E27FC236}">
                <a16:creationId xmlns:a16="http://schemas.microsoft.com/office/drawing/2014/main" id="{DAA9D1A8-776D-4511-9027-9DA66148E905}"/>
              </a:ext>
            </a:extLst>
          </p:cNvPr>
          <p:cNvSpPr>
            <a:spLocks xmlns:a="http://schemas.openxmlformats.org/drawingml/2006/main" noGrp="1"/>
          </p:cNvSpPr>
          <p:nvPr/>
        </p:nvSpPr>
        <p:spPr>
          <a:xfrm xmlns:a="http://schemas.openxmlformats.org/drawingml/2006/main">
            <a:off x="7410450" y="2790825"/>
            <a:ext cx="4076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555555"/>
                </a:solidFill>
              </a:defRPr>
            </a:pPr>
            <a:r>
              <a:rPr sz="1200" b="0">
                <a:solidFill>
                  <a:srgbClr val="555555"/>
                </a:solidFill>
              </a:rPr>
              <a:t>Exact HTTPS origins, Web Crypto IDs, file/metadata limits, and TTL cleanup.</a:t>
            </a:r>
          </a:p>
        </p:txBody>
      </p:sp>
      <p:sp>
        <p:nvSpPr>
          <p:cNvPr id="14" name="">
            <a:extLst xmlns:a="http://schemas.openxmlformats.org/drawingml/2006/main">
              <a:ext uri="{FF2B5EF4-FFF2-40B4-BE49-F238E27FC236}">
                <a16:creationId xmlns:a16="http://schemas.microsoft.com/office/drawing/2014/main" id="{90E1867C-7489-481E-8C9F-9CE9956F755F}"/>
              </a:ext>
            </a:extLst>
          </p:cNvPr>
          <p:cNvSpPr>
            <a:spLocks xmlns:a="http://schemas.openxmlformats.org/drawingml/2006/main" noGrp="1"/>
          </p:cNvSpPr>
          <p:nvPr/>
        </p:nvSpPr>
        <p:spPr>
          <a:xfrm xmlns:a="http://schemas.openxmlformats.org/drawingml/2006/main">
            <a:off x="6515100" y="3295650"/>
            <a:ext cx="876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1E5B99"/>
                </a:solidFill>
              </a:defRPr>
            </a:pPr>
            <a:r>
              <a:rPr sz="1050" b="1">
                <a:solidFill>
                  <a:srgbClr val="1E5B99"/>
                </a:solidFill>
              </a:rPr>
              <a:t>Boundary</a:t>
            </a:r>
          </a:p>
        </p:txBody>
      </p:sp>
      <p:sp>
        <p:nvSpPr>
          <p:cNvPr id="15" name="">
            <a:extLst xmlns:a="http://schemas.openxmlformats.org/drawingml/2006/main">
              <a:ext uri="{FF2B5EF4-FFF2-40B4-BE49-F238E27FC236}">
                <a16:creationId xmlns:a16="http://schemas.microsoft.com/office/drawing/2014/main" id="{8AF9D339-9162-484D-AEA2-754AE9F9BA77}"/>
              </a:ext>
            </a:extLst>
          </p:cNvPr>
          <p:cNvSpPr>
            <a:spLocks xmlns:a="http://schemas.openxmlformats.org/drawingml/2006/main" noGrp="1"/>
          </p:cNvSpPr>
          <p:nvPr/>
        </p:nvSpPr>
        <p:spPr>
          <a:xfrm xmlns:a="http://schemas.openxmlformats.org/drawingml/2006/main">
            <a:off x="7505700" y="3257550"/>
            <a:ext cx="3981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0B0F14"/>
                </a:solidFill>
              </a:defRPr>
            </a:pPr>
            <a:r>
              <a:rPr sz="1200" b="0">
                <a:solidFill>
                  <a:srgbClr val="0B0F14"/>
                </a:solidFill>
              </a:rPr>
              <a:t>No protection from a compromised local browser or device.</a:t>
            </a:r>
          </a:p>
        </p:txBody>
      </p:sp>
      <p:sp>
        <p:nvSpPr>
          <p:cNvPr id="16" name="">
            <a:extLst xmlns:a="http://schemas.openxmlformats.org/drawingml/2006/main">
              <a:ext uri="{FF2B5EF4-FFF2-40B4-BE49-F238E27FC236}">
                <a16:creationId xmlns:a16="http://schemas.microsoft.com/office/drawing/2014/main" id="{C3EF8E49-E9AA-437F-9AA4-3DAB8F920A1C}"/>
              </a:ext>
            </a:extLst>
          </p:cNvPr>
          <p:cNvSpPr>
            <a:spLocks xmlns:a="http://schemas.openxmlformats.org/drawingml/2006/main" noGrp="1"/>
          </p:cNvSpPr>
          <p:nvPr/>
        </p:nvSpPr>
        <p:spPr>
          <a:xfrm xmlns:a="http://schemas.openxmlformats.org/drawingml/2006/main">
            <a:off x="514350" y="4076700"/>
            <a:ext cx="5334000" cy="1571625"/>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17" name="">
            <a:extLst xmlns:a="http://schemas.openxmlformats.org/drawingml/2006/main">
              <a:ext uri="{FF2B5EF4-FFF2-40B4-BE49-F238E27FC236}">
                <a16:creationId xmlns:a16="http://schemas.microsoft.com/office/drawing/2014/main" id="{9D184531-2D91-4092-A685-EB6122FB84C5}"/>
              </a:ext>
            </a:extLst>
          </p:cNvPr>
          <p:cNvSpPr>
            <a:spLocks xmlns:a="http://schemas.openxmlformats.org/drawingml/2006/main" noGrp="1"/>
          </p:cNvSpPr>
          <p:nvPr/>
        </p:nvSpPr>
        <p:spPr>
          <a:xfrm xmlns:a="http://schemas.openxmlformats.org/drawingml/2006/main">
            <a:off x="685800" y="4210050"/>
            <a:ext cx="4991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0B0F14"/>
                </a:solidFill>
              </a:defRPr>
            </a:pPr>
            <a:r>
              <a:rPr sz="1650" b="1">
                <a:solidFill>
                  <a:srgbClr val="0B0F14"/>
                </a:solidFill>
              </a:rPr>
              <a:t>Analytics + receipt</a:t>
            </a:r>
          </a:p>
        </p:txBody>
      </p:sp>
      <p:sp>
        <p:nvSpPr>
          <p:cNvPr id="18" name="">
            <a:extLst xmlns:a="http://schemas.openxmlformats.org/drawingml/2006/main">
              <a:ext uri="{FF2B5EF4-FFF2-40B4-BE49-F238E27FC236}">
                <a16:creationId xmlns:a16="http://schemas.microsoft.com/office/drawing/2014/main" id="{B5F65388-5130-478E-B496-BBD08402453A}"/>
              </a:ext>
            </a:extLst>
          </p:cNvPr>
          <p:cNvSpPr>
            <a:spLocks xmlns:a="http://schemas.openxmlformats.org/drawingml/2006/main" noGrp="1"/>
          </p:cNvSpPr>
          <p:nvPr/>
        </p:nvSpPr>
        <p:spPr>
          <a:xfrm xmlns:a="http://schemas.openxmlformats.org/drawingml/2006/main">
            <a:off x="685800" y="4629150"/>
            <a:ext cx="781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A53E17"/>
                </a:solidFill>
              </a:defRPr>
            </a:pPr>
            <a:r>
              <a:rPr sz="1050" b="1">
                <a:solidFill>
                  <a:srgbClr val="A53E17"/>
                </a:solidFill>
              </a:rPr>
              <a:t>Control</a:t>
            </a:r>
          </a:p>
        </p:txBody>
      </p:sp>
      <p:sp>
        <p:nvSpPr>
          <p:cNvPr id="19" name="">
            <a:extLst xmlns:a="http://schemas.openxmlformats.org/drawingml/2006/main">
              <a:ext uri="{FF2B5EF4-FFF2-40B4-BE49-F238E27FC236}">
                <a16:creationId xmlns:a16="http://schemas.microsoft.com/office/drawing/2014/main" id="{53D35B56-4169-4BDB-B9A3-409729A2EDF6}"/>
              </a:ext>
            </a:extLst>
          </p:cNvPr>
          <p:cNvSpPr>
            <a:spLocks xmlns:a="http://schemas.openxmlformats.org/drawingml/2006/main" noGrp="1"/>
          </p:cNvSpPr>
          <p:nvPr/>
        </p:nvSpPr>
        <p:spPr>
          <a:xfrm xmlns:a="http://schemas.openxmlformats.org/drawingml/2006/main">
            <a:off x="1581150" y="4600575"/>
            <a:ext cx="4076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555555"/>
                </a:solidFill>
              </a:defRPr>
            </a:pPr>
            <a:r>
              <a:rPr sz="1200" b="0">
                <a:solidFill>
                  <a:srgbClr val="555555"/>
                </a:solidFill>
              </a:rPr>
              <a:t>Tags are suppressed before app boot; handoff references and sensitive names are redacted.</a:t>
            </a:r>
          </a:p>
        </p:txBody>
      </p:sp>
      <p:sp>
        <p:nvSpPr>
          <p:cNvPr id="20" name="">
            <a:extLst xmlns:a="http://schemas.openxmlformats.org/drawingml/2006/main">
              <a:ext uri="{FF2B5EF4-FFF2-40B4-BE49-F238E27FC236}">
                <a16:creationId xmlns:a16="http://schemas.microsoft.com/office/drawing/2014/main" id="{1BB0C010-22AF-4808-98AC-B43C942805DA}"/>
              </a:ext>
            </a:extLst>
          </p:cNvPr>
          <p:cNvSpPr>
            <a:spLocks xmlns:a="http://schemas.openxmlformats.org/drawingml/2006/main" noGrp="1"/>
          </p:cNvSpPr>
          <p:nvPr/>
        </p:nvSpPr>
        <p:spPr>
          <a:xfrm xmlns:a="http://schemas.openxmlformats.org/drawingml/2006/main">
            <a:off x="685800" y="5105400"/>
            <a:ext cx="876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1E5B99"/>
                </a:solidFill>
              </a:defRPr>
            </a:pPr>
            <a:r>
              <a:rPr sz="1050" b="1">
                <a:solidFill>
                  <a:srgbClr val="1E5B99"/>
                </a:solidFill>
              </a:rPr>
              <a:t>Evidence</a:t>
            </a:r>
          </a:p>
        </p:txBody>
      </p:sp>
      <p:sp>
        <p:nvSpPr>
          <p:cNvPr id="21" name="">
            <a:extLst xmlns:a="http://schemas.openxmlformats.org/drawingml/2006/main">
              <a:ext uri="{FF2B5EF4-FFF2-40B4-BE49-F238E27FC236}">
                <a16:creationId xmlns:a16="http://schemas.microsoft.com/office/drawing/2014/main" id="{F6F51E54-5049-4A19-9BAA-1BEDFCFC3A9B}"/>
              </a:ext>
            </a:extLst>
          </p:cNvPr>
          <p:cNvSpPr>
            <a:spLocks xmlns:a="http://schemas.openxmlformats.org/drawingml/2006/main" noGrp="1"/>
          </p:cNvSpPr>
          <p:nvPr/>
        </p:nvSpPr>
        <p:spPr>
          <a:xfrm xmlns:a="http://schemas.openxmlformats.org/drawingml/2006/main">
            <a:off x="1676400" y="5067300"/>
            <a:ext cx="3981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0B0F14"/>
                </a:solidFill>
              </a:defRPr>
            </a:pPr>
            <a:r>
              <a:rPr sz="1200" b="0">
                <a:solidFill>
                  <a:srgbClr val="0B0F14"/>
                </a:solidFill>
              </a:rPr>
              <a:t>Metadata is allowlisted and size-limited; raw receipts are redacted before logging.</a:t>
            </a:r>
          </a:p>
        </p:txBody>
      </p:sp>
      <p:sp>
        <p:nvSpPr>
          <p:cNvPr id="22" name="">
            <a:extLst xmlns:a="http://schemas.openxmlformats.org/drawingml/2006/main">
              <a:ext uri="{FF2B5EF4-FFF2-40B4-BE49-F238E27FC236}">
                <a16:creationId xmlns:a16="http://schemas.microsoft.com/office/drawing/2014/main" id="{77D61654-F6B8-4A67-815A-499763565329}"/>
              </a:ext>
            </a:extLst>
          </p:cNvPr>
          <p:cNvSpPr>
            <a:spLocks xmlns:a="http://schemas.openxmlformats.org/drawingml/2006/main" noGrp="1"/>
          </p:cNvSpPr>
          <p:nvPr/>
        </p:nvSpPr>
        <p:spPr>
          <a:xfrm xmlns:a="http://schemas.openxmlformats.org/drawingml/2006/main">
            <a:off x="6343650" y="4076700"/>
            <a:ext cx="5334000" cy="1571625"/>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23" name="">
            <a:extLst xmlns:a="http://schemas.openxmlformats.org/drawingml/2006/main">
              <a:ext uri="{FF2B5EF4-FFF2-40B4-BE49-F238E27FC236}">
                <a16:creationId xmlns:a16="http://schemas.microsoft.com/office/drawing/2014/main" id="{883AF9BB-131C-46FF-BDF2-001A6D7359A0}"/>
              </a:ext>
            </a:extLst>
          </p:cNvPr>
          <p:cNvSpPr>
            <a:spLocks xmlns:a="http://schemas.openxmlformats.org/drawingml/2006/main" noGrp="1"/>
          </p:cNvSpPr>
          <p:nvPr/>
        </p:nvSpPr>
        <p:spPr>
          <a:xfrm xmlns:a="http://schemas.openxmlformats.org/drawingml/2006/main">
            <a:off x="6515100" y="4210050"/>
            <a:ext cx="4991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0B0F14"/>
                </a:solidFill>
              </a:defRPr>
            </a:pPr>
            <a:r>
              <a:rPr sz="1650" b="1">
                <a:solidFill>
                  <a:srgbClr val="0B0F14"/>
                </a:solidFill>
              </a:rPr>
              <a:t>Deployment evidence</a:t>
            </a:r>
          </a:p>
        </p:txBody>
      </p:sp>
      <p:sp>
        <p:nvSpPr>
          <p:cNvPr id="24" name="">
            <a:extLst xmlns:a="http://schemas.openxmlformats.org/drawingml/2006/main">
              <a:ext uri="{FF2B5EF4-FFF2-40B4-BE49-F238E27FC236}">
                <a16:creationId xmlns:a16="http://schemas.microsoft.com/office/drawing/2014/main" id="{95441C62-32DD-46B3-A45C-A3C49A9857EC}"/>
              </a:ext>
            </a:extLst>
          </p:cNvPr>
          <p:cNvSpPr>
            <a:spLocks xmlns:a="http://schemas.openxmlformats.org/drawingml/2006/main" noGrp="1"/>
          </p:cNvSpPr>
          <p:nvPr/>
        </p:nvSpPr>
        <p:spPr>
          <a:xfrm xmlns:a="http://schemas.openxmlformats.org/drawingml/2006/main">
            <a:off x="6515100" y="4629150"/>
            <a:ext cx="781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A53E17"/>
                </a:solidFill>
              </a:defRPr>
            </a:pPr>
            <a:r>
              <a:rPr sz="1050" b="1">
                <a:solidFill>
                  <a:srgbClr val="A53E17"/>
                </a:solidFill>
              </a:rPr>
              <a:t>Control</a:t>
            </a:r>
          </a:p>
        </p:txBody>
      </p:sp>
      <p:sp>
        <p:nvSpPr>
          <p:cNvPr id="25" name="">
            <a:extLst xmlns:a="http://schemas.openxmlformats.org/drawingml/2006/main">
              <a:ext uri="{FF2B5EF4-FFF2-40B4-BE49-F238E27FC236}">
                <a16:creationId xmlns:a16="http://schemas.microsoft.com/office/drawing/2014/main" id="{26C1B4BB-2949-48EE-AB15-316AE60ABDE4}"/>
              </a:ext>
            </a:extLst>
          </p:cNvPr>
          <p:cNvSpPr>
            <a:spLocks xmlns:a="http://schemas.openxmlformats.org/drawingml/2006/main" noGrp="1"/>
          </p:cNvSpPr>
          <p:nvPr/>
        </p:nvSpPr>
        <p:spPr>
          <a:xfrm xmlns:a="http://schemas.openxmlformats.org/drawingml/2006/main">
            <a:off x="7410450" y="4600575"/>
            <a:ext cx="4076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555555"/>
                </a:solidFill>
              </a:defRPr>
            </a:pPr>
            <a:r>
              <a:rPr sz="1200" b="0">
                <a:solidFill>
                  <a:srgbClr val="555555"/>
                </a:solidFill>
              </a:rPr>
              <a:t>Live CSP, Referrer-Policy, no-store, and framing controls are verified.</a:t>
            </a:r>
          </a:p>
        </p:txBody>
      </p:sp>
      <p:sp>
        <p:nvSpPr>
          <p:cNvPr id="26" name="">
            <a:extLst xmlns:a="http://schemas.openxmlformats.org/drawingml/2006/main">
              <a:ext uri="{FF2B5EF4-FFF2-40B4-BE49-F238E27FC236}">
                <a16:creationId xmlns:a16="http://schemas.microsoft.com/office/drawing/2014/main" id="{51B346E5-BB50-4BD3-BBFB-1B6B030408ED}"/>
              </a:ext>
            </a:extLst>
          </p:cNvPr>
          <p:cNvSpPr>
            <a:spLocks xmlns:a="http://schemas.openxmlformats.org/drawingml/2006/main" noGrp="1"/>
          </p:cNvSpPr>
          <p:nvPr/>
        </p:nvSpPr>
        <p:spPr>
          <a:xfrm xmlns:a="http://schemas.openxmlformats.org/drawingml/2006/main">
            <a:off x="6515100" y="5105400"/>
            <a:ext cx="876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1E5B99"/>
                </a:solidFill>
              </a:defRPr>
            </a:pPr>
            <a:r>
              <a:rPr sz="1050" b="1">
                <a:solidFill>
                  <a:srgbClr val="1E5B99"/>
                </a:solidFill>
              </a:rPr>
              <a:t>Evidence</a:t>
            </a:r>
          </a:p>
        </p:txBody>
      </p:sp>
      <p:sp>
        <p:nvSpPr>
          <p:cNvPr id="27" name="">
            <a:extLst xmlns:a="http://schemas.openxmlformats.org/drawingml/2006/main">
              <a:ext uri="{FF2B5EF4-FFF2-40B4-BE49-F238E27FC236}">
                <a16:creationId xmlns:a16="http://schemas.microsoft.com/office/drawing/2014/main" id="{CD6603A3-9802-4682-A5EA-F99C77D0B3E5}"/>
              </a:ext>
            </a:extLst>
          </p:cNvPr>
          <p:cNvSpPr>
            <a:spLocks xmlns:a="http://schemas.openxmlformats.org/drawingml/2006/main" noGrp="1"/>
          </p:cNvSpPr>
          <p:nvPr/>
        </p:nvSpPr>
        <p:spPr>
          <a:xfrm xmlns:a="http://schemas.openxmlformats.org/drawingml/2006/main">
            <a:off x="7505700" y="5067300"/>
            <a:ext cx="3981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0B0F14"/>
                </a:solidFill>
              </a:defRPr>
            </a:pPr>
            <a:r>
              <a:rPr sz="1200" b="0">
                <a:solidFill>
                  <a:srgbClr val="0B0F14"/>
                </a:solidFill>
              </a:rPr>
              <a:t>Denial tests cover auth, origin, crypto, payload, metadata, analytics, lifecycle, and headers.</a:t>
            </a:r>
          </a:p>
        </p:txBody>
      </p:sp>
      <p:sp>
        <p:nvSpPr>
          <p:cNvPr id="28" name="">
            <a:extLst xmlns:a="http://schemas.openxmlformats.org/drawingml/2006/main">
              <a:ext uri="{FF2B5EF4-FFF2-40B4-BE49-F238E27FC236}">
                <a16:creationId xmlns:a16="http://schemas.microsoft.com/office/drawing/2014/main" id="{2DED95D8-541B-4F7D-BC0E-13EFF029A6A7}"/>
              </a:ext>
            </a:extLst>
          </p:cNvPr>
          <p:cNvSpPr>
            <a:spLocks xmlns:a="http://schemas.openxmlformats.org/drawingml/2006/main" noGrp="1"/>
          </p:cNvSpPr>
          <p:nvPr/>
        </p:nvSpPr>
        <p:spPr>
          <a:xfrm xmlns:a="http://schemas.openxmlformats.org/drawingml/2006/main">
            <a:off x="11287125" y="6286500"/>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200" b="0">
                <a:solidFill>
                  <a:srgbClr val="555555"/>
                </a:solidFill>
              </a:defRPr>
            </a:pPr>
            <a:r>
              <a:rPr sz="1200" b="0">
                <a:solidFill>
                  <a:srgbClr val="555555"/>
                </a:solidFill>
              </a:rPr>
              <a:t>13</a:t>
            </a:r>
          </a:p>
        </p:txBody>
      </p:sp>
    </p:spTree>
    <p:extLst>
      <p:ext uri="{BB962C8B-B14F-4D97-AF65-F5344CB8AC3E}">
        <p14:creationId xmlns:p14="http://schemas.microsoft.com/office/powerpoint/2010/main" val="102793539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5EE1027-6A43-4199-A04E-D599C8043EE3}"/>
              </a:ext>
            </a:extLst>
          </p:cNvPr>
          <p:cNvSpPr>
            <a:spLocks xmlns:a="http://schemas.openxmlformats.org/drawingml/2006/main" noGrp="1"/>
          </p:cNvSpPr>
          <p:nvPr/>
        </p:nvSpPr>
        <p:spPr>
          <a:xfrm xmlns:a="http://schemas.openxmlformats.org/drawingml/2006/main">
            <a:off x="400050" y="3238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555555"/>
                </a:solidFill>
              </a:defRPr>
            </a:pPr>
            <a:r>
              <a:rPr sz="1200" b="1">
                <a:solidFill>
                  <a:srgbClr val="555555"/>
                </a:solidFill>
              </a:rPr>
              <a:t>MICROBETRACE PARTNER EMBED</a:t>
            </a:r>
          </a:p>
        </p:txBody>
      </p:sp>
      <p:sp>
        <p:nvSpPr>
          <p:cNvPr id="2" name="">
            <a:extLst xmlns:a="http://schemas.openxmlformats.org/drawingml/2006/main">
              <a:ext uri="{FF2B5EF4-FFF2-40B4-BE49-F238E27FC236}">
                <a16:creationId xmlns:a16="http://schemas.microsoft.com/office/drawing/2014/main" id="{802AC09D-0DAA-4B75-89AA-47BDA55A413A}"/>
              </a:ext>
            </a:extLst>
          </p:cNvPr>
          <p:cNvSpPr>
            <a:spLocks xmlns:a="http://schemas.openxmlformats.org/drawingml/2006/main" noGrp="1"/>
          </p:cNvSpPr>
          <p:nvPr/>
        </p:nvSpPr>
        <p:spPr>
          <a:xfrm xmlns:a="http://schemas.openxmlformats.org/drawingml/2006/main">
            <a:off x="400050" y="723900"/>
            <a:ext cx="10001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4"/>
                </a:solidFill>
              </a:defRPr>
            </a:pPr>
            <a:r>
              <a:rPr sz="3150" b="1">
                <a:solidFill>
                  <a:srgbClr val="0B0F14"/>
                </a:solidFill>
              </a:rPr>
              <a:t>Every control has an owner and supporting evidence</a:t>
            </a:r>
          </a:p>
        </p:txBody>
      </p:sp>
      <p:sp>
        <p:nvSpPr>
          <p:cNvPr id="3" name="">
            <a:extLst xmlns:a="http://schemas.openxmlformats.org/drawingml/2006/main">
              <a:ext uri="{FF2B5EF4-FFF2-40B4-BE49-F238E27FC236}">
                <a16:creationId xmlns:a16="http://schemas.microsoft.com/office/drawing/2014/main" id="{FA596D67-B460-44B9-867B-5D7313E4F03E}"/>
              </a:ext>
            </a:extLst>
          </p:cNvPr>
          <p:cNvSpPr>
            <a:spLocks xmlns:a="http://schemas.openxmlformats.org/drawingml/2006/main" noGrp="1"/>
          </p:cNvSpPr>
          <p:nvPr/>
        </p:nvSpPr>
        <p:spPr>
          <a:xfrm xmlns:a="http://schemas.openxmlformats.org/drawingml/2006/main">
            <a:off x="419100" y="1562100"/>
            <a:ext cx="857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a:solidFill>
                  <a:srgbClr val="555555"/>
                </a:solidFill>
              </a:defRPr>
            </a:pPr>
            <a:r>
              <a:rPr sz="1650" b="0">
                <a:solidFill>
                  <a:srgbClr val="555555"/>
                </a:solidFill>
              </a:rPr>
              <a:t>Ownership is explicit across the partner app, MicrobeTrace code, and deployed infrastructure.</a:t>
            </a:r>
          </a:p>
        </p:txBody>
      </p:sp>
      <p:sp>
        <p:nvSpPr>
          <p:cNvPr id="4" name="">
            <a:extLst xmlns:a="http://schemas.openxmlformats.org/drawingml/2006/main">
              <a:ext uri="{FF2B5EF4-FFF2-40B4-BE49-F238E27FC236}">
                <a16:creationId xmlns:a16="http://schemas.microsoft.com/office/drawing/2014/main" id="{3FCAC8FB-D7CF-45D5-9CAD-8E0156DE7281}"/>
              </a:ext>
            </a:extLst>
          </p:cNvPr>
          <p:cNvSpPr>
            <a:spLocks xmlns:a="http://schemas.openxmlformats.org/drawingml/2006/main" noGrp="1"/>
          </p:cNvSpPr>
          <p:nvPr/>
        </p:nvSpPr>
        <p:spPr>
          <a:xfrm xmlns:a="http://schemas.openxmlformats.org/drawingml/2006/main">
            <a:off x="514350" y="2362200"/>
            <a:ext cx="3333750" cy="2905125"/>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5" name="">
            <a:extLst xmlns:a="http://schemas.openxmlformats.org/drawingml/2006/main">
              <a:ext uri="{FF2B5EF4-FFF2-40B4-BE49-F238E27FC236}">
                <a16:creationId xmlns:a16="http://schemas.microsoft.com/office/drawing/2014/main" id="{A2FCD932-3DA0-49FD-8CC9-A95246C4762D}"/>
              </a:ext>
            </a:extLst>
          </p:cNvPr>
          <p:cNvSpPr>
            <a:spLocks xmlns:a="http://schemas.openxmlformats.org/drawingml/2006/main" noGrp="1"/>
          </p:cNvSpPr>
          <p:nvPr/>
        </p:nvSpPr>
        <p:spPr>
          <a:xfrm xmlns:a="http://schemas.openxmlformats.org/drawingml/2006/main">
            <a:off x="704850" y="2628900"/>
            <a:ext cx="29146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25" b="1">
                <a:solidFill>
                  <a:srgbClr val="0B0F14"/>
                </a:solidFill>
              </a:defRPr>
            </a:pPr>
            <a:r>
              <a:rPr sz="1725" b="1">
                <a:solidFill>
                  <a:srgbClr val="0B0F14"/>
                </a:solidFill>
              </a:rPr>
              <a:t>Partner app team</a:t>
            </a:r>
          </a:p>
        </p:txBody>
      </p:sp>
      <p:sp>
        <p:nvSpPr>
          <p:cNvPr id="6" name="">
            <a:extLst xmlns:a="http://schemas.openxmlformats.org/drawingml/2006/main">
              <a:ext uri="{FF2B5EF4-FFF2-40B4-BE49-F238E27FC236}">
                <a16:creationId xmlns:a16="http://schemas.microsoft.com/office/drawing/2014/main" id="{05DED442-96B1-4896-BC89-43F7360355E0}"/>
              </a:ext>
            </a:extLst>
          </p:cNvPr>
          <p:cNvSpPr>
            <a:spLocks xmlns:a="http://schemas.openxmlformats.org/drawingml/2006/main" noGrp="1"/>
          </p:cNvSpPr>
          <p:nvPr/>
        </p:nvSpPr>
        <p:spPr>
          <a:xfrm xmlns:a="http://schemas.openxmlformats.org/drawingml/2006/main">
            <a:off x="762000" y="3400425"/>
            <a:ext cx="85725" cy="85725"/>
          </a:xfrm>
          <a:prstGeom xmlns:a="http://schemas.openxmlformats.org/drawingml/2006/main" prst="rect">
            <a:avLst/>
          </a:prstGeom>
          <a:solidFill xmlns:a="http://schemas.openxmlformats.org/drawingml/2006/main">
            <a:srgbClr val="FF6B35"/>
          </a:solidFill>
          <a:ln xmlns:a="http://schemas.openxmlformats.org/drawingml/2006/main" w="9525">
            <a:solidFill>
              <a:srgbClr val="FF6B35"/>
            </a:solidFill>
            <a:prstDash val="solid"/>
          </a:ln>
        </p:spPr>
      </p:sp>
      <p:sp>
        <p:nvSpPr>
          <p:cNvPr id="7" name="">
            <a:extLst xmlns:a="http://schemas.openxmlformats.org/drawingml/2006/main">
              <a:ext uri="{FF2B5EF4-FFF2-40B4-BE49-F238E27FC236}">
                <a16:creationId xmlns:a16="http://schemas.microsoft.com/office/drawing/2014/main" id="{CCE2094A-5711-4E5A-981E-86DC29B800F0}"/>
              </a:ext>
            </a:extLst>
          </p:cNvPr>
          <p:cNvSpPr>
            <a:spLocks xmlns:a="http://schemas.openxmlformats.org/drawingml/2006/main" noGrp="1"/>
          </p:cNvSpPr>
          <p:nvPr/>
        </p:nvSpPr>
        <p:spPr>
          <a:xfrm xmlns:a="http://schemas.openxmlformats.org/drawingml/2006/main">
            <a:off x="971550" y="3333750"/>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0B0F14"/>
                </a:solidFill>
              </a:defRPr>
            </a:pPr>
            <a:r>
              <a:rPr sz="1275" b="0">
                <a:solidFill>
                  <a:srgbClr val="0B0F14"/>
                </a:solidFill>
              </a:rPr>
              <a:t>Server-side export authorization is enforced.</a:t>
            </a:r>
          </a:p>
        </p:txBody>
      </p:sp>
      <p:sp>
        <p:nvSpPr>
          <p:cNvPr id="8" name="">
            <a:extLst xmlns:a="http://schemas.openxmlformats.org/drawingml/2006/main">
              <a:ext uri="{FF2B5EF4-FFF2-40B4-BE49-F238E27FC236}">
                <a16:creationId xmlns:a16="http://schemas.microsoft.com/office/drawing/2014/main" id="{58F14E8D-8A0B-4A10-84F1-B8091C640103}"/>
              </a:ext>
            </a:extLst>
          </p:cNvPr>
          <p:cNvSpPr>
            <a:spLocks xmlns:a="http://schemas.openxmlformats.org/drawingml/2006/main" noGrp="1"/>
          </p:cNvSpPr>
          <p:nvPr/>
        </p:nvSpPr>
        <p:spPr>
          <a:xfrm xmlns:a="http://schemas.openxmlformats.org/drawingml/2006/main">
            <a:off x="762000" y="3810000"/>
            <a:ext cx="85725" cy="85725"/>
          </a:xfrm>
          <a:prstGeom xmlns:a="http://schemas.openxmlformats.org/drawingml/2006/main" prst="rect">
            <a:avLst/>
          </a:prstGeom>
          <a:solidFill xmlns:a="http://schemas.openxmlformats.org/drawingml/2006/main">
            <a:srgbClr val="FF6B35"/>
          </a:solidFill>
          <a:ln xmlns:a="http://schemas.openxmlformats.org/drawingml/2006/main" w="9525">
            <a:solidFill>
              <a:srgbClr val="FF6B35"/>
            </a:solidFill>
            <a:prstDash val="solid"/>
          </a:ln>
        </p:spPr>
      </p:sp>
      <p:sp>
        <p:nvSpPr>
          <p:cNvPr id="9" name="">
            <a:extLst xmlns:a="http://schemas.openxmlformats.org/drawingml/2006/main">
              <a:ext uri="{FF2B5EF4-FFF2-40B4-BE49-F238E27FC236}">
                <a16:creationId xmlns:a16="http://schemas.microsoft.com/office/drawing/2014/main" id="{ED624626-2730-4148-A669-D66DFCADA551}"/>
              </a:ext>
            </a:extLst>
          </p:cNvPr>
          <p:cNvSpPr>
            <a:spLocks xmlns:a="http://schemas.openxmlformats.org/drawingml/2006/main" noGrp="1"/>
          </p:cNvSpPr>
          <p:nvPr/>
        </p:nvSpPr>
        <p:spPr>
          <a:xfrm xmlns:a="http://schemas.openxmlformats.org/drawingml/2006/main">
            <a:off x="971550" y="3743325"/>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0B0F14"/>
                </a:solidFill>
              </a:defRPr>
            </a:pPr>
            <a:r>
              <a:rPr sz="1275" b="0">
                <a:solidFill>
                  <a:srgbClr val="0B0F14"/>
                </a:solidFill>
              </a:rPr>
              <a:t>Rows, fields, identifiers, files, and metadata are minimized.</a:t>
            </a:r>
          </a:p>
        </p:txBody>
      </p:sp>
      <p:sp>
        <p:nvSpPr>
          <p:cNvPr id="10" name="">
            <a:extLst xmlns:a="http://schemas.openxmlformats.org/drawingml/2006/main">
              <a:ext uri="{FF2B5EF4-FFF2-40B4-BE49-F238E27FC236}">
                <a16:creationId xmlns:a16="http://schemas.microsoft.com/office/drawing/2014/main" id="{19AE9AE3-1259-4E49-B57A-7D2056099670}"/>
              </a:ext>
            </a:extLst>
          </p:cNvPr>
          <p:cNvSpPr>
            <a:spLocks xmlns:a="http://schemas.openxmlformats.org/drawingml/2006/main" noGrp="1"/>
          </p:cNvSpPr>
          <p:nvPr/>
        </p:nvSpPr>
        <p:spPr>
          <a:xfrm xmlns:a="http://schemas.openxmlformats.org/drawingml/2006/main">
            <a:off x="762000" y="4219575"/>
            <a:ext cx="85725" cy="85725"/>
          </a:xfrm>
          <a:prstGeom xmlns:a="http://schemas.openxmlformats.org/drawingml/2006/main" prst="rect">
            <a:avLst/>
          </a:prstGeom>
          <a:solidFill xmlns:a="http://schemas.openxmlformats.org/drawingml/2006/main">
            <a:srgbClr val="FF6B35"/>
          </a:solidFill>
          <a:ln xmlns:a="http://schemas.openxmlformats.org/drawingml/2006/main" w="9525">
            <a:solidFill>
              <a:srgbClr val="FF6B35"/>
            </a:solidFill>
            <a:prstDash val="solid"/>
          </a:ln>
        </p:spPr>
      </p:sp>
      <p:sp>
        <p:nvSpPr>
          <p:cNvPr id="11" name="">
            <a:extLst xmlns:a="http://schemas.openxmlformats.org/drawingml/2006/main">
              <a:ext uri="{FF2B5EF4-FFF2-40B4-BE49-F238E27FC236}">
                <a16:creationId xmlns:a16="http://schemas.microsoft.com/office/drawing/2014/main" id="{5D1FFC06-EEF2-40A0-8CF8-F41A7B19E731}"/>
              </a:ext>
            </a:extLst>
          </p:cNvPr>
          <p:cNvSpPr>
            <a:spLocks xmlns:a="http://schemas.openxmlformats.org/drawingml/2006/main" noGrp="1"/>
          </p:cNvSpPr>
          <p:nvPr/>
        </p:nvSpPr>
        <p:spPr>
          <a:xfrm xmlns:a="http://schemas.openxmlformats.org/drawingml/2006/main">
            <a:off x="971550" y="4152900"/>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0B0F14"/>
                </a:solidFill>
              </a:defRPr>
            </a:pPr>
            <a:r>
              <a:rPr sz="1275" b="0">
                <a:solidFill>
                  <a:srgbClr val="0B0F14"/>
                </a:solidFill>
              </a:rPr>
              <a:t>Audit logs exclude payloads and raw receipts.</a:t>
            </a:r>
          </a:p>
        </p:txBody>
      </p:sp>
      <p:sp>
        <p:nvSpPr>
          <p:cNvPr id="12" name="">
            <a:extLst xmlns:a="http://schemas.openxmlformats.org/drawingml/2006/main">
              <a:ext uri="{FF2B5EF4-FFF2-40B4-BE49-F238E27FC236}">
                <a16:creationId xmlns:a16="http://schemas.microsoft.com/office/drawing/2014/main" id="{F9BE4713-ADFF-40DB-ACB6-BEF267612F4E}"/>
              </a:ext>
            </a:extLst>
          </p:cNvPr>
          <p:cNvSpPr>
            <a:spLocks xmlns:a="http://schemas.openxmlformats.org/drawingml/2006/main" noGrp="1"/>
          </p:cNvSpPr>
          <p:nvPr/>
        </p:nvSpPr>
        <p:spPr>
          <a:xfrm xmlns:a="http://schemas.openxmlformats.org/drawingml/2006/main">
            <a:off x="762000" y="4629150"/>
            <a:ext cx="85725" cy="85725"/>
          </a:xfrm>
          <a:prstGeom xmlns:a="http://schemas.openxmlformats.org/drawingml/2006/main" prst="rect">
            <a:avLst/>
          </a:prstGeom>
          <a:solidFill xmlns:a="http://schemas.openxmlformats.org/drawingml/2006/main">
            <a:srgbClr val="FF6B35"/>
          </a:solidFill>
          <a:ln xmlns:a="http://schemas.openxmlformats.org/drawingml/2006/main" w="9525">
            <a:solidFill>
              <a:srgbClr val="FF6B35"/>
            </a:solidFill>
            <a:prstDash val="solid"/>
          </a:ln>
        </p:spPr>
      </p:sp>
      <p:sp>
        <p:nvSpPr>
          <p:cNvPr id="13" name="">
            <a:extLst xmlns:a="http://schemas.openxmlformats.org/drawingml/2006/main">
              <a:ext uri="{FF2B5EF4-FFF2-40B4-BE49-F238E27FC236}">
                <a16:creationId xmlns:a16="http://schemas.microsoft.com/office/drawing/2014/main" id="{4B330651-5054-4EAE-A9A6-6749851871D8}"/>
              </a:ext>
            </a:extLst>
          </p:cNvPr>
          <p:cNvSpPr>
            <a:spLocks xmlns:a="http://schemas.openxmlformats.org/drawingml/2006/main" noGrp="1"/>
          </p:cNvSpPr>
          <p:nvPr/>
        </p:nvSpPr>
        <p:spPr>
          <a:xfrm xmlns:a="http://schemas.openxmlformats.org/drawingml/2006/main">
            <a:off x="971550" y="4562475"/>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0B0F14"/>
                </a:solidFill>
              </a:defRPr>
            </a:pPr>
            <a:r>
              <a:rPr sz="1275" b="0">
                <a:solidFill>
                  <a:srgbClr val="0B0F14"/>
                </a:solidFill>
              </a:rPr>
              <a:t>The approved SDK URL and tested version are recorded.</a:t>
            </a:r>
          </a:p>
        </p:txBody>
      </p:sp>
      <p:sp>
        <p:nvSpPr>
          <p:cNvPr id="14" name="">
            <a:extLst xmlns:a="http://schemas.openxmlformats.org/drawingml/2006/main">
              <a:ext uri="{FF2B5EF4-FFF2-40B4-BE49-F238E27FC236}">
                <a16:creationId xmlns:a16="http://schemas.microsoft.com/office/drawing/2014/main" id="{730CFC42-BFBA-4F1E-953B-53A3C97CCFD7}"/>
              </a:ext>
            </a:extLst>
          </p:cNvPr>
          <p:cNvSpPr>
            <a:spLocks xmlns:a="http://schemas.openxmlformats.org/drawingml/2006/main" noGrp="1"/>
          </p:cNvSpPr>
          <p:nvPr/>
        </p:nvSpPr>
        <p:spPr>
          <a:xfrm xmlns:a="http://schemas.openxmlformats.org/drawingml/2006/main">
            <a:off x="4371975" y="2362200"/>
            <a:ext cx="3333750" cy="2905125"/>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CC5E35C9-FFE4-4C91-A8CD-0FA9D676034B}"/>
              </a:ext>
            </a:extLst>
          </p:cNvPr>
          <p:cNvSpPr>
            <a:spLocks xmlns:a="http://schemas.openxmlformats.org/drawingml/2006/main" noGrp="1"/>
          </p:cNvSpPr>
          <p:nvPr/>
        </p:nvSpPr>
        <p:spPr>
          <a:xfrm xmlns:a="http://schemas.openxmlformats.org/drawingml/2006/main">
            <a:off x="4562475" y="2628900"/>
            <a:ext cx="29146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25" b="1">
                <a:solidFill>
                  <a:srgbClr val="0B0F14"/>
                </a:solidFill>
              </a:defRPr>
            </a:pPr>
            <a:r>
              <a:rPr sz="1725" b="1">
                <a:solidFill>
                  <a:srgbClr val="0B0F14"/>
                </a:solidFill>
              </a:rPr>
              <a:t>MicrobeTrace app team</a:t>
            </a:r>
          </a:p>
        </p:txBody>
      </p:sp>
      <p:sp>
        <p:nvSpPr>
          <p:cNvPr id="16" name="">
            <a:extLst xmlns:a="http://schemas.openxmlformats.org/drawingml/2006/main">
              <a:ext uri="{FF2B5EF4-FFF2-40B4-BE49-F238E27FC236}">
                <a16:creationId xmlns:a16="http://schemas.microsoft.com/office/drawing/2014/main" id="{29D99CFF-64AC-4FF2-AFB1-37CE1235B06F}"/>
              </a:ext>
            </a:extLst>
          </p:cNvPr>
          <p:cNvSpPr>
            <a:spLocks xmlns:a="http://schemas.openxmlformats.org/drawingml/2006/main" noGrp="1"/>
          </p:cNvSpPr>
          <p:nvPr/>
        </p:nvSpPr>
        <p:spPr>
          <a:xfrm xmlns:a="http://schemas.openxmlformats.org/drawingml/2006/main">
            <a:off x="4619625" y="3400425"/>
            <a:ext cx="85725" cy="85725"/>
          </a:xfrm>
          <a:prstGeom xmlns:a="http://schemas.openxmlformats.org/drawingml/2006/main" prst="rect">
            <a:avLst/>
          </a:prstGeom>
          <a:solidFill xmlns:a="http://schemas.openxmlformats.org/drawingml/2006/main">
            <a:srgbClr val="FF6B35"/>
          </a:solidFill>
          <a:ln xmlns:a="http://schemas.openxmlformats.org/drawingml/2006/main" w="9525">
            <a:solidFill>
              <a:srgbClr val="FF6B35"/>
            </a:solidFill>
            <a:prstDash val="solid"/>
          </a:ln>
        </p:spPr>
      </p:sp>
      <p:sp>
        <p:nvSpPr>
          <p:cNvPr id="17" name="">
            <a:extLst xmlns:a="http://schemas.openxmlformats.org/drawingml/2006/main">
              <a:ext uri="{FF2B5EF4-FFF2-40B4-BE49-F238E27FC236}">
                <a16:creationId xmlns:a16="http://schemas.microsoft.com/office/drawing/2014/main" id="{097076EB-B00D-4A44-A067-A3421BB9B081}"/>
              </a:ext>
            </a:extLst>
          </p:cNvPr>
          <p:cNvSpPr>
            <a:spLocks xmlns:a="http://schemas.openxmlformats.org/drawingml/2006/main" noGrp="1"/>
          </p:cNvSpPr>
          <p:nvPr/>
        </p:nvSpPr>
        <p:spPr>
          <a:xfrm xmlns:a="http://schemas.openxmlformats.org/drawingml/2006/main">
            <a:off x="4829175" y="3333750"/>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0B0F14"/>
                </a:solidFill>
              </a:defRPr>
            </a:pPr>
            <a:r>
              <a:rPr sz="1275" b="0">
                <a:solidFill>
                  <a:srgbClr val="0B0F14"/>
                </a:solidFill>
              </a:rPr>
              <a:t>partnerId is assigned per security boundary.</a:t>
            </a:r>
          </a:p>
        </p:txBody>
      </p:sp>
      <p:sp>
        <p:nvSpPr>
          <p:cNvPr id="18" name="">
            <a:extLst xmlns:a="http://schemas.openxmlformats.org/drawingml/2006/main">
              <a:ext uri="{FF2B5EF4-FFF2-40B4-BE49-F238E27FC236}">
                <a16:creationId xmlns:a16="http://schemas.microsoft.com/office/drawing/2014/main" id="{DA2BE745-D7BA-45F9-B162-A85967B84454}"/>
              </a:ext>
            </a:extLst>
          </p:cNvPr>
          <p:cNvSpPr>
            <a:spLocks xmlns:a="http://schemas.openxmlformats.org/drawingml/2006/main" noGrp="1"/>
          </p:cNvSpPr>
          <p:nvPr/>
        </p:nvSpPr>
        <p:spPr>
          <a:xfrm xmlns:a="http://schemas.openxmlformats.org/drawingml/2006/main">
            <a:off x="4619625" y="3810000"/>
            <a:ext cx="85725" cy="85725"/>
          </a:xfrm>
          <a:prstGeom xmlns:a="http://schemas.openxmlformats.org/drawingml/2006/main" prst="rect">
            <a:avLst/>
          </a:prstGeom>
          <a:solidFill xmlns:a="http://schemas.openxmlformats.org/drawingml/2006/main">
            <a:srgbClr val="FF6B35"/>
          </a:solidFill>
          <a:ln xmlns:a="http://schemas.openxmlformats.org/drawingml/2006/main" w="9525">
            <a:solidFill>
              <a:srgbClr val="FF6B35"/>
            </a:solidFill>
            <a:prstDash val="solid"/>
          </a:ln>
        </p:spPr>
      </p:sp>
      <p:sp>
        <p:nvSpPr>
          <p:cNvPr id="19" name="">
            <a:extLst xmlns:a="http://schemas.openxmlformats.org/drawingml/2006/main">
              <a:ext uri="{FF2B5EF4-FFF2-40B4-BE49-F238E27FC236}">
                <a16:creationId xmlns:a16="http://schemas.microsoft.com/office/drawing/2014/main" id="{61C3989C-E88A-48F9-858D-9C26ADFB3734}"/>
              </a:ext>
            </a:extLst>
          </p:cNvPr>
          <p:cNvSpPr>
            <a:spLocks xmlns:a="http://schemas.openxmlformats.org/drawingml/2006/main" noGrp="1"/>
          </p:cNvSpPr>
          <p:nvPr/>
        </p:nvSpPr>
        <p:spPr>
          <a:xfrm xmlns:a="http://schemas.openxmlformats.org/drawingml/2006/main">
            <a:off x="4829175" y="3743325"/>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0B0F14"/>
                </a:solidFill>
              </a:defRPr>
            </a:pPr>
            <a:r>
              <a:rPr sz="1275" b="0">
                <a:solidFill>
                  <a:srgbClr val="0B0F14"/>
                </a:solidFill>
              </a:rPr>
              <a:t>Only exact production HTTPS origins are allowlisted.</a:t>
            </a:r>
          </a:p>
        </p:txBody>
      </p:sp>
      <p:sp>
        <p:nvSpPr>
          <p:cNvPr id="20" name="">
            <a:extLst xmlns:a="http://schemas.openxmlformats.org/drawingml/2006/main">
              <a:ext uri="{FF2B5EF4-FFF2-40B4-BE49-F238E27FC236}">
                <a16:creationId xmlns:a16="http://schemas.microsoft.com/office/drawing/2014/main" id="{03EAFE53-E48E-4BDE-940B-CD501CC2C775}"/>
              </a:ext>
            </a:extLst>
          </p:cNvPr>
          <p:cNvSpPr>
            <a:spLocks xmlns:a="http://schemas.openxmlformats.org/drawingml/2006/main" noGrp="1"/>
          </p:cNvSpPr>
          <p:nvPr/>
        </p:nvSpPr>
        <p:spPr>
          <a:xfrm xmlns:a="http://schemas.openxmlformats.org/drawingml/2006/main">
            <a:off x="4619625" y="4219575"/>
            <a:ext cx="85725" cy="85725"/>
          </a:xfrm>
          <a:prstGeom xmlns:a="http://schemas.openxmlformats.org/drawingml/2006/main" prst="rect">
            <a:avLst/>
          </a:prstGeom>
          <a:solidFill xmlns:a="http://schemas.openxmlformats.org/drawingml/2006/main">
            <a:srgbClr val="FF6B35"/>
          </a:solidFill>
          <a:ln xmlns:a="http://schemas.openxmlformats.org/drawingml/2006/main" w="9525">
            <a:solidFill>
              <a:srgbClr val="FF6B35"/>
            </a:solidFill>
            <a:prstDash val="solid"/>
          </a:ln>
        </p:spPr>
      </p:sp>
      <p:sp>
        <p:nvSpPr>
          <p:cNvPr id="21" name="">
            <a:extLst xmlns:a="http://schemas.openxmlformats.org/drawingml/2006/main">
              <a:ext uri="{FF2B5EF4-FFF2-40B4-BE49-F238E27FC236}">
                <a16:creationId xmlns:a16="http://schemas.microsoft.com/office/drawing/2014/main" id="{F0FECF5D-D979-488B-84ED-6C1D1C05E2D5}"/>
              </a:ext>
            </a:extLst>
          </p:cNvPr>
          <p:cNvSpPr>
            <a:spLocks xmlns:a="http://schemas.openxmlformats.org/drawingml/2006/main" noGrp="1"/>
          </p:cNvSpPr>
          <p:nvPr/>
        </p:nvSpPr>
        <p:spPr>
          <a:xfrm xmlns:a="http://schemas.openxmlformats.org/drawingml/2006/main">
            <a:off x="4829175" y="4152900"/>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0B0F14"/>
                </a:solidFill>
              </a:defRPr>
            </a:pPr>
            <a:r>
              <a:rPr sz="1275" b="0">
                <a:solidFill>
                  <a:srgbClr val="0B0F14"/>
                </a:solidFill>
              </a:rPr>
              <a:t>Metadata limits and tag suppression are enforced.</a:t>
            </a:r>
          </a:p>
        </p:txBody>
      </p:sp>
      <p:sp>
        <p:nvSpPr>
          <p:cNvPr id="22" name="">
            <a:extLst xmlns:a="http://schemas.openxmlformats.org/drawingml/2006/main">
              <a:ext uri="{FF2B5EF4-FFF2-40B4-BE49-F238E27FC236}">
                <a16:creationId xmlns:a16="http://schemas.microsoft.com/office/drawing/2014/main" id="{5FC1109B-6D2D-40AC-8E14-AA940F101E43}"/>
              </a:ext>
            </a:extLst>
          </p:cNvPr>
          <p:cNvSpPr>
            <a:spLocks xmlns:a="http://schemas.openxmlformats.org/drawingml/2006/main" noGrp="1"/>
          </p:cNvSpPr>
          <p:nvPr/>
        </p:nvSpPr>
        <p:spPr>
          <a:xfrm xmlns:a="http://schemas.openxmlformats.org/drawingml/2006/main">
            <a:off x="4619625" y="4629150"/>
            <a:ext cx="85725" cy="85725"/>
          </a:xfrm>
          <a:prstGeom xmlns:a="http://schemas.openxmlformats.org/drawingml/2006/main" prst="rect">
            <a:avLst/>
          </a:prstGeom>
          <a:solidFill xmlns:a="http://schemas.openxmlformats.org/drawingml/2006/main">
            <a:srgbClr val="FF6B35"/>
          </a:solidFill>
          <a:ln xmlns:a="http://schemas.openxmlformats.org/drawingml/2006/main" w="9525">
            <a:solidFill>
              <a:srgbClr val="FF6B35"/>
            </a:solidFill>
            <a:prstDash val="solid"/>
          </a:ln>
        </p:spPr>
      </p:sp>
      <p:sp>
        <p:nvSpPr>
          <p:cNvPr id="23" name="">
            <a:extLst xmlns:a="http://schemas.openxmlformats.org/drawingml/2006/main">
              <a:ext uri="{FF2B5EF4-FFF2-40B4-BE49-F238E27FC236}">
                <a16:creationId xmlns:a16="http://schemas.microsoft.com/office/drawing/2014/main" id="{3D20E869-7096-4AF1-BFC4-98C2D4FBA8B7}"/>
              </a:ext>
            </a:extLst>
          </p:cNvPr>
          <p:cNvSpPr>
            <a:spLocks xmlns:a="http://schemas.openxmlformats.org/drawingml/2006/main" noGrp="1"/>
          </p:cNvSpPr>
          <p:nvPr/>
        </p:nvSpPr>
        <p:spPr>
          <a:xfrm xmlns:a="http://schemas.openxmlformats.org/drawingml/2006/main">
            <a:off x="4829175" y="4562475"/>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0B0F14"/>
                </a:solidFill>
              </a:defRPr>
            </a:pPr>
            <a:r>
              <a:rPr sz="1275" b="0">
                <a:solidFill>
                  <a:srgbClr val="0B0F14"/>
                </a:solidFill>
              </a:rPr>
              <a:t>Build artifacts and denial-case tests are verified.</a:t>
            </a:r>
          </a:p>
        </p:txBody>
      </p:sp>
      <p:sp>
        <p:nvSpPr>
          <p:cNvPr id="24" name="">
            <a:extLst xmlns:a="http://schemas.openxmlformats.org/drawingml/2006/main">
              <a:ext uri="{FF2B5EF4-FFF2-40B4-BE49-F238E27FC236}">
                <a16:creationId xmlns:a16="http://schemas.microsoft.com/office/drawing/2014/main" id="{351F88F3-28CB-4B40-AA11-51E2C065D2CD}"/>
              </a:ext>
            </a:extLst>
          </p:cNvPr>
          <p:cNvSpPr>
            <a:spLocks xmlns:a="http://schemas.openxmlformats.org/drawingml/2006/main" noGrp="1"/>
          </p:cNvSpPr>
          <p:nvPr/>
        </p:nvSpPr>
        <p:spPr>
          <a:xfrm xmlns:a="http://schemas.openxmlformats.org/drawingml/2006/main">
            <a:off x="8229600" y="2362200"/>
            <a:ext cx="3333750" cy="2905125"/>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25" name="">
            <a:extLst xmlns:a="http://schemas.openxmlformats.org/drawingml/2006/main">
              <a:ext uri="{FF2B5EF4-FFF2-40B4-BE49-F238E27FC236}">
                <a16:creationId xmlns:a16="http://schemas.microsoft.com/office/drawing/2014/main" id="{D106F906-266B-4228-A423-1A3C7B577E62}"/>
              </a:ext>
            </a:extLst>
          </p:cNvPr>
          <p:cNvSpPr>
            <a:spLocks xmlns:a="http://schemas.openxmlformats.org/drawingml/2006/main" noGrp="1"/>
          </p:cNvSpPr>
          <p:nvPr/>
        </p:nvSpPr>
        <p:spPr>
          <a:xfrm xmlns:a="http://schemas.openxmlformats.org/drawingml/2006/main">
            <a:off x="8420100" y="2628900"/>
            <a:ext cx="29146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25" b="1">
                <a:solidFill>
                  <a:srgbClr val="0B0F14"/>
                </a:solidFill>
              </a:defRPr>
            </a:pPr>
            <a:r>
              <a:rPr sz="1725" b="1">
                <a:solidFill>
                  <a:srgbClr val="0B0F14"/>
                </a:solidFill>
              </a:rPr>
              <a:t>Deployment owner / CDC infrastructure</a:t>
            </a:r>
          </a:p>
        </p:txBody>
      </p:sp>
      <p:sp>
        <p:nvSpPr>
          <p:cNvPr id="26" name="">
            <a:extLst xmlns:a="http://schemas.openxmlformats.org/drawingml/2006/main">
              <a:ext uri="{FF2B5EF4-FFF2-40B4-BE49-F238E27FC236}">
                <a16:creationId xmlns:a16="http://schemas.microsoft.com/office/drawing/2014/main" id="{59E51AFF-2BA1-462F-A5DE-CEEBEB49E41B}"/>
              </a:ext>
            </a:extLst>
          </p:cNvPr>
          <p:cNvSpPr>
            <a:spLocks xmlns:a="http://schemas.openxmlformats.org/drawingml/2006/main" noGrp="1"/>
          </p:cNvSpPr>
          <p:nvPr/>
        </p:nvSpPr>
        <p:spPr>
          <a:xfrm xmlns:a="http://schemas.openxmlformats.org/drawingml/2006/main">
            <a:off x="8477250" y="3400425"/>
            <a:ext cx="85725" cy="85725"/>
          </a:xfrm>
          <a:prstGeom xmlns:a="http://schemas.openxmlformats.org/drawingml/2006/main" prst="rect">
            <a:avLst/>
          </a:prstGeom>
          <a:solidFill xmlns:a="http://schemas.openxmlformats.org/drawingml/2006/main">
            <a:srgbClr val="FF6B35"/>
          </a:solidFill>
          <a:ln xmlns:a="http://schemas.openxmlformats.org/drawingml/2006/main" w="9525">
            <a:solidFill>
              <a:srgbClr val="FF6B35"/>
            </a:solidFill>
            <a:prstDash val="solid"/>
          </a:ln>
        </p:spPr>
      </p:sp>
      <p:sp>
        <p:nvSpPr>
          <p:cNvPr id="27" name="">
            <a:extLst xmlns:a="http://schemas.openxmlformats.org/drawingml/2006/main">
              <a:ext uri="{FF2B5EF4-FFF2-40B4-BE49-F238E27FC236}">
                <a16:creationId xmlns:a16="http://schemas.microsoft.com/office/drawing/2014/main" id="{3AE5A65B-A676-4E10-9164-563BEFC5B55B}"/>
              </a:ext>
            </a:extLst>
          </p:cNvPr>
          <p:cNvSpPr>
            <a:spLocks xmlns:a="http://schemas.openxmlformats.org/drawingml/2006/main" noGrp="1"/>
          </p:cNvSpPr>
          <p:nvPr/>
        </p:nvSpPr>
        <p:spPr>
          <a:xfrm xmlns:a="http://schemas.openxmlformats.org/drawingml/2006/main">
            <a:off x="8686800" y="3333750"/>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0B0F14"/>
                </a:solidFill>
              </a:defRPr>
            </a:pPr>
            <a:r>
              <a:rPr sz="1275" b="0">
                <a:solidFill>
                  <a:srgbClr val="0B0F14"/>
                </a:solidFill>
              </a:rPr>
              <a:t>Live CSP and Referrer-Policy are verified.</a:t>
            </a:r>
          </a:p>
        </p:txBody>
      </p:sp>
      <p:sp>
        <p:nvSpPr>
          <p:cNvPr id="28" name="">
            <a:extLst xmlns:a="http://schemas.openxmlformats.org/drawingml/2006/main">
              <a:ext uri="{FF2B5EF4-FFF2-40B4-BE49-F238E27FC236}">
                <a16:creationId xmlns:a16="http://schemas.microsoft.com/office/drawing/2014/main" id="{7045E7B1-2BBE-4C65-8554-67A9EDCE6468}"/>
              </a:ext>
            </a:extLst>
          </p:cNvPr>
          <p:cNvSpPr>
            <a:spLocks xmlns:a="http://schemas.openxmlformats.org/drawingml/2006/main" noGrp="1"/>
          </p:cNvSpPr>
          <p:nvPr/>
        </p:nvSpPr>
        <p:spPr>
          <a:xfrm xmlns:a="http://schemas.openxmlformats.org/drawingml/2006/main">
            <a:off x="8477250" y="3810000"/>
            <a:ext cx="85725" cy="85725"/>
          </a:xfrm>
          <a:prstGeom xmlns:a="http://schemas.openxmlformats.org/drawingml/2006/main" prst="rect">
            <a:avLst/>
          </a:prstGeom>
          <a:solidFill xmlns:a="http://schemas.openxmlformats.org/drawingml/2006/main">
            <a:srgbClr val="FF6B35"/>
          </a:solidFill>
          <a:ln xmlns:a="http://schemas.openxmlformats.org/drawingml/2006/main" w="9525">
            <a:solidFill>
              <a:srgbClr val="FF6B35"/>
            </a:solidFill>
            <a:prstDash val="solid"/>
          </a:ln>
        </p:spPr>
      </p:sp>
      <p:sp>
        <p:nvSpPr>
          <p:cNvPr id="29" name="">
            <a:extLst xmlns:a="http://schemas.openxmlformats.org/drawingml/2006/main">
              <a:ext uri="{FF2B5EF4-FFF2-40B4-BE49-F238E27FC236}">
                <a16:creationId xmlns:a16="http://schemas.microsoft.com/office/drawing/2014/main" id="{9BAD3F5C-116C-4F4A-BBB1-4EB87DAF657E}"/>
              </a:ext>
            </a:extLst>
          </p:cNvPr>
          <p:cNvSpPr>
            <a:spLocks xmlns:a="http://schemas.openxmlformats.org/drawingml/2006/main" noGrp="1"/>
          </p:cNvSpPr>
          <p:nvPr/>
        </p:nvSpPr>
        <p:spPr>
          <a:xfrm xmlns:a="http://schemas.openxmlformats.org/drawingml/2006/main">
            <a:off x="8686800" y="3743325"/>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0B0F14"/>
                </a:solidFill>
              </a:defRPr>
            </a:pPr>
            <a:r>
              <a:rPr sz="1275" b="0">
                <a:solidFill>
                  <a:srgbClr val="0B0F14"/>
                </a:solidFill>
              </a:rPr>
              <a:t>No-store is verified on /assets/embed/receiver.html.</a:t>
            </a:r>
          </a:p>
        </p:txBody>
      </p:sp>
      <p:sp>
        <p:nvSpPr>
          <p:cNvPr id="30" name="">
            <a:extLst xmlns:a="http://schemas.openxmlformats.org/drawingml/2006/main">
              <a:ext uri="{FF2B5EF4-FFF2-40B4-BE49-F238E27FC236}">
                <a16:creationId xmlns:a16="http://schemas.microsoft.com/office/drawing/2014/main" id="{9D8DDD7B-6DB8-4523-A82C-A696F9287D35}"/>
              </a:ext>
            </a:extLst>
          </p:cNvPr>
          <p:cNvSpPr>
            <a:spLocks xmlns:a="http://schemas.openxmlformats.org/drawingml/2006/main" noGrp="1"/>
          </p:cNvSpPr>
          <p:nvPr/>
        </p:nvSpPr>
        <p:spPr>
          <a:xfrm xmlns:a="http://schemas.openxmlformats.org/drawingml/2006/main">
            <a:off x="8477250" y="4219575"/>
            <a:ext cx="85725" cy="85725"/>
          </a:xfrm>
          <a:prstGeom xmlns:a="http://schemas.openxmlformats.org/drawingml/2006/main" prst="rect">
            <a:avLst/>
          </a:prstGeom>
          <a:solidFill xmlns:a="http://schemas.openxmlformats.org/drawingml/2006/main">
            <a:srgbClr val="FF6B35"/>
          </a:solidFill>
          <a:ln xmlns:a="http://schemas.openxmlformats.org/drawingml/2006/main" w="9525">
            <a:solidFill>
              <a:srgbClr val="FF6B35"/>
            </a:solidFill>
            <a:prstDash val="solid"/>
          </a:ln>
        </p:spPr>
      </p:sp>
      <p:sp>
        <p:nvSpPr>
          <p:cNvPr id="31" name="">
            <a:extLst xmlns:a="http://schemas.openxmlformats.org/drawingml/2006/main">
              <a:ext uri="{FF2B5EF4-FFF2-40B4-BE49-F238E27FC236}">
                <a16:creationId xmlns:a16="http://schemas.microsoft.com/office/drawing/2014/main" id="{B31D272D-97C2-4715-BACB-02CD4E8B2575}"/>
              </a:ext>
            </a:extLst>
          </p:cNvPr>
          <p:cNvSpPr>
            <a:spLocks xmlns:a="http://schemas.openxmlformats.org/drawingml/2006/main" noGrp="1"/>
          </p:cNvSpPr>
          <p:nvPr/>
        </p:nvSpPr>
        <p:spPr>
          <a:xfrm xmlns:a="http://schemas.openxmlformats.org/drawingml/2006/main">
            <a:off x="8686800" y="4152900"/>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0B0F14"/>
                </a:solidFill>
              </a:defRPr>
            </a:pPr>
            <a:r>
              <a:rPr sz="1275" b="0">
                <a:solidFill>
                  <a:srgbClr val="0B0F14"/>
                </a:solidFill>
              </a:rPr>
              <a:t>Headers are preserved through proxy, gateway, or CDN.</a:t>
            </a:r>
          </a:p>
        </p:txBody>
      </p:sp>
      <p:sp>
        <p:nvSpPr>
          <p:cNvPr id="32" name="">
            <a:extLst xmlns:a="http://schemas.openxmlformats.org/drawingml/2006/main">
              <a:ext uri="{FF2B5EF4-FFF2-40B4-BE49-F238E27FC236}">
                <a16:creationId xmlns:a16="http://schemas.microsoft.com/office/drawing/2014/main" id="{19C0B45F-A38B-4605-AAF5-0BB34D03F55F}"/>
              </a:ext>
            </a:extLst>
          </p:cNvPr>
          <p:cNvSpPr>
            <a:spLocks xmlns:a="http://schemas.openxmlformats.org/drawingml/2006/main" noGrp="1"/>
          </p:cNvSpPr>
          <p:nvPr/>
        </p:nvSpPr>
        <p:spPr>
          <a:xfrm xmlns:a="http://schemas.openxmlformats.org/drawingml/2006/main">
            <a:off x="8477250" y="4629150"/>
            <a:ext cx="85725" cy="85725"/>
          </a:xfrm>
          <a:prstGeom xmlns:a="http://schemas.openxmlformats.org/drawingml/2006/main" prst="rect">
            <a:avLst/>
          </a:prstGeom>
          <a:solidFill xmlns:a="http://schemas.openxmlformats.org/drawingml/2006/main">
            <a:srgbClr val="FF6B35"/>
          </a:solidFill>
          <a:ln xmlns:a="http://schemas.openxmlformats.org/drawingml/2006/main" w="9525">
            <a:solidFill>
              <a:srgbClr val="FF6B35"/>
            </a:solidFill>
            <a:prstDash val="solid"/>
          </a:ln>
        </p:spPr>
      </p:sp>
      <p:sp>
        <p:nvSpPr>
          <p:cNvPr id="33" name="">
            <a:extLst xmlns:a="http://schemas.openxmlformats.org/drawingml/2006/main">
              <a:ext uri="{FF2B5EF4-FFF2-40B4-BE49-F238E27FC236}">
                <a16:creationId xmlns:a16="http://schemas.microsoft.com/office/drawing/2014/main" id="{C6E91F0E-0968-49F4-B9E5-690E21B7DDFC}"/>
              </a:ext>
            </a:extLst>
          </p:cNvPr>
          <p:cNvSpPr>
            <a:spLocks xmlns:a="http://schemas.openxmlformats.org/drawingml/2006/main" noGrp="1"/>
          </p:cNvSpPr>
          <p:nvPr/>
        </p:nvSpPr>
        <p:spPr>
          <a:xfrm xmlns:a="http://schemas.openxmlformats.org/drawingml/2006/main">
            <a:off x="8686800" y="4562475"/>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0B0F14"/>
                </a:solidFill>
              </a:defRPr>
            </a:pPr>
            <a:r>
              <a:rPr sz="1275" b="0">
                <a:solidFill>
                  <a:srgbClr val="0B0F14"/>
                </a:solidFill>
              </a:rPr>
              <a:t>Controls are rechecked after hosting changes.</a:t>
            </a:r>
          </a:p>
        </p:txBody>
      </p:sp>
      <p:sp>
        <p:nvSpPr>
          <p:cNvPr id="34" name="">
            <a:extLst xmlns:a="http://schemas.openxmlformats.org/drawingml/2006/main">
              <a:ext uri="{FF2B5EF4-FFF2-40B4-BE49-F238E27FC236}">
                <a16:creationId xmlns:a16="http://schemas.microsoft.com/office/drawing/2014/main" id="{A5BCED32-C57B-452B-B671-A928B65B4564}"/>
              </a:ext>
            </a:extLst>
          </p:cNvPr>
          <p:cNvSpPr>
            <a:spLocks xmlns:a="http://schemas.openxmlformats.org/drawingml/2006/main" noGrp="1"/>
          </p:cNvSpPr>
          <p:nvPr/>
        </p:nvSpPr>
        <p:spPr>
          <a:xfrm xmlns:a="http://schemas.openxmlformats.org/drawingml/2006/main">
            <a:off x="514350" y="5505450"/>
            <a:ext cx="10725150" cy="628650"/>
          </a:xfrm>
          <a:prstGeom xmlns:a="http://schemas.openxmlformats.org/drawingml/2006/main" prst="rect">
            <a:avLst/>
          </a:prstGeom>
          <a:solidFill xmlns:a="http://schemas.openxmlformats.org/drawingml/2006/main">
            <a:srgbClr val="F1F5F9"/>
          </a:solidFill>
          <a:ln xmlns:a="http://schemas.openxmlformats.org/drawingml/2006/main" w="9525">
            <a:solidFill>
              <a:srgbClr val="B8BCC4"/>
            </a:solidFill>
            <a:prstDash val="solid"/>
          </a:ln>
        </p:spPr>
      </p:sp>
      <p:sp>
        <p:nvSpPr>
          <p:cNvPr id="35" name="">
            <a:extLst xmlns:a="http://schemas.openxmlformats.org/drawingml/2006/main">
              <a:ext uri="{FF2B5EF4-FFF2-40B4-BE49-F238E27FC236}">
                <a16:creationId xmlns:a16="http://schemas.microsoft.com/office/drawing/2014/main" id="{A97C378B-EAB3-4492-BA2D-51C11E3F72E8}"/>
              </a:ext>
            </a:extLst>
          </p:cNvPr>
          <p:cNvSpPr>
            <a:spLocks xmlns:a="http://schemas.openxmlformats.org/drawingml/2006/main" noGrp="1"/>
          </p:cNvSpPr>
          <p:nvPr/>
        </p:nvSpPr>
        <p:spPr>
          <a:xfrm xmlns:a="http://schemas.openxmlformats.org/drawingml/2006/main">
            <a:off x="781050" y="57150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0B0F14"/>
                </a:solidFill>
              </a:defRPr>
            </a:pPr>
            <a:r>
              <a:rPr sz="1500" b="1">
                <a:solidFill>
                  <a:srgbClr val="0B0F14"/>
                </a:solidFill>
              </a:rPr>
              <a:t>Joint launch evidence</a:t>
            </a:r>
          </a:p>
        </p:txBody>
      </p:sp>
      <p:sp>
        <p:nvSpPr>
          <p:cNvPr id="36" name="">
            <a:extLst xmlns:a="http://schemas.openxmlformats.org/drawingml/2006/main">
              <a:ext uri="{FF2B5EF4-FFF2-40B4-BE49-F238E27FC236}">
                <a16:creationId xmlns:a16="http://schemas.microsoft.com/office/drawing/2014/main" id="{C33AFB2D-B0DE-433E-849D-151FF1F52F02}"/>
              </a:ext>
            </a:extLst>
          </p:cNvPr>
          <p:cNvSpPr>
            <a:spLocks xmlns:a="http://schemas.openxmlformats.org/drawingml/2006/main" noGrp="1"/>
          </p:cNvSpPr>
          <p:nvPr/>
        </p:nvSpPr>
        <p:spPr>
          <a:xfrm xmlns:a="http://schemas.openxmlformats.org/drawingml/2006/main">
            <a:off x="2876550" y="561975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555555"/>
                </a:solidFill>
              </a:defRPr>
            </a:pPr>
            <a:r>
              <a:rPr sz="1200" b="0">
                <a:solidFill>
                  <a:srgbClr val="555555"/>
                </a:solidFill>
              </a:rPr>
              <a:t>Both teams verified that unsafe cases fail closed: unauthorized export, disallowed origin, metadata abuse, oversized payload, popup blocked, analytics present, missing headers, and unsafe export values.</a:t>
            </a:r>
          </a:p>
        </p:txBody>
      </p:sp>
      <p:sp>
        <p:nvSpPr>
          <p:cNvPr id="37" name="">
            <a:extLst xmlns:a="http://schemas.openxmlformats.org/drawingml/2006/main">
              <a:ext uri="{FF2B5EF4-FFF2-40B4-BE49-F238E27FC236}">
                <a16:creationId xmlns:a16="http://schemas.microsoft.com/office/drawing/2014/main" id="{B86B5FE1-E86B-43D5-B125-3571A861A62A}"/>
              </a:ext>
            </a:extLst>
          </p:cNvPr>
          <p:cNvSpPr>
            <a:spLocks xmlns:a="http://schemas.openxmlformats.org/drawingml/2006/main" noGrp="1"/>
          </p:cNvSpPr>
          <p:nvPr/>
        </p:nvSpPr>
        <p:spPr>
          <a:xfrm xmlns:a="http://schemas.openxmlformats.org/drawingml/2006/main">
            <a:off x="11287125" y="6286500"/>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200" b="0">
                <a:solidFill>
                  <a:srgbClr val="555555"/>
                </a:solidFill>
              </a:defRPr>
            </a:pPr>
            <a:r>
              <a:rPr sz="1200" b="0">
                <a:solidFill>
                  <a:srgbClr val="555555"/>
                </a:solidFill>
              </a:rPr>
              <a:t>14</a:t>
            </a:r>
          </a:p>
        </p:txBody>
      </p:sp>
    </p:spTree>
    <p:extLst>
      <p:ext uri="{BB962C8B-B14F-4D97-AF65-F5344CB8AC3E}">
        <p14:creationId xmlns:p14="http://schemas.microsoft.com/office/powerpoint/2010/main" val="18106995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2026-07-10T16:01:13.2740000Z</dcterms:created>
  <dcterms:modified xsi:type="dcterms:W3CDTF">2026-07-10T16:01:13.2740000Z</dcterms:modified>
</coreProperties>
</file>